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MDE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diamond"/>
            <c:size val="8"/>
            <c:spPr>
              <a:solidFill>
                <a:srgbClr val="2A78D6"/>
              </a:solidFill>
              <a:ln>
                <a:solidFill>
                  <a:srgbClr val="FCFCF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300</c:v>
                </c:pt>
                <c:pt idx="1">
                  <c:v>500</c:v>
                </c:pt>
                <c:pt idx="2">
                  <c:v>1.000</c:v>
                </c:pt>
                <c:pt idx="3">
                  <c:v>1.500</c:v>
                </c:pt>
                <c:pt idx="4">
                  <c:v>2.000</c:v>
                </c:pt>
                <c:pt idx="5">
                  <c:v>3.223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1.2666999999999999</c:v>
                </c:pt>
                <c:pt idx="1">
                  <c:v>0.98109999999999997</c:v>
                </c:pt>
                <c:pt idx="2">
                  <c:v>0.69379999999999997</c:v>
                </c:pt>
                <c:pt idx="3">
                  <c:v>0.5665</c:v>
                </c:pt>
                <c:pt idx="4">
                  <c:v>0.49059999999999998</c:v>
                </c:pt>
                <c:pt idx="5">
                  <c:v>0.38640000000000002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D4-472F-B0E8-C50AD405B2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Ngưỡng hoà vốn</c:v>
                </c:pt>
              </c:strCache>
            </c:strRef>
          </c:tx>
          <c:spPr>
            <a:ln w="28575">
              <a:solidFill>
                <a:srgbClr val="EB6834"/>
              </a:solidFill>
              <a:prstDash val="dash"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300</c:v>
                </c:pt>
                <c:pt idx="1">
                  <c:v>500</c:v>
                </c:pt>
                <c:pt idx="2">
                  <c:v>1.000</c:v>
                </c:pt>
                <c:pt idx="3">
                  <c:v>1.500</c:v>
                </c:pt>
                <c:pt idx="4">
                  <c:v>2.000</c:v>
                </c:pt>
                <c:pt idx="5">
                  <c:v>3.223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1.1027</c:v>
                </c:pt>
                <c:pt idx="1">
                  <c:v>1.1027</c:v>
                </c:pt>
                <c:pt idx="2">
                  <c:v>1.1027</c:v>
                </c:pt>
                <c:pt idx="3">
                  <c:v>1.1027</c:v>
                </c:pt>
                <c:pt idx="4">
                  <c:v>1.1027</c:v>
                </c:pt>
                <c:pt idx="5">
                  <c:v>1.1027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D4-472F-B0E8-C50AD405B2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0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4"/>
          <c:min val="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89878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SMD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pct_airport</c:v>
                </c:pt>
                <c:pt idx="1">
                  <c:v>is_urban</c:v>
                </c:pt>
                <c:pt idx="2">
                  <c:v>pct_tip_rate</c:v>
                </c:pt>
                <c:pt idx="3">
                  <c:v>pct_flex_payment</c:v>
                </c:pt>
                <c:pt idx="4">
                  <c:v>age</c:v>
                </c:pt>
                <c:pt idx="5">
                  <c:v>weekend_ratio</c:v>
                </c:pt>
                <c:pt idx="6">
                  <c:v>avg_fare</c:v>
                </c:pt>
                <c:pt idx="7">
                  <c:v>route_entropy</c:v>
                </c:pt>
                <c:pt idx="8">
                  <c:v>total_rides</c:v>
                </c:pt>
                <c:pt idx="9">
                  <c:v>recency_days</c:v>
                </c:pt>
                <c:pt idx="10">
                  <c:v>typical_distance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-2.9999999999999997E-4</c:v>
                </c:pt>
                <c:pt idx="1">
                  <c:v>2.3E-3</c:v>
                </c:pt>
                <c:pt idx="2">
                  <c:v>-2.5999999999999999E-3</c:v>
                </c:pt>
                <c:pt idx="3">
                  <c:v>7.7000000000000002E-3</c:v>
                </c:pt>
                <c:pt idx="4">
                  <c:v>-1.04E-2</c:v>
                </c:pt>
                <c:pt idx="5">
                  <c:v>-1.41E-2</c:v>
                </c:pt>
                <c:pt idx="6">
                  <c:v>-1.5699999999999999E-2</c:v>
                </c:pt>
                <c:pt idx="7">
                  <c:v>1.7100000000000001E-2</c:v>
                </c:pt>
                <c:pt idx="8">
                  <c:v>2.01E-2</c:v>
                </c:pt>
                <c:pt idx="9">
                  <c:v>-3.0200000000000001E-2</c:v>
                </c:pt>
                <c:pt idx="10">
                  <c:v>-3.0599999999999999E-2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9A-4646-8C59-4C9A52D08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9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1"/>
          <c:min val="-0.1"/>
        </c:scaling>
        <c:delete val="0"/>
        <c:axPos val="b"/>
        <c:majorGridlines>
          <c:spPr>
            <a:ln w="9525">
              <a:solidFill>
                <a:srgbClr val="E1E0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solidFill>
            <a:srgbClr val="898781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diamond"/>
            <c:size val="7"/>
            <c:spPr>
              <a:solidFill>
                <a:srgbClr val="2A78D6"/>
              </a:solidFill>
              <a:ln>
                <a:solidFill>
                  <a:srgbClr val="FCFCF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0,153</c:v>
                </c:pt>
                <c:pt idx="2">
                  <c:v>0,382</c:v>
                </c:pt>
                <c:pt idx="3">
                  <c:v>0,765</c:v>
                </c:pt>
                <c:pt idx="4">
                  <c:v>1,529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4.9000000000000002E-2</c:v>
                </c:pt>
                <c:pt idx="1">
                  <c:v>0.17199999999999999</c:v>
                </c:pt>
                <c:pt idx="2">
                  <c:v>0.79500000000000004</c:v>
                </c:pt>
                <c:pt idx="3">
                  <c:v>0.999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2C-40CA-BCA7-B0C6D776E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9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89878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A/B Testing — chiến dịch voucher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8917466" cy="244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2514E"/>
                </a:solidFill>
                <a:latin typeface="Segoe UI"/>
              </a:rPr>
              <a:t>Đo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hiệu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quả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voucher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trên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nhóm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target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đã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chọn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ở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bước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1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3774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6.446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rider trong cụm target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cụm 2 · 32,2% tổng rider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2602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2602" y="23774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3770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+1,67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770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chuyến / rider / 30 ngày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KTC 95% [1,39 · 1,94]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6836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6836" y="2377440"/>
            <a:ext cx="38100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8004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51,2%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ROI ước tính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lợi nhuận ròng $16.499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877056"/>
            <a:ext cx="5208880" cy="1591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A78D6"/>
                </a:solidFill>
                <a:latin typeface="Consolas"/>
              </a:rPr>
              <a:t>NỘI DUNG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02 – 04  ·  1. Thiết kế Experiment  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chọn đối tượng và cách chia nhóm · hypothesis &amp; metric kèm ngưỡng hoà vốn · power analysis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kế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 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đối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tượng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và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cách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chia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nhóm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· metric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chính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kèm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ngưỡng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hoà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vốn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· power analysis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05 – 07  ·  2 – 4. Kiểm chứng  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kiểm tra randomization · ước lượng theo khối · Monte Carlo validation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chứng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 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kiểm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tra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bốc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thăm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·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ước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lượng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theo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khối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· validation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bằng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Monte Carlo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08  ·  5. Đánh giá Kinh doanh  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quy đổi ra tiền và khuyến nghị triển khai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định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  </a:t>
            </a:r>
            <a:r>
              <a:rPr lang="en-US" sz="1150" dirty="0" err="1">
                <a:solidFill>
                  <a:srgbClr val="52514E"/>
                </a:solidFill>
                <a:latin typeface="Segoe UI"/>
              </a:rPr>
              <a:t>kh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uyến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nghị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triển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khai</a:t>
            </a:r>
            <a:endParaRPr sz="1150" dirty="0">
              <a:solidFill>
                <a:srgbClr val="52514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02  ·  1. THIẾT KẾ EXPERIMENT  · 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418" y="1244150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0B0B0B"/>
                </a:solidFill>
                <a:latin typeface="Segoe UI"/>
              </a:rPr>
              <a:t>Đơn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vị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là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rider,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bốc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thăm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50/50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theo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khối</a:t>
            </a:r>
            <a:endParaRPr sz="2800" b="1" dirty="0">
              <a:solidFill>
                <a:srgbClr val="0B0B0B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3774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6.446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rider trong cụm 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toàn bộ nhóm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2602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2602" y="23774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3770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3.216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770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treatment — có voucher $5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49,9%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6836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6836" y="2377440"/>
            <a:ext cx="38100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8004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3.230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control — không gửi gì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50,1%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840480"/>
            <a:ext cx="5208880" cy="1036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A78D6"/>
                </a:solidFill>
                <a:latin typeface="Consolas"/>
              </a:rPr>
              <a:t>CÁCH CHIA NHÓM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 err="1">
                <a:solidFill>
                  <a:srgbClr val="0B0B0B"/>
                </a:solidFill>
                <a:latin typeface="Segoe UI"/>
              </a:rPr>
              <a:t>Đơn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vị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:   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rider.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Block randomization:   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10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khối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theo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thập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phân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vị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total_rides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,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bốc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đúng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50%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mỗi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khối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8" y="3840480"/>
            <a:ext cx="5208880" cy="1371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EB6834"/>
                </a:solidFill>
                <a:latin typeface="Consolas"/>
              </a:rPr>
              <a:t>CỬA SỔ THỜI GIAN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90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ngày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trước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:  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cửa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sổ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tính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đặc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trưng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—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total_rides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, recency,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hành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vi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thanh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toán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.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 err="1">
                <a:solidFill>
                  <a:srgbClr val="0B0B0B"/>
                </a:solidFill>
                <a:latin typeface="Segoe UI"/>
              </a:rPr>
              <a:t>Ngày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0:  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gửi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voucher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cho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nhánh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treatment.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30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ngày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sau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:  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cửa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sổ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đo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outcome.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03  ·  1. THIẾT KẾ EXPERIMENT  · 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Metric chính, kèm ngưỡng hoà vốn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891746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“Có ý nghĩa thống kê” không đồng nghĩa với “nên triển khai”. Cần thêm một ngưỡng kinh tế: mức tăng tối thiểu để chiến dịch hoà vốn.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10874959" cy="1060704"/>
          </a:xfrm>
          <a:prstGeom prst="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377440"/>
            <a:ext cx="44450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551176"/>
            <a:ext cx="1038118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Consolas"/>
              </a:rPr>
              <a:t>PRIMARY METRIC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Incremental Trips per Rider — chênh lệch số chuyến / 30 ngày giữa hai nhánh</a:t>
            </a:r>
          </a:p>
          <a:p>
            <a:pPr algn="l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</a:rPr>
              <a:t>Đơn vị ngẫu nhiên hoá: rider.   H₀: voucher không đổi số chuyến trung bình.   H₁: voucher làm tăng số chuyến trung bình.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40480"/>
            <a:ext cx="5208880" cy="1167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dirty="0" err="1">
                <a:solidFill>
                  <a:srgbClr val="EB6834"/>
                </a:solidFill>
                <a:latin typeface="Consolas"/>
              </a:rPr>
              <a:t>Giả</a:t>
            </a:r>
            <a:r>
              <a:rPr lang="en-US" sz="1100" b="1" dirty="0">
                <a:solidFill>
                  <a:srgbClr val="EB6834"/>
                </a:solidFill>
                <a:latin typeface="Consolas"/>
              </a:rPr>
              <a:t> </a:t>
            </a:r>
            <a:r>
              <a:rPr lang="en-US" sz="1100" b="1" dirty="0" err="1">
                <a:solidFill>
                  <a:srgbClr val="EB6834"/>
                </a:solidFill>
                <a:latin typeface="Consolas"/>
              </a:rPr>
              <a:t>sử</a:t>
            </a:r>
            <a:r>
              <a:rPr lang="en-US" sz="1100" b="1" dirty="0">
                <a:solidFill>
                  <a:srgbClr val="EB6834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EB6834"/>
                </a:solidFill>
                <a:latin typeface="Consolas"/>
              </a:rPr>
              <a:t>BREAKEVEN — NGƯỠNG HOÀ VỐN</a:t>
            </a:r>
          </a:p>
          <a:p>
            <a:pPr algn="l"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 dirty="0" err="1">
                <a:solidFill>
                  <a:srgbClr val="52514E"/>
                </a:solidFill>
                <a:latin typeface="Segoe UI"/>
              </a:rPr>
              <a:t>Ngưỡng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hoà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vốn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 =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giá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trị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voucher  ÷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doanh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thu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biên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mỗi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chuyến</a:t>
            </a:r>
            <a:endParaRPr sz="1150" b="0" dirty="0">
              <a:solidFill>
                <a:srgbClr val="52514E"/>
              </a:solidFill>
              <a:latin typeface="Segoe UI"/>
            </a:endParaRP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300" dirty="0">
                <a:solidFill>
                  <a:srgbClr val="52514E"/>
                </a:solidFill>
                <a:latin typeface="Consolas"/>
              </a:rPr>
              <a:t>= 5,00 / (22,67 × 0,20) = </a:t>
            </a:r>
            <a:r>
              <a:rPr sz="1300" b="1" dirty="0">
                <a:solidFill>
                  <a:srgbClr val="EB6834"/>
                </a:solidFill>
                <a:latin typeface="Consolas"/>
              </a:rPr>
              <a:t>1,1027 </a:t>
            </a:r>
            <a:r>
              <a:rPr sz="1300" b="1" dirty="0" err="1">
                <a:solidFill>
                  <a:srgbClr val="EB6834"/>
                </a:solidFill>
                <a:latin typeface="Consolas"/>
              </a:rPr>
              <a:t>chuyến</a:t>
            </a:r>
            <a:r>
              <a:rPr sz="1300" b="1" dirty="0">
                <a:solidFill>
                  <a:srgbClr val="EB6834"/>
                </a:solidFill>
                <a:latin typeface="Consolas"/>
              </a:rPr>
              <a:t> / rider</a:t>
            </a:r>
          </a:p>
          <a:p>
            <a:pPr algn="l"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 dirty="0" err="1">
                <a:solidFill>
                  <a:srgbClr val="52514E"/>
                </a:solidFill>
                <a:latin typeface="Segoe UI"/>
              </a:rPr>
              <a:t>Dưới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mức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này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thì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dù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kết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quả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có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ý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nghĩa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thống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kê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chiến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dịch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vẫn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lỗ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8" y="3840480"/>
            <a:ext cx="52088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Consolas"/>
              </a:rPr>
              <a:t>THAM SỐ KINH TẾ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Giá trị voucher:   </a:t>
            </a:r>
            <a:r>
              <a:rPr sz="1150">
                <a:solidFill>
                  <a:srgbClr val="52514E"/>
                </a:solidFill>
                <a:latin typeface="Segoe UI"/>
              </a:rPr>
              <a:t>$5,00 mỗi rider được gửi.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Cước trung bình cụm 2:   </a:t>
            </a:r>
            <a:r>
              <a:rPr sz="1150">
                <a:solidFill>
                  <a:srgbClr val="52514E"/>
                </a:solidFill>
                <a:latin typeface="Segoe UI"/>
              </a:rPr>
              <a:t>$22,67 mỗi chuyến.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Take rate:   </a:t>
            </a:r>
            <a:r>
              <a:rPr sz="1150">
                <a:solidFill>
                  <a:srgbClr val="52514E"/>
                </a:solidFill>
                <a:latin typeface="Segoe UI"/>
              </a:rPr>
              <a:t>20% — doanh thu biên $4,53 mỗi chuyến.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04  ·  1. THIẾT KẾ EXPERIMENT  · 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468" y="1178306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B0B0B"/>
                </a:solidFill>
                <a:latin typeface="Segoe UI"/>
              </a:rPr>
              <a:t>MDE 0,39 &lt;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ngưỡng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hoà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vốn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1,10 —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thí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nghiệm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đủ</a:t>
            </a:r>
            <a:r>
              <a:rPr sz="28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B0B0B"/>
                </a:solidFill>
                <a:latin typeface="Segoe UI"/>
              </a:rPr>
              <a:t>sức</a:t>
            </a:r>
            <a:endParaRPr sz="2800" b="1" dirty="0">
              <a:solidFill>
                <a:srgbClr val="0B0B0B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4 / 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2377440"/>
          <a:ext cx="5546229" cy="2432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4901184"/>
            <a:ext cx="55462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chuyến / rider / 30 ngày, theo số rider mỗi nhánh · giao tại n ≈ 396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5221" y="2322576"/>
            <a:ext cx="4908106" cy="139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dirty="0" err="1">
                <a:solidFill>
                  <a:srgbClr val="0B0B0B"/>
                </a:solidFill>
                <a:latin typeface="Segoe UI"/>
              </a:rPr>
              <a:t>Đường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liền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là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MDE.  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Càng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nhiều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rider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mỗi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nhánh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, MDE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càng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nhỏ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—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thí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nghiệm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càng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nhạy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.</a:t>
            </a:r>
          </a:p>
          <a:p>
            <a:pPr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dirty="0" err="1">
                <a:solidFill>
                  <a:srgbClr val="0B0B0B"/>
                </a:solidFill>
                <a:latin typeface="Segoe UI"/>
              </a:rPr>
              <a:t>Đường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đứt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là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ngưỡng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hoà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vốn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1,1027</a:t>
            </a:r>
            <a:endParaRPr lang="en-US" sz="1200" b="1" dirty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dirty="0">
                <a:solidFill>
                  <a:srgbClr val="0B0B0B"/>
                </a:solidFill>
                <a:latin typeface="Segoe UI"/>
              </a:rPr>
              <a:t>Ở 3.223 rider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mỗi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nhánh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:   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MDE = 0,3864 —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chỉ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bằng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35%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ngưỡng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hoà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vốn</a:t>
            </a:r>
            <a:endParaRPr sz="1200" dirty="0">
              <a:solidFill>
                <a:srgbClr val="52514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05  ·  2. KIỂM TRA RANDOMIZATION  ·  2.1 –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Hai kiểm tra trước khi ước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891746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Nếu một trong hai hỏng thì mọi con số phía sau đều không đáng tin. Cả hai đều là kiểm tra thiết kế, chạy trước khi nhìn tác động.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5 / 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2377440"/>
          <a:ext cx="5111231" cy="2798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5248656"/>
            <a:ext cx="51112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SMD từng covariate · khung = ngưỡng ±0,10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1935" y="2322576"/>
            <a:ext cx="53613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Segoe UI"/>
              </a:rPr>
              <a:t>2.1  Sample Ratio Mismatch   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3.216 / 3.230 — 49,9% treatment. Binomial p = 0,871, xa ngưỡng 0,001.</a:t>
            </a:r>
          </a:p>
          <a:p>
            <a:pPr>
              <a:lnSpc>
                <a:spcPct val="126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Segoe UI"/>
              </a:rPr>
              <a:t>2.2  Covariate Balance   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|SMD| lớn nhất 0,0306 trên 11 biến số, 0,0580 trên biến phân loại — đều dưới ngưỡng 0,10 rất xa.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14416"/>
            <a:ext cx="1087495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5614416"/>
            <a:ext cx="3810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5751576"/>
            <a:ext cx="10417759" cy="206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4000"/>
              </a:lnSpc>
            </a:pPr>
            <a:r>
              <a:rPr sz="1200" b="1" dirty="0" err="1">
                <a:solidFill>
                  <a:srgbClr val="0B0B0B"/>
                </a:solidFill>
                <a:latin typeface="Segoe UI"/>
              </a:rPr>
              <a:t>Cả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hai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đều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đạt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: 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bốc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thăm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chạy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đúng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—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tỷ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lệ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chia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nhóm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không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lệch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và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toàn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bộ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14 covariate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đều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cân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bằng</a:t>
            </a:r>
            <a:endParaRPr sz="1200" dirty="0">
              <a:solidFill>
                <a:srgbClr val="52514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06  ·  3. ƯỚC LƯỢNG TÁC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Uplift +1,67 chuyến / rider / 30 ngày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6 / 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80308"/>
              </p:ext>
            </p:extLst>
          </p:nvPr>
        </p:nvGraphicFramePr>
        <p:xfrm>
          <a:off x="658368" y="2377440"/>
          <a:ext cx="10872216" cy="1024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 dirty="0" err="1">
                          <a:solidFill>
                            <a:srgbClr val="FCFCFB"/>
                          </a:solidFill>
                          <a:latin typeface="Consolas"/>
                        </a:rPr>
                        <a:t>Ước</a:t>
                      </a:r>
                      <a:r>
                        <a:rPr sz="1050" b="1" dirty="0">
                          <a:solidFill>
                            <a:srgbClr val="FCFCFB"/>
                          </a:solidFill>
                          <a:latin typeface="Consolas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FCFCFB"/>
                          </a:solidFill>
                          <a:latin typeface="Consolas"/>
                        </a:rPr>
                        <a:t>lượng</a:t>
                      </a:r>
                      <a:endParaRPr sz="1050" b="1" dirty="0">
                        <a:solidFill>
                          <a:srgbClr val="FCFCFB"/>
                        </a:solidFill>
                        <a:latin typeface="Consolas"/>
                      </a:endParaRP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ATE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SE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KTC 95%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Lift tương đối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p-value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endParaRPr sz="1050" b="1" dirty="0">
                        <a:solidFill>
                          <a:srgbClr val="0B0B0B"/>
                        </a:solidFill>
                        <a:latin typeface="Segoe UI"/>
                      </a:endParaRP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 dirty="0">
                          <a:solidFill>
                            <a:srgbClr val="52514E"/>
                          </a:solidFill>
                          <a:latin typeface="Consolas"/>
                        </a:rPr>
                        <a:t>1,6671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0,1406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[1,3915 · 1,9428]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22,8%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 dirty="0">
                          <a:solidFill>
                            <a:srgbClr val="2E7D52"/>
                          </a:solidFill>
                          <a:latin typeface="Consolas"/>
                        </a:rPr>
                        <a:t>4,3·10⁻³²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4261104"/>
            <a:ext cx="5208880" cy="817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dirty="0" err="1">
                <a:solidFill>
                  <a:srgbClr val="2A78D6"/>
                </a:solidFill>
                <a:latin typeface="Consolas"/>
              </a:rPr>
              <a:t>Mô</a:t>
            </a:r>
            <a:r>
              <a:rPr lang="en-US" sz="1100" b="1" dirty="0">
                <a:solidFill>
                  <a:srgbClr val="2A78D6"/>
                </a:solidFill>
                <a:latin typeface="Consolas"/>
              </a:rPr>
              <a:t> </a:t>
            </a:r>
            <a:r>
              <a:rPr lang="en-US" sz="1100" b="1" dirty="0" err="1">
                <a:solidFill>
                  <a:srgbClr val="2A78D6"/>
                </a:solidFill>
                <a:latin typeface="Consolas"/>
              </a:rPr>
              <a:t>tả</a:t>
            </a:r>
            <a:endParaRPr sz="1100" b="1" dirty="0">
              <a:solidFill>
                <a:srgbClr val="2A78D6"/>
              </a:solidFill>
              <a:latin typeface="Consolas"/>
            </a:endParaRP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>
                <a:solidFill>
                  <a:srgbClr val="0B0B0B"/>
                </a:solidFill>
                <a:latin typeface="Segoe UI"/>
              </a:rPr>
              <a:t>Uplift +1,6671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chuyến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/ rider:  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tăng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22,8% </a:t>
            </a:r>
            <a:endParaRPr lang="en-US" sz="1150" dirty="0">
              <a:solidFill>
                <a:srgbClr val="52514E"/>
              </a:solidFill>
              <a:latin typeface="Segoe UI"/>
            </a:endParaRP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dirty="0" err="1">
                <a:solidFill>
                  <a:srgbClr val="0B0B0B"/>
                </a:solidFill>
                <a:latin typeface="Segoe UI"/>
              </a:rPr>
              <a:t>Cả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khoảng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tin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cậy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nằm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0B0B0B"/>
                </a:solidFill>
                <a:latin typeface="Segoe UI"/>
              </a:rPr>
              <a:t>trên</a:t>
            </a:r>
            <a:r>
              <a:rPr sz="1150" b="1" dirty="0">
                <a:solidFill>
                  <a:srgbClr val="0B0B0B"/>
                </a:solidFill>
                <a:latin typeface="Segoe UI"/>
              </a:rPr>
              <a:t> 0:   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[1,3915 · 1,9428]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với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p = 4,3·10⁻³² —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bác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52514E"/>
                </a:solidFill>
                <a:latin typeface="Segoe UI"/>
              </a:rPr>
              <a:t>bỏ</a:t>
            </a:r>
            <a:r>
              <a:rPr sz="1150" dirty="0">
                <a:solidFill>
                  <a:srgbClr val="52514E"/>
                </a:solidFill>
                <a:latin typeface="Segoe UI"/>
              </a:rPr>
              <a:t> H₀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898781"/>
                </a:solidFill>
                <a:latin typeface="Consolas"/>
              </a:rPr>
              <a:t>07  ·  4. MONTE CARLO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787463" cy="426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Consolas"/>
              </a:rPr>
              <a:t>MONTE CARLO VALIDATION</a:t>
            </a:r>
            <a:endParaRPr sz="2800" b="1" dirty="0"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891746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2514E"/>
                </a:solidFill>
                <a:latin typeface="Segoe UI"/>
              </a:rPr>
              <a:t>Dữ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liệu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synthetic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cho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biết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cả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hai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potential outcome,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nên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giữ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nguyên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Y₀/Y₁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và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bốc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lại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T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theo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đúng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thiết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kế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: 5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mức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effect size × 1.000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lần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= 5.000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thí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nghiệm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mô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phỏng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chấm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đúng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estimator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đang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dùng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ở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trang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trước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7 / 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380572"/>
              </p:ext>
            </p:extLst>
          </p:nvPr>
        </p:nvGraphicFramePr>
        <p:xfrm>
          <a:off x="658368" y="2377440"/>
          <a:ext cx="10872216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Estimator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Bias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Coverage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Sai lầm loại I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Power tại 0,38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CFCFB"/>
                          </a:solidFill>
                          <a:latin typeface="Consolas"/>
                        </a:rPr>
                        <a:t>Power tại 1,53</a:t>
                      </a:r>
                    </a:p>
                  </a:txBody>
                  <a:tcPr marL="100584" marR="100584" anchor="ctr"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endParaRPr sz="1050" b="1" dirty="0">
                        <a:solidFill>
                          <a:srgbClr val="0B0B0B"/>
                        </a:solidFill>
                        <a:latin typeface="Segoe UI"/>
                      </a:endParaRP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+0,0021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0,946 – 0,962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0,049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>
                          <a:solidFill>
                            <a:srgbClr val="52514E"/>
                          </a:solidFill>
                          <a:latin typeface="Consolas"/>
                        </a:rPr>
                        <a:t>0,795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4000"/>
                        </a:lnSpc>
                      </a:pPr>
                      <a:r>
                        <a:rPr sz="1050" b="0" dirty="0">
                          <a:solidFill>
                            <a:srgbClr val="52514E"/>
                          </a:solidFill>
                          <a:latin typeface="Consolas"/>
                        </a:rPr>
                        <a:t>1,000</a:t>
                      </a:r>
                    </a:p>
                  </a:txBody>
                  <a:tcPr marL="100584" marR="100584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" y="4133088"/>
          <a:ext cx="5111231" cy="1883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" y="6071616"/>
            <a:ext cx="5111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power theo tác động thật (chuyến / rider)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1935" y="4078224"/>
            <a:ext cx="5361392" cy="1655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A78D6"/>
                </a:solidFill>
                <a:latin typeface="Consolas"/>
              </a:rPr>
              <a:t>POWER THEO EFFECT SIZE</a:t>
            </a:r>
          </a:p>
          <a:p>
            <a:pPr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 dirty="0" err="1">
                <a:solidFill>
                  <a:srgbClr val="0B0B0B"/>
                </a:solidFill>
                <a:latin typeface="Segoe UI"/>
              </a:rPr>
              <a:t>Tại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tác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động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= 0, power = 0,049.  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Đây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là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sai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lầm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loại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I —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khớp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mức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danh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nghĩa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5%. </a:t>
            </a:r>
            <a:endParaRPr lang="en-US" sz="1200" dirty="0">
              <a:solidFill>
                <a:srgbClr val="52514E"/>
              </a:solidFill>
              <a:latin typeface="Segoe UI"/>
            </a:endParaRPr>
          </a:p>
          <a:p>
            <a:pPr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 dirty="0">
                <a:solidFill>
                  <a:srgbClr val="0B0B0B"/>
                </a:solidFill>
                <a:latin typeface="Segoe UI"/>
              </a:rPr>
              <a:t>Power 0,795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tại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tác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động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0,3823. </a:t>
            </a:r>
            <a:endParaRPr lang="en-US" sz="1200" b="1" dirty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 dirty="0">
                <a:solidFill>
                  <a:srgbClr val="0B0B0B"/>
                </a:solidFill>
                <a:latin typeface="Segoe UI"/>
              </a:rPr>
              <a:t>Coverage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ổn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0B0B0B"/>
                </a:solidFill>
                <a:latin typeface="Segoe UI"/>
              </a:rPr>
              <a:t>định</a:t>
            </a:r>
            <a:r>
              <a:rPr sz="1200" b="1" dirty="0">
                <a:solidFill>
                  <a:srgbClr val="0B0B0B"/>
                </a:solidFill>
                <a:latin typeface="Segoe UI"/>
              </a:rPr>
              <a:t> 0,946 – 0,962  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trên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mọi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mức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tác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động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—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không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phụ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thuộc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độ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lớn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tác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52514E"/>
                </a:solidFill>
                <a:latin typeface="Segoe UI"/>
              </a:rPr>
              <a:t>động</a:t>
            </a:r>
            <a:r>
              <a:rPr sz="120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603504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onsolas"/>
              </a:rPr>
              <a:t>08  ·  5. ĐÁNH GIÁ KINH DOANH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7874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Triển khai — ROI 51,2%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891746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Ba câu hỏi theo đúng thứ tự ràng buộc: có tác động không, đủ hoà vốn không, ước lượng có đáng tin không. Cả ba đều đạt.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45936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81562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A/B Testing — chiến dịch voucher  ·  Ride-Hailing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4648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8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3774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10.746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incremental trips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6.446 rider × 1,6671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2602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2602" y="23774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3770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$16.499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770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lợi nhuận ròng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DT biên $48.729 − chi phí $32.230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6836" y="2377440"/>
            <a:ext cx="3466490" cy="11887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6836" y="2377440"/>
            <a:ext cx="38100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8004" y="2523744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Consolas"/>
              </a:rPr>
              <a:t>51,2%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3054096"/>
            <a:ext cx="31007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ROI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Consolas"/>
              </a:rPr>
              <a:t>CPIT $3,00 mỗi chuyến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822192"/>
            <a:ext cx="520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Consolas"/>
              </a:rPr>
              <a:t>BA ĐIỀU KIỆN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Có tác động?   </a:t>
            </a:r>
            <a:r>
              <a:rPr sz="1150">
                <a:solidFill>
                  <a:srgbClr val="52514E"/>
                </a:solidFill>
                <a:latin typeface="Segoe UI"/>
              </a:rPr>
              <a:t>uplift +1,6671, p = 4,3·10⁻³² → CÓ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Đủ hoà vốn?   </a:t>
            </a:r>
            <a:r>
              <a:rPr sz="1150">
                <a:solidFill>
                  <a:srgbClr val="52514E"/>
                </a:solidFill>
                <a:latin typeface="Segoe UI"/>
              </a:rPr>
              <a:t>cận dưới KTC 1,3915 &gt; ngưỡng hoà vốn 1,1027 → CÓ</a:t>
            </a:r>
          </a:p>
          <a:p>
            <a:pPr>
              <a:lnSpc>
                <a:spcPct val="124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Đáng tin?   </a:t>
            </a:r>
            <a:r>
              <a:rPr sz="1150">
                <a:solidFill>
                  <a:srgbClr val="52514E"/>
                </a:solidFill>
                <a:latin typeface="Segoe UI"/>
              </a:rPr>
              <a:t>bias 0,006 · coverage 0,946 – 0,962 · sai lầm loại I 0,049 → CÓ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1142</Words>
  <Application>Microsoft Office PowerPoint</Application>
  <PresentationFormat>Widescreen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Nguyen Khanh Linh (S.AI.20K)</cp:lastModifiedBy>
  <cp:revision>34</cp:revision>
  <dcterms:created xsi:type="dcterms:W3CDTF">2013-01-27T09:14:16Z</dcterms:created>
  <dcterms:modified xsi:type="dcterms:W3CDTF">2026-08-09T11:06:46Z</dcterms:modified>
  <cp:category/>
</cp:coreProperties>
</file>