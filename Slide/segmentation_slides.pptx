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1" d="100"/>
          <a:sy n="81" d="100"/>
        </p:scale>
        <p:origin x="725"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Dữ liệu thật</c:v>
                </c:pt>
              </c:strCache>
            </c:strRef>
          </c:tx>
          <c:spPr>
            <a:ln w="28575">
              <a:solidFill>
                <a:srgbClr val="2A78D6"/>
              </a:solidFill>
            </a:ln>
          </c:spPr>
          <c:marker>
            <c:symbol val="diamond"/>
            <c:size val="8"/>
            <c:spPr>
              <a:solidFill>
                <a:srgbClr val="2A78D6"/>
              </a:solidFill>
              <a:ln>
                <a:solidFill>
                  <a:srgbClr val="FCFCFB"/>
                </a:solidFill>
              </a:ln>
            </c:spPr>
          </c:marker>
          <c:cat>
            <c:strRef>
              <c:f>Sheet1!$A$2:$A$6</c:f>
              <c:strCache>
                <c:ptCount val="5"/>
                <c:pt idx="0">
                  <c:v>K = 2</c:v>
                </c:pt>
                <c:pt idx="1">
                  <c:v>K = 3</c:v>
                </c:pt>
                <c:pt idx="2">
                  <c:v>K = 4</c:v>
                </c:pt>
                <c:pt idx="3">
                  <c:v>K = 5</c:v>
                </c:pt>
                <c:pt idx="4">
                  <c:v>K = 6</c:v>
                </c:pt>
              </c:strCache>
            </c:strRef>
          </c:cat>
          <c:val>
            <c:numRef>
              <c:f>Sheet1!$B$2:$B$6</c:f>
              <c:numCache>
                <c:formatCode>General</c:formatCode>
                <c:ptCount val="5"/>
                <c:pt idx="0">
                  <c:v>0.34050000000000002</c:v>
                </c:pt>
                <c:pt idx="1">
                  <c:v>0.24840000000000001</c:v>
                </c:pt>
                <c:pt idx="2">
                  <c:v>0.21970000000000001</c:v>
                </c:pt>
                <c:pt idx="3">
                  <c:v>0.2218</c:v>
                </c:pt>
                <c:pt idx="4">
                  <c:v>0.20660000000000001</c:v>
                </c:pt>
              </c:numCache>
            </c:numRef>
          </c:val>
          <c:smooth val="0"/>
          <c:extLst>
            <c:ext xmlns:c16="http://schemas.microsoft.com/office/drawing/2014/chart" uri="{C3380CC4-5D6E-409C-BE32-E72D297353CC}">
              <c16:uniqueId val="{00000000-CDA1-4FA7-BC25-9704F5951F28}"/>
            </c:ext>
          </c:extLst>
        </c:ser>
        <c:ser>
          <c:idx val="1"/>
          <c:order val="1"/>
          <c:tx>
            <c:strRef>
              <c:f>Sheet1!$C$1</c:f>
              <c:strCache>
                <c:ptCount val="1"/>
                <c:pt idx="0">
                  <c:v>Null (TB 10 lần bốc)</c:v>
                </c:pt>
              </c:strCache>
            </c:strRef>
          </c:tx>
          <c:spPr>
            <a:ln w="28575">
              <a:solidFill>
                <a:srgbClr val="EB6834"/>
              </a:solidFill>
              <a:prstDash val="dash"/>
            </a:ln>
          </c:spPr>
          <c:marker>
            <c:symbol val="square"/>
            <c:size val="8"/>
            <c:spPr>
              <a:solidFill>
                <a:srgbClr val="EB6834"/>
              </a:solidFill>
              <a:ln>
                <a:solidFill>
                  <a:srgbClr val="FCFCFB"/>
                </a:solidFill>
              </a:ln>
            </c:spPr>
          </c:marker>
          <c:cat>
            <c:strRef>
              <c:f>Sheet1!$A$2:$A$6</c:f>
              <c:strCache>
                <c:ptCount val="5"/>
                <c:pt idx="0">
                  <c:v>K = 2</c:v>
                </c:pt>
                <c:pt idx="1">
                  <c:v>K = 3</c:v>
                </c:pt>
                <c:pt idx="2">
                  <c:v>K = 4</c:v>
                </c:pt>
                <c:pt idx="3">
                  <c:v>K = 5</c:v>
                </c:pt>
                <c:pt idx="4">
                  <c:v>K = 6</c:v>
                </c:pt>
              </c:strCache>
            </c:strRef>
          </c:cat>
          <c:val>
            <c:numRef>
              <c:f>Sheet1!$C$2:$C$6</c:f>
              <c:numCache>
                <c:formatCode>General</c:formatCode>
                <c:ptCount val="5"/>
                <c:pt idx="0">
                  <c:v>0.31900000000000001</c:v>
                </c:pt>
                <c:pt idx="1">
                  <c:v>0.20050000000000001</c:v>
                </c:pt>
                <c:pt idx="2">
                  <c:v>0.19839999999999999</c:v>
                </c:pt>
                <c:pt idx="3">
                  <c:v>0.214</c:v>
                </c:pt>
                <c:pt idx="4">
                  <c:v>0.19170000000000001</c:v>
                </c:pt>
              </c:numCache>
            </c:numRef>
          </c:val>
          <c:smooth val="0"/>
          <c:extLst>
            <c:ext xmlns:c16="http://schemas.microsoft.com/office/drawing/2014/chart" uri="{C3380CC4-5D6E-409C-BE32-E72D297353CC}">
              <c16:uniqueId val="{00000001-CDA1-4FA7-BC25-9704F5951F28}"/>
            </c:ext>
          </c:extLst>
        </c:ser>
        <c:dLbls>
          <c:showLegendKey val="0"/>
          <c:showVal val="0"/>
          <c:showCatName val="0"/>
          <c:showSerName val="0"/>
          <c:showPercent val="0"/>
          <c:showBubbleSize val="0"/>
        </c:dLbls>
        <c:marker val="1"/>
        <c:smooth val="0"/>
        <c:axId val="2118791784"/>
        <c:axId val="2140495176"/>
      </c:lineChart>
      <c:catAx>
        <c:axId val="2118791784"/>
        <c:scaling>
          <c:orientation val="minMax"/>
        </c:scaling>
        <c:delete val="0"/>
        <c:axPos val="b"/>
        <c:numFmt formatCode="General" sourceLinked="0"/>
        <c:majorTickMark val="none"/>
        <c:minorTickMark val="none"/>
        <c:tickLblPos val="nextTo"/>
        <c:spPr>
          <a:ln>
            <a:solidFill>
              <a:srgbClr val="C3C2B7"/>
            </a:solidFill>
          </a:ln>
        </c:spPr>
        <c:txPr>
          <a:bodyPr/>
          <a:lstStyle/>
          <a:p>
            <a:pPr>
              <a:defRPr sz="1050"/>
            </a:pPr>
            <a:endParaRPr lang="en-US"/>
          </a:p>
        </c:txPr>
        <c:crossAx val="2140495176"/>
        <c:crosses val="autoZero"/>
        <c:auto val="1"/>
        <c:lblAlgn val="ctr"/>
        <c:lblOffset val="100"/>
        <c:noMultiLvlLbl val="0"/>
      </c:catAx>
      <c:valAx>
        <c:axId val="2140495176"/>
        <c:scaling>
          <c:orientation val="minMax"/>
          <c:max val="0.37"/>
          <c:min val="0.15"/>
        </c:scaling>
        <c:delete val="0"/>
        <c:axPos val="l"/>
        <c:majorGridlines>
          <c:spPr>
            <a:ln w="9525">
              <a:solidFill>
                <a:srgbClr val="E1E0D9"/>
              </a:solidFill>
            </a:ln>
          </c:spPr>
        </c:majorGridlines>
        <c:numFmt formatCode="General" sourceLinked="1"/>
        <c:majorTickMark val="out"/>
        <c:minorTickMark val="none"/>
        <c:tickLblPos val="nextTo"/>
        <c:spPr>
          <a:ln>
            <a:noFill/>
          </a:ln>
        </c:spPr>
        <c:txPr>
          <a:bodyPr/>
          <a:lstStyle/>
          <a:p>
            <a:pPr>
              <a:defRPr sz="1050"/>
            </a:pPr>
            <a:endParaRPr lang="en-US"/>
          </a:p>
        </c:txPr>
        <c:crossAx val="2118791784"/>
        <c:crosses val="autoZero"/>
        <c:crossBetween val="between"/>
      </c:valAx>
    </c:plotArea>
    <c:legend>
      <c:legendPos val="t"/>
      <c:overlay val="0"/>
    </c:legend>
    <c:plotVisOnly val="1"/>
    <c:dispBlanksAs val="gap"/>
    <c:showDLblsOverMax val="0"/>
  </c:chart>
  <c:txPr>
    <a:bodyPr/>
    <a:lstStyle/>
    <a:p>
      <a:pPr>
        <a:defRPr sz="1100">
          <a:solidFill>
            <a:srgbClr val="898781"/>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99A54E-5F21-463C-B946-087AC1CD9155}" type="datetimeFigureOut">
              <a:rPr lang="en-US" smtClean="0"/>
              <a:t>8/9/2026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5DF116-E1AD-4C28-8D7D-A6C9D9E483DF}" type="slidenum">
              <a:rPr lang="en-US" smtClean="0"/>
              <a:t>‹#›</a:t>
            </a:fld>
            <a:endParaRPr lang="en-US"/>
          </a:p>
        </p:txBody>
      </p:sp>
    </p:spTree>
    <p:extLst>
      <p:ext uri="{BB962C8B-B14F-4D97-AF65-F5344CB8AC3E}">
        <p14:creationId xmlns:p14="http://schemas.microsoft.com/office/powerpoint/2010/main" val="42619700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F5DF116-E1AD-4C28-8D7D-A6C9D9E483DF}" type="slidenum">
              <a:rPr lang="en-US" smtClean="0"/>
              <a:t>1</a:t>
            </a:fld>
            <a:endParaRPr lang="en-US"/>
          </a:p>
        </p:txBody>
      </p:sp>
    </p:spTree>
    <p:extLst>
      <p:ext uri="{BB962C8B-B14F-4D97-AF65-F5344CB8AC3E}">
        <p14:creationId xmlns:p14="http://schemas.microsoft.com/office/powerpoint/2010/main" val="26594393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sp>
        <p:nvSpPr>
          <p:cNvPr id="3" name="Rectangle 2"/>
          <p:cNvSpPr/>
          <p:nvPr/>
        </p:nvSpPr>
        <p:spPr>
          <a:xfrm>
            <a:off x="658368" y="402336"/>
            <a:ext cx="603504" cy="4445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585216"/>
            <a:ext cx="10874959" cy="256032"/>
          </a:xfrm>
          <a:prstGeom prst="rect">
            <a:avLst/>
          </a:prstGeom>
          <a:noFill/>
        </p:spPr>
        <p:txBody>
          <a:bodyPr wrap="square" lIns="0" tIns="0" rIns="0" bIns="0" anchor="t">
            <a:spAutoFit/>
          </a:bodyPr>
          <a:lstStyle/>
          <a:p>
            <a:pPr algn="l">
              <a:spcBef>
                <a:spcPts val="0"/>
              </a:spcBef>
              <a:spcAft>
                <a:spcPts val="0"/>
              </a:spcAft>
            </a:pPr>
            <a:r>
              <a:rPr sz="1050" b="0" dirty="0">
                <a:solidFill>
                  <a:srgbClr val="898781"/>
                </a:solidFill>
                <a:latin typeface="Consolas"/>
              </a:rPr>
              <a:t>TỔNG QUAN</a:t>
            </a:r>
          </a:p>
        </p:txBody>
      </p:sp>
      <p:sp>
        <p:nvSpPr>
          <p:cNvPr id="5" name="TextBox 4"/>
          <p:cNvSpPr txBox="1"/>
          <p:nvPr/>
        </p:nvSpPr>
        <p:spPr>
          <a:xfrm>
            <a:off x="658368" y="896112"/>
            <a:ext cx="9787463" cy="621792"/>
          </a:xfrm>
          <a:prstGeom prst="rect">
            <a:avLst/>
          </a:prstGeom>
          <a:noFill/>
        </p:spPr>
        <p:txBody>
          <a:bodyPr wrap="square" lIns="0" tIns="0" rIns="0" bIns="0" anchor="t">
            <a:spAutoFit/>
          </a:bodyPr>
          <a:lstStyle/>
          <a:p>
            <a:pPr algn="l">
              <a:lnSpc>
                <a:spcPct val="104000"/>
              </a:lnSpc>
              <a:spcBef>
                <a:spcPts val="0"/>
              </a:spcBef>
              <a:spcAft>
                <a:spcPts val="0"/>
              </a:spcAft>
            </a:pPr>
            <a:r>
              <a:rPr sz="2800" b="1">
                <a:solidFill>
                  <a:srgbClr val="0B0B0B"/>
                </a:solidFill>
                <a:latin typeface="Segoe UI"/>
              </a:rPr>
              <a:t>Customer Segmentation</a:t>
            </a:r>
          </a:p>
        </p:txBody>
      </p:sp>
      <p:sp>
        <p:nvSpPr>
          <p:cNvPr id="7" name="Rectangle 6"/>
          <p:cNvSpPr/>
          <p:nvPr/>
        </p:nvSpPr>
        <p:spPr>
          <a:xfrm>
            <a:off x="658368" y="6345936"/>
            <a:ext cx="10874959" cy="9525"/>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6464808"/>
            <a:ext cx="8156219" cy="219456"/>
          </a:xfrm>
          <a:prstGeom prst="rect">
            <a:avLst/>
          </a:prstGeom>
          <a:noFill/>
        </p:spPr>
        <p:txBody>
          <a:bodyPr wrap="square" lIns="0" tIns="0" rIns="0" bIns="0" anchor="t">
            <a:spAutoFit/>
          </a:bodyPr>
          <a:lstStyle/>
          <a:p>
            <a:pPr algn="l">
              <a:spcBef>
                <a:spcPts val="0"/>
              </a:spcBef>
              <a:spcAft>
                <a:spcPts val="0"/>
              </a:spcAft>
            </a:pPr>
            <a:r>
              <a:rPr sz="950" b="0">
                <a:solidFill>
                  <a:srgbClr val="898781"/>
                </a:solidFill>
                <a:latin typeface="Consolas"/>
              </a:rPr>
              <a:t>Customer Segmentation  ·  Ride-Hailing Promotions</a:t>
            </a:r>
          </a:p>
        </p:txBody>
      </p:sp>
      <p:sp>
        <p:nvSpPr>
          <p:cNvPr id="9" name="TextBox 8"/>
          <p:cNvSpPr txBox="1"/>
          <p:nvPr/>
        </p:nvSpPr>
        <p:spPr>
          <a:xfrm>
            <a:off x="10344607" y="6464808"/>
            <a:ext cx="1188720" cy="219456"/>
          </a:xfrm>
          <a:prstGeom prst="rect">
            <a:avLst/>
          </a:prstGeom>
          <a:noFill/>
        </p:spPr>
        <p:txBody>
          <a:bodyPr wrap="square" lIns="0" tIns="0" rIns="0" bIns="0" anchor="t">
            <a:spAutoFit/>
          </a:bodyPr>
          <a:lstStyle/>
          <a:p>
            <a:pPr algn="r">
              <a:spcBef>
                <a:spcPts val="0"/>
              </a:spcBef>
              <a:spcAft>
                <a:spcPts val="0"/>
              </a:spcAft>
            </a:pPr>
            <a:r>
              <a:rPr sz="950" b="0">
                <a:solidFill>
                  <a:srgbClr val="898781"/>
                </a:solidFill>
                <a:latin typeface="Consolas"/>
              </a:rPr>
              <a:t>1 / 6</a:t>
            </a:r>
          </a:p>
        </p:txBody>
      </p:sp>
      <p:sp>
        <p:nvSpPr>
          <p:cNvPr id="10" name="Rectangle 9"/>
          <p:cNvSpPr/>
          <p:nvPr/>
        </p:nvSpPr>
        <p:spPr>
          <a:xfrm>
            <a:off x="658368" y="2377440"/>
            <a:ext cx="3466490" cy="1188720"/>
          </a:xfrm>
          <a:prstGeom prst="rect">
            <a:avLst/>
          </a:prstGeom>
          <a:solidFill>
            <a:srgbClr val="F2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58368" y="2377440"/>
            <a:ext cx="38100" cy="11887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2523744"/>
            <a:ext cx="3100730" cy="457200"/>
          </a:xfrm>
          <a:prstGeom prst="rect">
            <a:avLst/>
          </a:prstGeom>
          <a:noFill/>
        </p:spPr>
        <p:txBody>
          <a:bodyPr wrap="square" lIns="0" tIns="0" rIns="0" bIns="0" anchor="t">
            <a:spAutoFit/>
          </a:bodyPr>
          <a:lstStyle/>
          <a:p>
            <a:pPr algn="l">
              <a:spcBef>
                <a:spcPts val="0"/>
              </a:spcBef>
              <a:spcAft>
                <a:spcPts val="0"/>
              </a:spcAft>
            </a:pPr>
            <a:r>
              <a:rPr sz="2500" b="1" dirty="0">
                <a:solidFill>
                  <a:srgbClr val="0B0B0B"/>
                </a:solidFill>
                <a:latin typeface="Consolas"/>
              </a:rPr>
              <a:t>20.000</a:t>
            </a:r>
          </a:p>
        </p:txBody>
      </p:sp>
      <p:sp>
        <p:nvSpPr>
          <p:cNvPr id="13" name="TextBox 12"/>
          <p:cNvSpPr txBox="1"/>
          <p:nvPr/>
        </p:nvSpPr>
        <p:spPr>
          <a:xfrm>
            <a:off x="859536" y="3054096"/>
            <a:ext cx="3100730" cy="457200"/>
          </a:xfrm>
          <a:prstGeom prst="rect">
            <a:avLst/>
          </a:prstGeom>
          <a:noFill/>
        </p:spPr>
        <p:txBody>
          <a:bodyPr wrap="square" lIns="0" tIns="0" rIns="0" bIns="0" anchor="t">
            <a:spAutoFit/>
          </a:bodyPr>
          <a:lstStyle/>
          <a:p>
            <a:pPr algn="l">
              <a:lnSpc>
                <a:spcPct val="112000"/>
              </a:lnSpc>
              <a:spcBef>
                <a:spcPts val="0"/>
              </a:spcBef>
              <a:spcAft>
                <a:spcPts val="0"/>
              </a:spcAft>
            </a:pPr>
            <a:r>
              <a:rPr sz="1100" b="0" dirty="0">
                <a:solidFill>
                  <a:srgbClr val="52514E"/>
                </a:solidFill>
                <a:latin typeface="Segoe UI"/>
              </a:rPr>
              <a:t>rider  ·  14 </a:t>
            </a:r>
            <a:r>
              <a:rPr sz="1100" b="0" dirty="0" err="1">
                <a:solidFill>
                  <a:srgbClr val="52514E"/>
                </a:solidFill>
                <a:latin typeface="Segoe UI"/>
              </a:rPr>
              <a:t>cột</a:t>
            </a:r>
            <a:r>
              <a:rPr sz="1100" b="0" dirty="0">
                <a:solidFill>
                  <a:srgbClr val="52514E"/>
                </a:solidFill>
                <a:latin typeface="Segoe UI"/>
              </a:rPr>
              <a:t> </a:t>
            </a:r>
            <a:r>
              <a:rPr sz="1100" b="0" dirty="0" err="1">
                <a:solidFill>
                  <a:srgbClr val="52514E"/>
                </a:solidFill>
                <a:latin typeface="Segoe UI"/>
              </a:rPr>
              <a:t>đặc</a:t>
            </a:r>
            <a:r>
              <a:rPr sz="1100" b="0" dirty="0">
                <a:solidFill>
                  <a:srgbClr val="52514E"/>
                </a:solidFill>
                <a:latin typeface="Segoe UI"/>
              </a:rPr>
              <a:t> </a:t>
            </a:r>
            <a:r>
              <a:rPr sz="1100" b="0" dirty="0" err="1">
                <a:solidFill>
                  <a:srgbClr val="52514E"/>
                </a:solidFill>
                <a:latin typeface="Segoe UI"/>
              </a:rPr>
              <a:t>trưng</a:t>
            </a:r>
            <a:endParaRPr sz="1100" b="0" dirty="0">
              <a:solidFill>
                <a:srgbClr val="52514E"/>
              </a:solidFill>
              <a:latin typeface="Segoe UI"/>
            </a:endParaRPr>
          </a:p>
          <a:p>
            <a:pPr algn="l">
              <a:spcBef>
                <a:spcPts val="200"/>
              </a:spcBef>
              <a:spcAft>
                <a:spcPts val="0"/>
              </a:spcAft>
            </a:pPr>
            <a:r>
              <a:rPr sz="950" b="0" dirty="0">
                <a:solidFill>
                  <a:srgbClr val="898781"/>
                </a:solidFill>
                <a:latin typeface="Consolas"/>
              </a:rPr>
              <a:t>NYC TLC + Kaggle</a:t>
            </a:r>
          </a:p>
        </p:txBody>
      </p:sp>
      <p:sp>
        <p:nvSpPr>
          <p:cNvPr id="14" name="Rectangle 13"/>
          <p:cNvSpPr/>
          <p:nvPr/>
        </p:nvSpPr>
        <p:spPr>
          <a:xfrm>
            <a:off x="4362602" y="2377440"/>
            <a:ext cx="3466490" cy="1188720"/>
          </a:xfrm>
          <a:prstGeom prst="rect">
            <a:avLst/>
          </a:prstGeom>
          <a:solidFill>
            <a:srgbClr val="F2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62602" y="2377440"/>
            <a:ext cx="38100" cy="11887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63770" y="2523744"/>
            <a:ext cx="3100730" cy="457200"/>
          </a:xfrm>
          <a:prstGeom prst="rect">
            <a:avLst/>
          </a:prstGeom>
          <a:noFill/>
        </p:spPr>
        <p:txBody>
          <a:bodyPr wrap="square" lIns="0" tIns="0" rIns="0" bIns="0" anchor="t">
            <a:spAutoFit/>
          </a:bodyPr>
          <a:lstStyle/>
          <a:p>
            <a:pPr algn="l">
              <a:spcBef>
                <a:spcPts val="0"/>
              </a:spcBef>
              <a:spcAft>
                <a:spcPts val="0"/>
              </a:spcAft>
            </a:pPr>
            <a:r>
              <a:rPr sz="2500" b="1">
                <a:solidFill>
                  <a:srgbClr val="0B0B0B"/>
                </a:solidFill>
                <a:latin typeface="Consolas"/>
              </a:rPr>
              <a:t>4</a:t>
            </a:r>
          </a:p>
        </p:txBody>
      </p:sp>
      <p:sp>
        <p:nvSpPr>
          <p:cNvPr id="17" name="TextBox 16"/>
          <p:cNvSpPr txBox="1"/>
          <p:nvPr/>
        </p:nvSpPr>
        <p:spPr>
          <a:xfrm>
            <a:off x="4563770" y="3054096"/>
            <a:ext cx="3100730" cy="457200"/>
          </a:xfrm>
          <a:prstGeom prst="rect">
            <a:avLst/>
          </a:prstGeom>
          <a:noFill/>
        </p:spPr>
        <p:txBody>
          <a:bodyPr wrap="square" lIns="0" tIns="0" rIns="0" bIns="0" anchor="t">
            <a:spAutoFit/>
          </a:bodyPr>
          <a:lstStyle/>
          <a:p>
            <a:pPr algn="l">
              <a:lnSpc>
                <a:spcPct val="112000"/>
              </a:lnSpc>
              <a:spcBef>
                <a:spcPts val="0"/>
              </a:spcBef>
              <a:spcAft>
                <a:spcPts val="0"/>
              </a:spcAft>
            </a:pPr>
            <a:r>
              <a:rPr sz="1100" b="0">
                <a:solidFill>
                  <a:srgbClr val="52514E"/>
                </a:solidFill>
                <a:latin typeface="Segoe UI"/>
              </a:rPr>
              <a:t>trục hành vi vào KMeans</a:t>
            </a:r>
          </a:p>
          <a:p>
            <a:pPr algn="l">
              <a:spcBef>
                <a:spcPts val="200"/>
              </a:spcBef>
              <a:spcAft>
                <a:spcPts val="0"/>
              </a:spcAft>
            </a:pPr>
            <a:r>
              <a:rPr sz="950" b="0">
                <a:solidFill>
                  <a:srgbClr val="898781"/>
                </a:solidFill>
                <a:latin typeface="Consolas"/>
              </a:rPr>
              <a:t>StandardScaler</a:t>
            </a:r>
          </a:p>
        </p:txBody>
      </p:sp>
      <p:sp>
        <p:nvSpPr>
          <p:cNvPr id="18" name="Rectangle 17"/>
          <p:cNvSpPr/>
          <p:nvPr/>
        </p:nvSpPr>
        <p:spPr>
          <a:xfrm>
            <a:off x="8066836" y="2377440"/>
            <a:ext cx="3466490" cy="1188720"/>
          </a:xfrm>
          <a:prstGeom prst="rect">
            <a:avLst/>
          </a:prstGeom>
          <a:solidFill>
            <a:srgbClr val="F2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66836" y="2377440"/>
            <a:ext cx="38100" cy="118872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68004" y="2523744"/>
            <a:ext cx="3100730" cy="457200"/>
          </a:xfrm>
          <a:prstGeom prst="rect">
            <a:avLst/>
          </a:prstGeom>
          <a:noFill/>
        </p:spPr>
        <p:txBody>
          <a:bodyPr wrap="square" lIns="0" tIns="0" rIns="0" bIns="0" anchor="t">
            <a:spAutoFit/>
          </a:bodyPr>
          <a:lstStyle/>
          <a:p>
            <a:pPr algn="l">
              <a:spcBef>
                <a:spcPts val="0"/>
              </a:spcBef>
              <a:spcAft>
                <a:spcPts val="0"/>
              </a:spcAft>
            </a:pPr>
            <a:r>
              <a:rPr sz="2500" b="1">
                <a:solidFill>
                  <a:srgbClr val="0B0B0B"/>
                </a:solidFill>
                <a:latin typeface="Consolas"/>
              </a:rPr>
              <a:t>3</a:t>
            </a:r>
          </a:p>
        </p:txBody>
      </p:sp>
      <p:sp>
        <p:nvSpPr>
          <p:cNvPr id="21" name="TextBox 20"/>
          <p:cNvSpPr txBox="1"/>
          <p:nvPr/>
        </p:nvSpPr>
        <p:spPr>
          <a:xfrm>
            <a:off x="8268004" y="3054096"/>
            <a:ext cx="3100730" cy="457200"/>
          </a:xfrm>
          <a:prstGeom prst="rect">
            <a:avLst/>
          </a:prstGeom>
          <a:noFill/>
        </p:spPr>
        <p:txBody>
          <a:bodyPr wrap="square" lIns="0" tIns="0" rIns="0" bIns="0" anchor="t">
            <a:spAutoFit/>
          </a:bodyPr>
          <a:lstStyle/>
          <a:p>
            <a:pPr algn="l">
              <a:lnSpc>
                <a:spcPct val="112000"/>
              </a:lnSpc>
              <a:spcBef>
                <a:spcPts val="0"/>
              </a:spcBef>
              <a:spcAft>
                <a:spcPts val="0"/>
              </a:spcAft>
            </a:pPr>
            <a:r>
              <a:rPr sz="1100" b="0">
                <a:solidFill>
                  <a:srgbClr val="52514E"/>
                </a:solidFill>
                <a:latin typeface="Segoe UI"/>
              </a:rPr>
              <a:t>segment có ý nghĩa business</a:t>
            </a:r>
          </a:p>
          <a:p>
            <a:pPr algn="l">
              <a:spcBef>
                <a:spcPts val="200"/>
              </a:spcBef>
              <a:spcAft>
                <a:spcPts val="0"/>
              </a:spcAft>
            </a:pPr>
            <a:r>
              <a:rPr sz="950" b="0">
                <a:solidFill>
                  <a:srgbClr val="898781"/>
                </a:solidFill>
                <a:latin typeface="Consolas"/>
              </a:rPr>
              <a:t>mục tiêu 3–5</a:t>
            </a:r>
          </a:p>
        </p:txBody>
      </p:sp>
      <p:sp>
        <p:nvSpPr>
          <p:cNvPr id="22" name="TextBox 21"/>
          <p:cNvSpPr txBox="1"/>
          <p:nvPr/>
        </p:nvSpPr>
        <p:spPr>
          <a:xfrm>
            <a:off x="658368" y="3877056"/>
            <a:ext cx="5208880" cy="1757917"/>
          </a:xfrm>
          <a:prstGeom prst="rect">
            <a:avLst/>
          </a:prstGeom>
          <a:noFill/>
        </p:spPr>
        <p:txBody>
          <a:bodyPr wrap="square" lIns="0" tIns="0" rIns="0" bIns="0" anchor="t">
            <a:spAutoFit/>
          </a:bodyPr>
          <a:lstStyle/>
          <a:p>
            <a:pPr algn="l">
              <a:spcBef>
                <a:spcPts val="0"/>
              </a:spcBef>
              <a:spcAft>
                <a:spcPts val="0"/>
              </a:spcAft>
            </a:pPr>
            <a:r>
              <a:rPr sz="1100" b="1" dirty="0">
                <a:solidFill>
                  <a:srgbClr val="2A78D6"/>
                </a:solidFill>
                <a:latin typeface="Consolas"/>
              </a:rPr>
              <a:t>NỘI DUNG</a:t>
            </a:r>
          </a:p>
          <a:p>
            <a:pPr>
              <a:lnSpc>
                <a:spcPct val="124000"/>
              </a:lnSpc>
              <a:spcBef>
                <a:spcPts val="800"/>
              </a:spcBef>
              <a:spcAft>
                <a:spcPts val="0"/>
              </a:spcAft>
            </a:pPr>
            <a:r>
              <a:rPr sz="1150" b="1" dirty="0">
                <a:solidFill>
                  <a:srgbClr val="0B0B0B"/>
                </a:solidFill>
                <a:latin typeface="Segoe UI"/>
              </a:rPr>
              <a:t>02  </a:t>
            </a:r>
            <a:r>
              <a:rPr sz="1150" b="1" dirty="0" err="1">
                <a:solidFill>
                  <a:srgbClr val="0B0B0B"/>
                </a:solidFill>
                <a:latin typeface="Segoe UI"/>
              </a:rPr>
              <a:t>Dữ</a:t>
            </a:r>
            <a:r>
              <a:rPr sz="1150" b="1" dirty="0">
                <a:solidFill>
                  <a:srgbClr val="0B0B0B"/>
                </a:solidFill>
                <a:latin typeface="Segoe UI"/>
              </a:rPr>
              <a:t> </a:t>
            </a:r>
            <a:r>
              <a:rPr sz="1150" b="1" dirty="0" err="1">
                <a:solidFill>
                  <a:srgbClr val="0B0B0B"/>
                </a:solidFill>
                <a:latin typeface="Segoe UI"/>
              </a:rPr>
              <a:t>liệu</a:t>
            </a:r>
            <a:r>
              <a:rPr sz="1150" b="1" dirty="0">
                <a:solidFill>
                  <a:srgbClr val="0B0B0B"/>
                </a:solidFill>
                <a:latin typeface="Segoe UI"/>
              </a:rPr>
              <a:t> &amp; </a:t>
            </a:r>
            <a:r>
              <a:rPr sz="1150" b="1" dirty="0" err="1">
                <a:solidFill>
                  <a:srgbClr val="0B0B0B"/>
                </a:solidFill>
                <a:latin typeface="Segoe UI"/>
              </a:rPr>
              <a:t>chuẩn</a:t>
            </a:r>
            <a:r>
              <a:rPr sz="1150" b="1" dirty="0">
                <a:solidFill>
                  <a:srgbClr val="0B0B0B"/>
                </a:solidFill>
                <a:latin typeface="Segoe UI"/>
              </a:rPr>
              <a:t> </a:t>
            </a:r>
            <a:r>
              <a:rPr sz="1150" b="1" dirty="0" err="1">
                <a:solidFill>
                  <a:srgbClr val="0B0B0B"/>
                </a:solidFill>
                <a:latin typeface="Segoe UI"/>
              </a:rPr>
              <a:t>hoá</a:t>
            </a:r>
            <a:r>
              <a:rPr sz="1150" b="1" dirty="0">
                <a:solidFill>
                  <a:srgbClr val="0B0B0B"/>
                </a:solidFill>
                <a:latin typeface="Segoe UI"/>
              </a:rPr>
              <a:t>   </a:t>
            </a:r>
            <a:r>
              <a:rPr sz="1150" dirty="0" err="1">
                <a:solidFill>
                  <a:srgbClr val="52514E"/>
                </a:solidFill>
                <a:latin typeface="Segoe UI"/>
              </a:rPr>
              <a:t>kiểm</a:t>
            </a:r>
            <a:r>
              <a:rPr sz="1150" dirty="0">
                <a:solidFill>
                  <a:srgbClr val="52514E"/>
                </a:solidFill>
                <a:latin typeface="Segoe UI"/>
              </a:rPr>
              <a:t> </a:t>
            </a:r>
            <a:r>
              <a:rPr sz="1150" dirty="0" err="1">
                <a:solidFill>
                  <a:srgbClr val="52514E"/>
                </a:solidFill>
                <a:latin typeface="Segoe UI"/>
              </a:rPr>
              <a:t>tra</a:t>
            </a:r>
            <a:r>
              <a:rPr sz="1150" dirty="0">
                <a:solidFill>
                  <a:srgbClr val="52514E"/>
                </a:solidFill>
                <a:latin typeface="Segoe UI"/>
              </a:rPr>
              <a:t> </a:t>
            </a:r>
            <a:r>
              <a:rPr sz="1150" dirty="0" err="1">
                <a:solidFill>
                  <a:srgbClr val="52514E"/>
                </a:solidFill>
                <a:latin typeface="Segoe UI"/>
              </a:rPr>
              <a:t>chất</a:t>
            </a:r>
            <a:r>
              <a:rPr sz="1150" dirty="0">
                <a:solidFill>
                  <a:srgbClr val="52514E"/>
                </a:solidFill>
                <a:latin typeface="Segoe UI"/>
              </a:rPr>
              <a:t> </a:t>
            </a:r>
            <a:r>
              <a:rPr sz="1150" dirty="0" err="1">
                <a:solidFill>
                  <a:srgbClr val="52514E"/>
                </a:solidFill>
                <a:latin typeface="Segoe UI"/>
              </a:rPr>
              <a:t>lượng</a:t>
            </a:r>
            <a:r>
              <a:rPr sz="1150" dirty="0">
                <a:solidFill>
                  <a:srgbClr val="52514E"/>
                </a:solidFill>
                <a:latin typeface="Segoe UI"/>
              </a:rPr>
              <a:t>, </a:t>
            </a:r>
            <a:r>
              <a:rPr sz="1150" dirty="0" err="1">
                <a:solidFill>
                  <a:srgbClr val="52514E"/>
                </a:solidFill>
                <a:latin typeface="Segoe UI"/>
              </a:rPr>
              <a:t>chọn</a:t>
            </a:r>
            <a:r>
              <a:rPr sz="1150" dirty="0">
                <a:solidFill>
                  <a:srgbClr val="52514E"/>
                </a:solidFill>
                <a:latin typeface="Segoe UI"/>
              </a:rPr>
              <a:t> </a:t>
            </a:r>
            <a:r>
              <a:rPr sz="1150" dirty="0" err="1">
                <a:solidFill>
                  <a:srgbClr val="52514E"/>
                </a:solidFill>
                <a:latin typeface="Segoe UI"/>
              </a:rPr>
              <a:t>trục</a:t>
            </a:r>
            <a:r>
              <a:rPr sz="1150" dirty="0">
                <a:solidFill>
                  <a:srgbClr val="52514E"/>
                </a:solidFill>
                <a:latin typeface="Segoe UI"/>
              </a:rPr>
              <a:t> </a:t>
            </a:r>
            <a:r>
              <a:rPr sz="1150" dirty="0" err="1">
                <a:solidFill>
                  <a:srgbClr val="52514E"/>
                </a:solidFill>
                <a:latin typeface="Segoe UI"/>
              </a:rPr>
              <a:t>phân</a:t>
            </a:r>
            <a:r>
              <a:rPr sz="1150" dirty="0">
                <a:solidFill>
                  <a:srgbClr val="52514E"/>
                </a:solidFill>
                <a:latin typeface="Segoe UI"/>
              </a:rPr>
              <a:t> </a:t>
            </a:r>
            <a:r>
              <a:rPr sz="1150" dirty="0" err="1">
                <a:solidFill>
                  <a:srgbClr val="52514E"/>
                </a:solidFill>
                <a:latin typeface="Segoe UI"/>
              </a:rPr>
              <a:t>cụm</a:t>
            </a:r>
            <a:endParaRPr sz="1150" dirty="0">
              <a:solidFill>
                <a:srgbClr val="52514E"/>
              </a:solidFill>
              <a:latin typeface="Segoe UI"/>
            </a:endParaRPr>
          </a:p>
          <a:p>
            <a:pPr>
              <a:lnSpc>
                <a:spcPct val="124000"/>
              </a:lnSpc>
              <a:spcBef>
                <a:spcPts val="800"/>
              </a:spcBef>
              <a:spcAft>
                <a:spcPts val="0"/>
              </a:spcAft>
            </a:pPr>
            <a:r>
              <a:rPr sz="1150" b="1" dirty="0">
                <a:solidFill>
                  <a:srgbClr val="0B0B0B"/>
                </a:solidFill>
                <a:latin typeface="Segoe UI"/>
              </a:rPr>
              <a:t>03  </a:t>
            </a:r>
            <a:r>
              <a:rPr sz="1150" b="1" dirty="0" err="1">
                <a:solidFill>
                  <a:srgbClr val="0B0B0B"/>
                </a:solidFill>
                <a:latin typeface="Segoe UI"/>
              </a:rPr>
              <a:t>Chọn</a:t>
            </a:r>
            <a:r>
              <a:rPr sz="1150" b="1" dirty="0">
                <a:solidFill>
                  <a:srgbClr val="0B0B0B"/>
                </a:solidFill>
                <a:latin typeface="Segoe UI"/>
              </a:rPr>
              <a:t> </a:t>
            </a:r>
            <a:r>
              <a:rPr sz="1150" b="1" dirty="0" err="1">
                <a:solidFill>
                  <a:srgbClr val="0B0B0B"/>
                </a:solidFill>
                <a:latin typeface="Segoe UI"/>
              </a:rPr>
              <a:t>số</a:t>
            </a:r>
            <a:r>
              <a:rPr sz="1150" b="1" dirty="0">
                <a:solidFill>
                  <a:srgbClr val="0B0B0B"/>
                </a:solidFill>
                <a:latin typeface="Segoe UI"/>
              </a:rPr>
              <a:t> </a:t>
            </a:r>
            <a:r>
              <a:rPr sz="1150" b="1" dirty="0" err="1">
                <a:solidFill>
                  <a:srgbClr val="0B0B0B"/>
                </a:solidFill>
                <a:latin typeface="Segoe UI"/>
              </a:rPr>
              <a:t>cụm</a:t>
            </a:r>
            <a:r>
              <a:rPr sz="1150" b="1" dirty="0">
                <a:solidFill>
                  <a:srgbClr val="0B0B0B"/>
                </a:solidFill>
                <a:latin typeface="Segoe UI"/>
              </a:rPr>
              <a:t>   </a:t>
            </a:r>
            <a:r>
              <a:rPr sz="1150" dirty="0" err="1">
                <a:solidFill>
                  <a:srgbClr val="52514E"/>
                </a:solidFill>
                <a:latin typeface="Segoe UI"/>
              </a:rPr>
              <a:t>ràng</a:t>
            </a:r>
            <a:r>
              <a:rPr sz="1150" dirty="0">
                <a:solidFill>
                  <a:srgbClr val="52514E"/>
                </a:solidFill>
                <a:latin typeface="Segoe UI"/>
              </a:rPr>
              <a:t> </a:t>
            </a:r>
            <a:r>
              <a:rPr sz="1150" dirty="0" err="1">
                <a:solidFill>
                  <a:srgbClr val="52514E"/>
                </a:solidFill>
                <a:latin typeface="Segoe UI"/>
              </a:rPr>
              <a:t>buộc</a:t>
            </a:r>
            <a:r>
              <a:rPr sz="1150" dirty="0">
                <a:solidFill>
                  <a:srgbClr val="52514E"/>
                </a:solidFill>
                <a:latin typeface="Segoe UI"/>
              </a:rPr>
              <a:t> </a:t>
            </a:r>
            <a:r>
              <a:rPr sz="1150" dirty="0" err="1">
                <a:solidFill>
                  <a:srgbClr val="52514E"/>
                </a:solidFill>
                <a:latin typeface="Segoe UI"/>
              </a:rPr>
              <a:t>quy</a:t>
            </a:r>
            <a:r>
              <a:rPr sz="1150" dirty="0">
                <a:solidFill>
                  <a:srgbClr val="52514E"/>
                </a:solidFill>
                <a:latin typeface="Segoe UI"/>
              </a:rPr>
              <a:t> </a:t>
            </a:r>
            <a:r>
              <a:rPr sz="1150" dirty="0" err="1">
                <a:solidFill>
                  <a:srgbClr val="52514E"/>
                </a:solidFill>
                <a:latin typeface="Segoe UI"/>
              </a:rPr>
              <a:t>mô</a:t>
            </a:r>
            <a:r>
              <a:rPr sz="1150" dirty="0">
                <a:solidFill>
                  <a:srgbClr val="52514E"/>
                </a:solidFill>
                <a:latin typeface="Segoe UI"/>
              </a:rPr>
              <a:t>, </a:t>
            </a:r>
            <a:r>
              <a:rPr sz="1150" dirty="0" err="1">
                <a:solidFill>
                  <a:srgbClr val="52514E"/>
                </a:solidFill>
                <a:latin typeface="Segoe UI"/>
              </a:rPr>
              <a:t>rồi</a:t>
            </a:r>
            <a:r>
              <a:rPr sz="1150" dirty="0">
                <a:solidFill>
                  <a:srgbClr val="52514E"/>
                </a:solidFill>
                <a:latin typeface="Segoe UI"/>
              </a:rPr>
              <a:t> </a:t>
            </a:r>
            <a:r>
              <a:rPr sz="1150" dirty="0" err="1">
                <a:solidFill>
                  <a:srgbClr val="52514E"/>
                </a:solidFill>
                <a:latin typeface="Segoe UI"/>
              </a:rPr>
              <a:t>sil_gap</a:t>
            </a:r>
            <a:r>
              <a:rPr sz="1150" dirty="0">
                <a:solidFill>
                  <a:srgbClr val="52514E"/>
                </a:solidFill>
                <a:latin typeface="Segoe UI"/>
              </a:rPr>
              <a:t> so </a:t>
            </a:r>
            <a:r>
              <a:rPr sz="1150" dirty="0" err="1">
                <a:solidFill>
                  <a:srgbClr val="52514E"/>
                </a:solidFill>
                <a:latin typeface="Segoe UI"/>
              </a:rPr>
              <a:t>với</a:t>
            </a:r>
            <a:r>
              <a:rPr sz="1150" dirty="0">
                <a:solidFill>
                  <a:srgbClr val="52514E"/>
                </a:solidFill>
                <a:latin typeface="Segoe UI"/>
              </a:rPr>
              <a:t> baseline null</a:t>
            </a:r>
          </a:p>
          <a:p>
            <a:pPr>
              <a:lnSpc>
                <a:spcPct val="124000"/>
              </a:lnSpc>
              <a:spcBef>
                <a:spcPts val="800"/>
              </a:spcBef>
              <a:spcAft>
                <a:spcPts val="0"/>
              </a:spcAft>
            </a:pPr>
            <a:r>
              <a:rPr sz="1150" b="1" dirty="0">
                <a:solidFill>
                  <a:srgbClr val="0B0B0B"/>
                </a:solidFill>
                <a:latin typeface="Segoe UI"/>
              </a:rPr>
              <a:t>04  Elbow   </a:t>
            </a:r>
            <a:r>
              <a:rPr sz="1150" dirty="0" err="1">
                <a:solidFill>
                  <a:srgbClr val="52514E"/>
                </a:solidFill>
                <a:latin typeface="Segoe UI"/>
              </a:rPr>
              <a:t>tiêu</a:t>
            </a:r>
            <a:r>
              <a:rPr sz="1150" dirty="0">
                <a:solidFill>
                  <a:srgbClr val="52514E"/>
                </a:solidFill>
                <a:latin typeface="Segoe UI"/>
              </a:rPr>
              <a:t> </a:t>
            </a:r>
            <a:r>
              <a:rPr sz="1150" dirty="0" err="1">
                <a:solidFill>
                  <a:srgbClr val="52514E"/>
                </a:solidFill>
                <a:latin typeface="Segoe UI"/>
              </a:rPr>
              <a:t>chí</a:t>
            </a:r>
            <a:r>
              <a:rPr sz="1150" dirty="0">
                <a:solidFill>
                  <a:srgbClr val="52514E"/>
                </a:solidFill>
                <a:latin typeface="Segoe UI"/>
              </a:rPr>
              <a:t> </a:t>
            </a:r>
            <a:r>
              <a:rPr sz="1150" dirty="0" err="1">
                <a:solidFill>
                  <a:srgbClr val="52514E"/>
                </a:solidFill>
                <a:latin typeface="Segoe UI"/>
              </a:rPr>
              <a:t>thứ</a:t>
            </a:r>
            <a:r>
              <a:rPr sz="1150" dirty="0">
                <a:solidFill>
                  <a:srgbClr val="52514E"/>
                </a:solidFill>
                <a:latin typeface="Segoe UI"/>
              </a:rPr>
              <a:t> </a:t>
            </a:r>
            <a:r>
              <a:rPr sz="1150" dirty="0" err="1">
                <a:solidFill>
                  <a:srgbClr val="52514E"/>
                </a:solidFill>
                <a:latin typeface="Segoe UI"/>
              </a:rPr>
              <a:t>hai</a:t>
            </a:r>
            <a:r>
              <a:rPr sz="1150" dirty="0">
                <a:solidFill>
                  <a:srgbClr val="52514E"/>
                </a:solidFill>
                <a:latin typeface="Segoe UI"/>
              </a:rPr>
              <a:t>, </a:t>
            </a:r>
            <a:r>
              <a:rPr sz="1150" dirty="0" err="1">
                <a:solidFill>
                  <a:srgbClr val="52514E"/>
                </a:solidFill>
                <a:latin typeface="Segoe UI"/>
              </a:rPr>
              <a:t>đối</a:t>
            </a:r>
            <a:r>
              <a:rPr sz="1150" dirty="0">
                <a:solidFill>
                  <a:srgbClr val="52514E"/>
                </a:solidFill>
                <a:latin typeface="Segoe UI"/>
              </a:rPr>
              <a:t> </a:t>
            </a:r>
            <a:r>
              <a:rPr sz="1150" dirty="0" err="1">
                <a:solidFill>
                  <a:srgbClr val="52514E"/>
                </a:solidFill>
                <a:latin typeface="Segoe UI"/>
              </a:rPr>
              <a:t>chiếu</a:t>
            </a:r>
            <a:r>
              <a:rPr sz="1150" dirty="0">
                <a:solidFill>
                  <a:srgbClr val="52514E"/>
                </a:solidFill>
                <a:latin typeface="Segoe UI"/>
              </a:rPr>
              <a:t> </a:t>
            </a:r>
            <a:r>
              <a:rPr sz="1150" dirty="0" err="1">
                <a:solidFill>
                  <a:srgbClr val="52514E"/>
                </a:solidFill>
                <a:latin typeface="Segoe UI"/>
              </a:rPr>
              <a:t>chéo</a:t>
            </a:r>
            <a:endParaRPr sz="1150" dirty="0">
              <a:solidFill>
                <a:srgbClr val="52514E"/>
              </a:solidFill>
              <a:latin typeface="Segoe UI"/>
            </a:endParaRPr>
          </a:p>
          <a:p>
            <a:pPr>
              <a:lnSpc>
                <a:spcPct val="124000"/>
              </a:lnSpc>
              <a:spcBef>
                <a:spcPts val="800"/>
              </a:spcBef>
              <a:spcAft>
                <a:spcPts val="0"/>
              </a:spcAft>
            </a:pPr>
            <a:r>
              <a:rPr sz="1150" b="1" dirty="0">
                <a:solidFill>
                  <a:srgbClr val="0B0B0B"/>
                </a:solidFill>
                <a:latin typeface="Segoe UI"/>
              </a:rPr>
              <a:t>05  Ba persona   </a:t>
            </a:r>
            <a:r>
              <a:rPr sz="1150" dirty="0" err="1">
                <a:solidFill>
                  <a:srgbClr val="52514E"/>
                </a:solidFill>
                <a:latin typeface="Segoe UI"/>
              </a:rPr>
              <a:t>hồ</a:t>
            </a:r>
            <a:r>
              <a:rPr sz="1150" dirty="0">
                <a:solidFill>
                  <a:srgbClr val="52514E"/>
                </a:solidFill>
                <a:latin typeface="Segoe UI"/>
              </a:rPr>
              <a:t> </a:t>
            </a:r>
            <a:r>
              <a:rPr sz="1150" dirty="0" err="1">
                <a:solidFill>
                  <a:srgbClr val="52514E"/>
                </a:solidFill>
                <a:latin typeface="Segoe UI"/>
              </a:rPr>
              <a:t>sơ</a:t>
            </a:r>
            <a:r>
              <a:rPr sz="1150" dirty="0">
                <a:solidFill>
                  <a:srgbClr val="52514E"/>
                </a:solidFill>
                <a:latin typeface="Segoe UI"/>
              </a:rPr>
              <a:t> z-score, </a:t>
            </a:r>
            <a:r>
              <a:rPr sz="1150" dirty="0" err="1">
                <a:solidFill>
                  <a:srgbClr val="52514E"/>
                </a:solidFill>
                <a:latin typeface="Segoe UI"/>
              </a:rPr>
              <a:t>kiểm</a:t>
            </a:r>
            <a:r>
              <a:rPr sz="1150" dirty="0">
                <a:solidFill>
                  <a:srgbClr val="52514E"/>
                </a:solidFill>
                <a:latin typeface="Segoe UI"/>
              </a:rPr>
              <a:t> </a:t>
            </a:r>
            <a:r>
              <a:rPr sz="1150" dirty="0" err="1">
                <a:solidFill>
                  <a:srgbClr val="52514E"/>
                </a:solidFill>
                <a:latin typeface="Segoe UI"/>
              </a:rPr>
              <a:t>chứng</a:t>
            </a:r>
            <a:r>
              <a:rPr sz="1150" dirty="0">
                <a:solidFill>
                  <a:srgbClr val="52514E"/>
                </a:solidFill>
                <a:latin typeface="Segoe UI"/>
              </a:rPr>
              <a:t> </a:t>
            </a:r>
            <a:r>
              <a:rPr sz="1150" dirty="0" err="1">
                <a:solidFill>
                  <a:srgbClr val="52514E"/>
                </a:solidFill>
                <a:latin typeface="Segoe UI"/>
              </a:rPr>
              <a:t>bằng</a:t>
            </a:r>
            <a:r>
              <a:rPr sz="1150" dirty="0">
                <a:solidFill>
                  <a:srgbClr val="52514E"/>
                </a:solidFill>
                <a:latin typeface="Segoe UI"/>
              </a:rPr>
              <a:t> </a:t>
            </a:r>
            <a:r>
              <a:rPr sz="1150" dirty="0" err="1">
                <a:solidFill>
                  <a:srgbClr val="52514E"/>
                </a:solidFill>
                <a:latin typeface="Segoe UI"/>
              </a:rPr>
              <a:t>trục</a:t>
            </a:r>
            <a:r>
              <a:rPr sz="1150" dirty="0">
                <a:solidFill>
                  <a:srgbClr val="52514E"/>
                </a:solidFill>
                <a:latin typeface="Segoe UI"/>
              </a:rPr>
              <a:t> </a:t>
            </a:r>
            <a:r>
              <a:rPr sz="1150" dirty="0" err="1">
                <a:solidFill>
                  <a:srgbClr val="52514E"/>
                </a:solidFill>
                <a:latin typeface="Segoe UI"/>
              </a:rPr>
              <a:t>không</a:t>
            </a:r>
            <a:r>
              <a:rPr sz="1150" dirty="0">
                <a:solidFill>
                  <a:srgbClr val="52514E"/>
                </a:solidFill>
                <a:latin typeface="Segoe UI"/>
              </a:rPr>
              <a:t> </a:t>
            </a:r>
            <a:r>
              <a:rPr sz="1150" dirty="0" err="1">
                <a:solidFill>
                  <a:srgbClr val="52514E"/>
                </a:solidFill>
                <a:latin typeface="Segoe UI"/>
              </a:rPr>
              <a:t>dùng</a:t>
            </a:r>
            <a:r>
              <a:rPr sz="1150" dirty="0">
                <a:solidFill>
                  <a:srgbClr val="52514E"/>
                </a:solidFill>
                <a:latin typeface="Segoe UI"/>
              </a:rPr>
              <a:t> </a:t>
            </a:r>
            <a:r>
              <a:rPr sz="1150" dirty="0" err="1">
                <a:solidFill>
                  <a:srgbClr val="52514E"/>
                </a:solidFill>
                <a:latin typeface="Segoe UI"/>
              </a:rPr>
              <a:t>để</a:t>
            </a:r>
            <a:r>
              <a:rPr sz="1150" dirty="0">
                <a:solidFill>
                  <a:srgbClr val="52514E"/>
                </a:solidFill>
                <a:latin typeface="Segoe UI"/>
              </a:rPr>
              <a:t> chia</a:t>
            </a:r>
          </a:p>
          <a:p>
            <a:pPr>
              <a:lnSpc>
                <a:spcPct val="124000"/>
              </a:lnSpc>
              <a:spcBef>
                <a:spcPts val="800"/>
              </a:spcBef>
              <a:spcAft>
                <a:spcPts val="0"/>
              </a:spcAft>
            </a:pPr>
            <a:r>
              <a:rPr sz="1150" b="1" dirty="0">
                <a:solidFill>
                  <a:srgbClr val="0B0B0B"/>
                </a:solidFill>
                <a:latin typeface="Segoe UI"/>
              </a:rPr>
              <a:t>06  </a:t>
            </a:r>
            <a:r>
              <a:rPr sz="1150" b="1" dirty="0" err="1">
                <a:solidFill>
                  <a:srgbClr val="0B0B0B"/>
                </a:solidFill>
                <a:latin typeface="Segoe UI"/>
              </a:rPr>
              <a:t>Chọn</a:t>
            </a:r>
            <a:r>
              <a:rPr sz="1150" b="1" dirty="0">
                <a:solidFill>
                  <a:srgbClr val="0B0B0B"/>
                </a:solidFill>
                <a:latin typeface="Segoe UI"/>
              </a:rPr>
              <a:t> </a:t>
            </a:r>
            <a:r>
              <a:rPr sz="1150" b="1" dirty="0" err="1">
                <a:solidFill>
                  <a:srgbClr val="0B0B0B"/>
                </a:solidFill>
                <a:latin typeface="Segoe UI"/>
              </a:rPr>
              <a:t>nhóm</a:t>
            </a:r>
            <a:r>
              <a:rPr sz="1150" b="1" dirty="0">
                <a:solidFill>
                  <a:srgbClr val="0B0B0B"/>
                </a:solidFill>
                <a:latin typeface="Segoe UI"/>
              </a:rPr>
              <a:t> target   </a:t>
            </a:r>
            <a:r>
              <a:rPr sz="1150" dirty="0">
                <a:solidFill>
                  <a:srgbClr val="52514E"/>
                </a:solidFill>
                <a:latin typeface="Segoe UI"/>
              </a:rPr>
              <a:t>A/B test, </a:t>
            </a:r>
            <a:r>
              <a:rPr lang="en-US" sz="1150" dirty="0" err="1">
                <a:solidFill>
                  <a:srgbClr val="52514E"/>
                </a:solidFill>
                <a:latin typeface="Segoe UI"/>
              </a:rPr>
              <a:t>giải</a:t>
            </a:r>
            <a:r>
              <a:rPr lang="en-US" sz="1150" dirty="0">
                <a:solidFill>
                  <a:srgbClr val="52514E"/>
                </a:solidFill>
                <a:latin typeface="Segoe UI"/>
              </a:rPr>
              <a:t> </a:t>
            </a:r>
            <a:r>
              <a:rPr lang="en-US" sz="1150" dirty="0" err="1">
                <a:solidFill>
                  <a:srgbClr val="52514E"/>
                </a:solidFill>
                <a:latin typeface="Segoe UI"/>
              </a:rPr>
              <a:t>thích</a:t>
            </a:r>
            <a:endParaRPr sz="1150" dirty="0">
              <a:solidFill>
                <a:srgbClr val="52514E"/>
              </a:solidFill>
              <a:latin typeface="Segoe UI"/>
            </a:endParaRPr>
          </a:p>
        </p:txBody>
      </p:sp>
      <p:sp>
        <p:nvSpPr>
          <p:cNvPr id="24" name="TextBox 23">
            <a:extLst>
              <a:ext uri="{FF2B5EF4-FFF2-40B4-BE49-F238E27FC236}">
                <a16:creationId xmlns:a16="http://schemas.microsoft.com/office/drawing/2014/main" id="{A4413AF1-F3AF-4E40-9CF8-2C3139F0C11E}"/>
              </a:ext>
            </a:extLst>
          </p:cNvPr>
          <p:cNvSpPr txBox="1"/>
          <p:nvPr/>
        </p:nvSpPr>
        <p:spPr>
          <a:xfrm>
            <a:off x="696468" y="1664208"/>
            <a:ext cx="10874959" cy="307777"/>
          </a:xfrm>
          <a:prstGeom prst="rect">
            <a:avLst/>
          </a:prstGeom>
          <a:noFill/>
        </p:spPr>
        <p:txBody>
          <a:bodyPr wrap="square" lIns="0" tIns="0" rIns="0" bIns="0" anchor="t">
            <a:spAutoFit/>
          </a:bodyPr>
          <a:lstStyle/>
          <a:p>
            <a:pPr algn="l">
              <a:spcBef>
                <a:spcPts val="0"/>
              </a:spcBef>
              <a:spcAft>
                <a:spcPts val="0"/>
              </a:spcAft>
            </a:pPr>
            <a:r>
              <a:rPr sz="2000" b="0" dirty="0">
                <a:latin typeface="Consolas"/>
              </a:rPr>
              <a:t>TỔNG QUAN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58368" y="402336"/>
            <a:ext cx="603504" cy="4445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585216"/>
            <a:ext cx="10874959" cy="256032"/>
          </a:xfrm>
          <a:prstGeom prst="rect">
            <a:avLst/>
          </a:prstGeom>
          <a:noFill/>
        </p:spPr>
        <p:txBody>
          <a:bodyPr wrap="square" lIns="0" tIns="0" rIns="0" bIns="0" anchor="t">
            <a:spAutoFit/>
          </a:bodyPr>
          <a:lstStyle/>
          <a:p>
            <a:pPr algn="l">
              <a:spcBef>
                <a:spcPts val="0"/>
              </a:spcBef>
              <a:spcAft>
                <a:spcPts val="0"/>
              </a:spcAft>
            </a:pPr>
            <a:r>
              <a:rPr sz="1050" b="0">
                <a:solidFill>
                  <a:srgbClr val="898781"/>
                </a:solidFill>
                <a:latin typeface="Consolas"/>
              </a:rPr>
              <a:t>02  ·  DỮ LIỆU  ·  Mục 1 – 2</a:t>
            </a:r>
          </a:p>
        </p:txBody>
      </p:sp>
      <p:sp>
        <p:nvSpPr>
          <p:cNvPr id="5" name="TextBox 4"/>
          <p:cNvSpPr txBox="1"/>
          <p:nvPr/>
        </p:nvSpPr>
        <p:spPr>
          <a:xfrm>
            <a:off x="658368" y="896112"/>
            <a:ext cx="9787463" cy="417422"/>
          </a:xfrm>
          <a:prstGeom prst="rect">
            <a:avLst/>
          </a:prstGeom>
          <a:noFill/>
        </p:spPr>
        <p:txBody>
          <a:bodyPr wrap="square" lIns="0" tIns="0" rIns="0" bIns="0" anchor="t">
            <a:spAutoFit/>
          </a:bodyPr>
          <a:lstStyle/>
          <a:p>
            <a:pPr algn="l">
              <a:lnSpc>
                <a:spcPct val="104000"/>
              </a:lnSpc>
              <a:spcBef>
                <a:spcPts val="0"/>
              </a:spcBef>
              <a:spcAft>
                <a:spcPts val="0"/>
              </a:spcAft>
            </a:pPr>
            <a:r>
              <a:rPr sz="2800" b="1" dirty="0" err="1">
                <a:solidFill>
                  <a:srgbClr val="0B0B0B"/>
                </a:solidFill>
                <a:latin typeface="Segoe UI"/>
              </a:rPr>
              <a:t>Kiểm</a:t>
            </a:r>
            <a:r>
              <a:rPr sz="2800" b="1" dirty="0">
                <a:solidFill>
                  <a:srgbClr val="0B0B0B"/>
                </a:solidFill>
                <a:latin typeface="Segoe UI"/>
              </a:rPr>
              <a:t> </a:t>
            </a:r>
            <a:r>
              <a:rPr sz="2800" b="1" dirty="0" err="1">
                <a:solidFill>
                  <a:srgbClr val="0B0B0B"/>
                </a:solidFill>
                <a:latin typeface="Segoe UI"/>
              </a:rPr>
              <a:t>tra</a:t>
            </a:r>
            <a:r>
              <a:rPr sz="2800" b="1" dirty="0">
                <a:solidFill>
                  <a:srgbClr val="0B0B0B"/>
                </a:solidFill>
                <a:latin typeface="Segoe UI"/>
              </a:rPr>
              <a:t> </a:t>
            </a:r>
            <a:r>
              <a:rPr sz="2800" b="1" dirty="0" err="1">
                <a:solidFill>
                  <a:srgbClr val="0B0B0B"/>
                </a:solidFill>
                <a:latin typeface="Segoe UI"/>
              </a:rPr>
              <a:t>chất</a:t>
            </a:r>
            <a:r>
              <a:rPr sz="2800" b="1" dirty="0">
                <a:solidFill>
                  <a:srgbClr val="0B0B0B"/>
                </a:solidFill>
                <a:latin typeface="Segoe UI"/>
              </a:rPr>
              <a:t> </a:t>
            </a:r>
            <a:r>
              <a:rPr sz="2800" b="1" dirty="0" err="1">
                <a:solidFill>
                  <a:srgbClr val="0B0B0B"/>
                </a:solidFill>
                <a:latin typeface="Segoe UI"/>
              </a:rPr>
              <a:t>lượng</a:t>
            </a:r>
            <a:r>
              <a:rPr sz="2800" b="1" dirty="0">
                <a:solidFill>
                  <a:srgbClr val="0B0B0B"/>
                </a:solidFill>
                <a:latin typeface="Segoe UI"/>
              </a:rPr>
              <a:t> </a:t>
            </a:r>
            <a:r>
              <a:rPr lang="en-US" sz="2800" b="1" dirty="0" err="1">
                <a:solidFill>
                  <a:srgbClr val="0B0B0B"/>
                </a:solidFill>
                <a:latin typeface="Segoe UI"/>
              </a:rPr>
              <a:t>và</a:t>
            </a:r>
            <a:r>
              <a:rPr sz="2800" b="1" dirty="0">
                <a:solidFill>
                  <a:srgbClr val="0B0B0B"/>
                </a:solidFill>
                <a:latin typeface="Segoe UI"/>
              </a:rPr>
              <a:t> </a:t>
            </a:r>
            <a:r>
              <a:rPr sz="2800" b="1" dirty="0" err="1">
                <a:solidFill>
                  <a:srgbClr val="0B0B0B"/>
                </a:solidFill>
                <a:latin typeface="Segoe UI"/>
              </a:rPr>
              <a:t>chuẩn</a:t>
            </a:r>
            <a:r>
              <a:rPr sz="2800" b="1" dirty="0">
                <a:solidFill>
                  <a:srgbClr val="0B0B0B"/>
                </a:solidFill>
                <a:latin typeface="Segoe UI"/>
              </a:rPr>
              <a:t> </a:t>
            </a:r>
            <a:r>
              <a:rPr sz="2800" b="1" dirty="0" err="1">
                <a:solidFill>
                  <a:srgbClr val="0B0B0B"/>
                </a:solidFill>
                <a:latin typeface="Segoe UI"/>
              </a:rPr>
              <a:t>hoá</a:t>
            </a:r>
            <a:endParaRPr sz="2800" b="1" dirty="0">
              <a:solidFill>
                <a:srgbClr val="0B0B0B"/>
              </a:solidFill>
              <a:latin typeface="Segoe UI"/>
            </a:endParaRPr>
          </a:p>
        </p:txBody>
      </p:sp>
      <p:sp>
        <p:nvSpPr>
          <p:cNvPr id="6" name="TextBox 5"/>
          <p:cNvSpPr txBox="1"/>
          <p:nvPr/>
        </p:nvSpPr>
        <p:spPr>
          <a:xfrm>
            <a:off x="658368" y="1609344"/>
            <a:ext cx="8917466" cy="694944"/>
          </a:xfrm>
          <a:prstGeom prst="rect">
            <a:avLst/>
          </a:prstGeom>
          <a:noFill/>
        </p:spPr>
        <p:txBody>
          <a:bodyPr wrap="square" lIns="0" tIns="0" rIns="0" bIns="0" anchor="t">
            <a:spAutoFit/>
          </a:bodyPr>
          <a:lstStyle/>
          <a:p>
            <a:pPr algn="l">
              <a:lnSpc>
                <a:spcPct val="126000"/>
              </a:lnSpc>
              <a:spcBef>
                <a:spcPts val="0"/>
              </a:spcBef>
              <a:spcAft>
                <a:spcPts val="0"/>
              </a:spcAft>
            </a:pPr>
            <a:r>
              <a:rPr sz="1400" b="0">
                <a:solidFill>
                  <a:srgbClr val="52514E"/>
                </a:solidFill>
                <a:latin typeface="Segoe UI"/>
              </a:rPr>
              <a:t>KMeans dùng khoảng cách Euclid nên nhạy với thang đo. Phải đưa mọi trục về cùng đơn vị trước, nếu không biến có dải rộng sẽ chi phối toàn bộ kết quả.</a:t>
            </a:r>
          </a:p>
        </p:txBody>
      </p:sp>
      <p:sp>
        <p:nvSpPr>
          <p:cNvPr id="7" name="Rectangle 6"/>
          <p:cNvSpPr/>
          <p:nvPr/>
        </p:nvSpPr>
        <p:spPr>
          <a:xfrm>
            <a:off x="658368" y="6345936"/>
            <a:ext cx="10874959" cy="9525"/>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6464808"/>
            <a:ext cx="8156219" cy="219456"/>
          </a:xfrm>
          <a:prstGeom prst="rect">
            <a:avLst/>
          </a:prstGeom>
          <a:noFill/>
        </p:spPr>
        <p:txBody>
          <a:bodyPr wrap="square" lIns="0" tIns="0" rIns="0" bIns="0" anchor="t">
            <a:spAutoFit/>
          </a:bodyPr>
          <a:lstStyle/>
          <a:p>
            <a:pPr algn="l">
              <a:spcBef>
                <a:spcPts val="0"/>
              </a:spcBef>
              <a:spcAft>
                <a:spcPts val="0"/>
              </a:spcAft>
            </a:pPr>
            <a:r>
              <a:rPr sz="950" b="0">
                <a:solidFill>
                  <a:srgbClr val="898781"/>
                </a:solidFill>
                <a:latin typeface="Consolas"/>
              </a:rPr>
              <a:t>Customer Segmentation  ·  Ride-Hailing Promotions</a:t>
            </a:r>
          </a:p>
        </p:txBody>
      </p:sp>
      <p:sp>
        <p:nvSpPr>
          <p:cNvPr id="9" name="TextBox 8"/>
          <p:cNvSpPr txBox="1"/>
          <p:nvPr/>
        </p:nvSpPr>
        <p:spPr>
          <a:xfrm>
            <a:off x="10344607" y="6464808"/>
            <a:ext cx="1188720" cy="219456"/>
          </a:xfrm>
          <a:prstGeom prst="rect">
            <a:avLst/>
          </a:prstGeom>
          <a:noFill/>
        </p:spPr>
        <p:txBody>
          <a:bodyPr wrap="square" lIns="0" tIns="0" rIns="0" bIns="0" anchor="t">
            <a:spAutoFit/>
          </a:bodyPr>
          <a:lstStyle/>
          <a:p>
            <a:pPr algn="r">
              <a:spcBef>
                <a:spcPts val="0"/>
              </a:spcBef>
              <a:spcAft>
                <a:spcPts val="0"/>
              </a:spcAft>
            </a:pPr>
            <a:r>
              <a:rPr sz="950" b="0">
                <a:solidFill>
                  <a:srgbClr val="898781"/>
                </a:solidFill>
                <a:latin typeface="Consolas"/>
              </a:rPr>
              <a:t>2 / 6</a:t>
            </a:r>
          </a:p>
        </p:txBody>
      </p:sp>
      <p:sp>
        <p:nvSpPr>
          <p:cNvPr id="10" name="Rectangle 9"/>
          <p:cNvSpPr/>
          <p:nvPr/>
        </p:nvSpPr>
        <p:spPr>
          <a:xfrm>
            <a:off x="658368" y="2377440"/>
            <a:ext cx="3466490" cy="1188720"/>
          </a:xfrm>
          <a:prstGeom prst="rect">
            <a:avLst/>
          </a:prstGeom>
          <a:solidFill>
            <a:srgbClr val="F2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58368" y="2377440"/>
            <a:ext cx="38100" cy="11887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2523744"/>
            <a:ext cx="3100730" cy="457200"/>
          </a:xfrm>
          <a:prstGeom prst="rect">
            <a:avLst/>
          </a:prstGeom>
          <a:noFill/>
        </p:spPr>
        <p:txBody>
          <a:bodyPr wrap="square" lIns="0" tIns="0" rIns="0" bIns="0" anchor="t">
            <a:spAutoFit/>
          </a:bodyPr>
          <a:lstStyle/>
          <a:p>
            <a:pPr algn="l">
              <a:spcBef>
                <a:spcPts val="0"/>
              </a:spcBef>
              <a:spcAft>
                <a:spcPts val="0"/>
              </a:spcAft>
            </a:pPr>
            <a:r>
              <a:rPr sz="2500" b="1">
                <a:solidFill>
                  <a:srgbClr val="0B0B0B"/>
                </a:solidFill>
                <a:latin typeface="Consolas"/>
              </a:rPr>
              <a:t>0</a:t>
            </a:r>
          </a:p>
        </p:txBody>
      </p:sp>
      <p:sp>
        <p:nvSpPr>
          <p:cNvPr id="13" name="TextBox 12"/>
          <p:cNvSpPr txBox="1"/>
          <p:nvPr/>
        </p:nvSpPr>
        <p:spPr>
          <a:xfrm>
            <a:off x="859536" y="3054096"/>
            <a:ext cx="3100730" cy="457200"/>
          </a:xfrm>
          <a:prstGeom prst="rect">
            <a:avLst/>
          </a:prstGeom>
          <a:noFill/>
        </p:spPr>
        <p:txBody>
          <a:bodyPr wrap="square" lIns="0" tIns="0" rIns="0" bIns="0" anchor="t">
            <a:spAutoFit/>
          </a:bodyPr>
          <a:lstStyle/>
          <a:p>
            <a:pPr algn="l">
              <a:lnSpc>
                <a:spcPct val="112000"/>
              </a:lnSpc>
              <a:spcBef>
                <a:spcPts val="0"/>
              </a:spcBef>
              <a:spcAft>
                <a:spcPts val="0"/>
              </a:spcAft>
            </a:pPr>
            <a:r>
              <a:rPr sz="1100" b="0">
                <a:solidFill>
                  <a:srgbClr val="52514E"/>
                </a:solidFill>
                <a:latin typeface="Segoe UI"/>
              </a:rPr>
              <a:t>giá trị thiếu  ·  dòng trùng</a:t>
            </a:r>
          </a:p>
          <a:p>
            <a:pPr algn="l">
              <a:spcBef>
                <a:spcPts val="200"/>
              </a:spcBef>
              <a:spcAft>
                <a:spcPts val="0"/>
              </a:spcAft>
            </a:pPr>
            <a:r>
              <a:rPr sz="950" b="0">
                <a:solidFill>
                  <a:srgbClr val="898781"/>
                </a:solidFill>
                <a:latin typeface="Consolas"/>
              </a:rPr>
              <a:t>0 user_id trùng</a:t>
            </a:r>
          </a:p>
        </p:txBody>
      </p:sp>
      <p:sp>
        <p:nvSpPr>
          <p:cNvPr id="14" name="Rectangle 13"/>
          <p:cNvSpPr/>
          <p:nvPr/>
        </p:nvSpPr>
        <p:spPr>
          <a:xfrm>
            <a:off x="4362602" y="2377440"/>
            <a:ext cx="3466490" cy="1188720"/>
          </a:xfrm>
          <a:prstGeom prst="rect">
            <a:avLst/>
          </a:prstGeom>
          <a:solidFill>
            <a:srgbClr val="F2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362602" y="2377440"/>
            <a:ext cx="38100" cy="118872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563770" y="2523744"/>
            <a:ext cx="3100730" cy="457200"/>
          </a:xfrm>
          <a:prstGeom prst="rect">
            <a:avLst/>
          </a:prstGeom>
          <a:noFill/>
        </p:spPr>
        <p:txBody>
          <a:bodyPr wrap="square" lIns="0" tIns="0" rIns="0" bIns="0" anchor="t">
            <a:spAutoFit/>
          </a:bodyPr>
          <a:lstStyle/>
          <a:p>
            <a:pPr algn="l">
              <a:spcBef>
                <a:spcPts val="0"/>
              </a:spcBef>
              <a:spcAft>
                <a:spcPts val="0"/>
              </a:spcAft>
            </a:pPr>
            <a:r>
              <a:rPr sz="2500" b="1">
                <a:solidFill>
                  <a:srgbClr val="0B0B0B"/>
                </a:solidFill>
                <a:latin typeface="Consolas"/>
              </a:rPr>
              <a:t>20.000 × 4</a:t>
            </a:r>
          </a:p>
        </p:txBody>
      </p:sp>
      <p:sp>
        <p:nvSpPr>
          <p:cNvPr id="17" name="TextBox 16"/>
          <p:cNvSpPr txBox="1"/>
          <p:nvPr/>
        </p:nvSpPr>
        <p:spPr>
          <a:xfrm>
            <a:off x="4563770" y="3054096"/>
            <a:ext cx="3100730" cy="457200"/>
          </a:xfrm>
          <a:prstGeom prst="rect">
            <a:avLst/>
          </a:prstGeom>
          <a:noFill/>
        </p:spPr>
        <p:txBody>
          <a:bodyPr wrap="square" lIns="0" tIns="0" rIns="0" bIns="0" anchor="t">
            <a:spAutoFit/>
          </a:bodyPr>
          <a:lstStyle/>
          <a:p>
            <a:pPr algn="l">
              <a:lnSpc>
                <a:spcPct val="112000"/>
              </a:lnSpc>
              <a:spcBef>
                <a:spcPts val="0"/>
              </a:spcBef>
              <a:spcAft>
                <a:spcPts val="0"/>
              </a:spcAft>
            </a:pPr>
            <a:r>
              <a:rPr sz="1100" b="0">
                <a:solidFill>
                  <a:srgbClr val="52514E"/>
                </a:solidFill>
                <a:latin typeface="Segoe UI"/>
              </a:rPr>
              <a:t>ma trận sau chuẩn hoá</a:t>
            </a:r>
          </a:p>
          <a:p>
            <a:pPr algn="l">
              <a:spcBef>
                <a:spcPts val="200"/>
              </a:spcBef>
              <a:spcAft>
                <a:spcPts val="0"/>
              </a:spcAft>
            </a:pPr>
            <a:r>
              <a:rPr sz="950" b="0">
                <a:solidFill>
                  <a:srgbClr val="898781"/>
                </a:solidFill>
                <a:latin typeface="Consolas"/>
              </a:rPr>
              <a:t>StandardScaler</a:t>
            </a:r>
          </a:p>
        </p:txBody>
      </p:sp>
      <p:sp>
        <p:nvSpPr>
          <p:cNvPr id="18" name="Rectangle 17"/>
          <p:cNvSpPr/>
          <p:nvPr/>
        </p:nvSpPr>
        <p:spPr>
          <a:xfrm>
            <a:off x="8066836" y="2377440"/>
            <a:ext cx="3466490" cy="1188720"/>
          </a:xfrm>
          <a:prstGeom prst="rect">
            <a:avLst/>
          </a:prstGeom>
          <a:solidFill>
            <a:srgbClr val="F2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8066836" y="2377440"/>
            <a:ext cx="38100" cy="118872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268004" y="2523744"/>
            <a:ext cx="3100730" cy="457200"/>
          </a:xfrm>
          <a:prstGeom prst="rect">
            <a:avLst/>
          </a:prstGeom>
          <a:noFill/>
        </p:spPr>
        <p:txBody>
          <a:bodyPr wrap="square" lIns="0" tIns="0" rIns="0" bIns="0" anchor="t">
            <a:spAutoFit/>
          </a:bodyPr>
          <a:lstStyle/>
          <a:p>
            <a:pPr algn="l">
              <a:spcBef>
                <a:spcPts val="0"/>
              </a:spcBef>
              <a:spcAft>
                <a:spcPts val="0"/>
              </a:spcAft>
            </a:pPr>
            <a:r>
              <a:rPr sz="2500" b="1">
                <a:solidFill>
                  <a:srgbClr val="0B0B0B"/>
                </a:solidFill>
                <a:latin typeface="Consolas"/>
              </a:rPr>
              <a:t>0 / 1</a:t>
            </a:r>
          </a:p>
        </p:txBody>
      </p:sp>
      <p:sp>
        <p:nvSpPr>
          <p:cNvPr id="21" name="TextBox 20"/>
          <p:cNvSpPr txBox="1"/>
          <p:nvPr/>
        </p:nvSpPr>
        <p:spPr>
          <a:xfrm>
            <a:off x="8268004" y="3054096"/>
            <a:ext cx="3100730" cy="457200"/>
          </a:xfrm>
          <a:prstGeom prst="rect">
            <a:avLst/>
          </a:prstGeom>
          <a:noFill/>
        </p:spPr>
        <p:txBody>
          <a:bodyPr wrap="square" lIns="0" tIns="0" rIns="0" bIns="0" anchor="t">
            <a:spAutoFit/>
          </a:bodyPr>
          <a:lstStyle/>
          <a:p>
            <a:pPr algn="l">
              <a:lnSpc>
                <a:spcPct val="112000"/>
              </a:lnSpc>
              <a:spcBef>
                <a:spcPts val="0"/>
              </a:spcBef>
              <a:spcAft>
                <a:spcPts val="0"/>
              </a:spcAft>
            </a:pPr>
            <a:r>
              <a:rPr sz="1100" b="0">
                <a:solidFill>
                  <a:srgbClr val="52514E"/>
                </a:solidFill>
                <a:latin typeface="Segoe UI"/>
              </a:rPr>
              <a:t>mean / std sau chuẩn hoá</a:t>
            </a:r>
          </a:p>
          <a:p>
            <a:pPr algn="l">
              <a:spcBef>
                <a:spcPts val="200"/>
              </a:spcBef>
              <a:spcAft>
                <a:spcPts val="0"/>
              </a:spcAft>
            </a:pPr>
            <a:r>
              <a:rPr sz="950" b="0">
                <a:solidFill>
                  <a:srgbClr val="898781"/>
                </a:solidFill>
                <a:latin typeface="Consolas"/>
              </a:rPr>
              <a:t>kiểm bằng assert</a:t>
            </a:r>
          </a:p>
        </p:txBody>
      </p:sp>
      <p:sp>
        <p:nvSpPr>
          <p:cNvPr id="22" name="TextBox 21"/>
          <p:cNvSpPr txBox="1"/>
          <p:nvPr/>
        </p:nvSpPr>
        <p:spPr>
          <a:xfrm>
            <a:off x="658368" y="3840480"/>
            <a:ext cx="5208880" cy="1388137"/>
          </a:xfrm>
          <a:prstGeom prst="rect">
            <a:avLst/>
          </a:prstGeom>
          <a:noFill/>
        </p:spPr>
        <p:txBody>
          <a:bodyPr wrap="square" lIns="0" tIns="0" rIns="0" bIns="0" anchor="t">
            <a:spAutoFit/>
          </a:bodyPr>
          <a:lstStyle/>
          <a:p>
            <a:pPr algn="l">
              <a:spcBef>
                <a:spcPts val="0"/>
              </a:spcBef>
              <a:spcAft>
                <a:spcPts val="0"/>
              </a:spcAft>
            </a:pPr>
            <a:r>
              <a:rPr sz="1100" b="1" dirty="0">
                <a:solidFill>
                  <a:srgbClr val="2A78D6"/>
                </a:solidFill>
                <a:latin typeface="Consolas"/>
              </a:rPr>
              <a:t>4 TRỤC VÀO KMEANS</a:t>
            </a:r>
          </a:p>
          <a:p>
            <a:pPr>
              <a:lnSpc>
                <a:spcPct val="124000"/>
              </a:lnSpc>
              <a:spcBef>
                <a:spcPts val="700"/>
              </a:spcBef>
              <a:spcAft>
                <a:spcPts val="0"/>
              </a:spcAft>
            </a:pPr>
            <a:r>
              <a:rPr sz="1150" b="1" dirty="0" err="1">
                <a:solidFill>
                  <a:srgbClr val="0B0B0B"/>
                </a:solidFill>
                <a:latin typeface="Consolas"/>
              </a:rPr>
              <a:t>pct_tip_rate</a:t>
            </a:r>
            <a:endParaRPr sz="1150" dirty="0">
              <a:solidFill>
                <a:srgbClr val="52514E"/>
              </a:solidFill>
              <a:latin typeface="Segoe UI"/>
            </a:endParaRPr>
          </a:p>
          <a:p>
            <a:pPr>
              <a:lnSpc>
                <a:spcPct val="124000"/>
              </a:lnSpc>
              <a:spcBef>
                <a:spcPts val="700"/>
              </a:spcBef>
              <a:spcAft>
                <a:spcPts val="0"/>
              </a:spcAft>
            </a:pPr>
            <a:r>
              <a:rPr sz="1150" b="1" dirty="0" err="1">
                <a:solidFill>
                  <a:srgbClr val="0B0B0B"/>
                </a:solidFill>
                <a:latin typeface="Consolas"/>
              </a:rPr>
              <a:t>pct_flex_payment</a:t>
            </a:r>
            <a:r>
              <a:rPr sz="1150" b="1" dirty="0">
                <a:solidFill>
                  <a:srgbClr val="0B0B0B"/>
                </a:solidFill>
                <a:latin typeface="Consolas"/>
              </a:rPr>
              <a:t>   </a:t>
            </a:r>
            <a:endParaRPr lang="en-US" sz="1150" b="1" dirty="0">
              <a:solidFill>
                <a:srgbClr val="0B0B0B"/>
              </a:solidFill>
              <a:latin typeface="Consolas"/>
            </a:endParaRPr>
          </a:p>
          <a:p>
            <a:pPr>
              <a:lnSpc>
                <a:spcPct val="124000"/>
              </a:lnSpc>
              <a:spcBef>
                <a:spcPts val="700"/>
              </a:spcBef>
              <a:spcAft>
                <a:spcPts val="0"/>
              </a:spcAft>
            </a:pPr>
            <a:r>
              <a:rPr sz="1150" b="1" dirty="0" err="1">
                <a:solidFill>
                  <a:srgbClr val="0B0B0B"/>
                </a:solidFill>
                <a:latin typeface="Consolas"/>
              </a:rPr>
              <a:t>pct_airport</a:t>
            </a:r>
            <a:r>
              <a:rPr sz="1150" b="1" dirty="0">
                <a:solidFill>
                  <a:srgbClr val="0B0B0B"/>
                </a:solidFill>
                <a:latin typeface="Consolas"/>
              </a:rPr>
              <a:t>   </a:t>
            </a:r>
            <a:endParaRPr lang="en-US" sz="1150" b="1" dirty="0">
              <a:solidFill>
                <a:srgbClr val="0B0B0B"/>
              </a:solidFill>
              <a:latin typeface="Consolas"/>
            </a:endParaRPr>
          </a:p>
          <a:p>
            <a:pPr>
              <a:lnSpc>
                <a:spcPct val="124000"/>
              </a:lnSpc>
              <a:spcBef>
                <a:spcPts val="700"/>
              </a:spcBef>
              <a:spcAft>
                <a:spcPts val="0"/>
              </a:spcAft>
            </a:pPr>
            <a:r>
              <a:rPr sz="1150" b="1" dirty="0" err="1">
                <a:solidFill>
                  <a:srgbClr val="0B0B0B"/>
                </a:solidFill>
                <a:latin typeface="Consolas"/>
              </a:rPr>
              <a:t>weekend_ratio</a:t>
            </a:r>
            <a:endParaRPr sz="1150" dirty="0">
              <a:solidFill>
                <a:srgbClr val="52514E"/>
              </a:solidFill>
              <a:latin typeface="Segoe UI"/>
            </a:endParaRPr>
          </a:p>
        </p:txBody>
      </p:sp>
      <p:sp>
        <p:nvSpPr>
          <p:cNvPr id="23" name="TextBox 22"/>
          <p:cNvSpPr txBox="1"/>
          <p:nvPr/>
        </p:nvSpPr>
        <p:spPr>
          <a:xfrm>
            <a:off x="6324448" y="3840480"/>
            <a:ext cx="5208880" cy="1388137"/>
          </a:xfrm>
          <a:prstGeom prst="rect">
            <a:avLst/>
          </a:prstGeom>
          <a:noFill/>
        </p:spPr>
        <p:txBody>
          <a:bodyPr wrap="square" lIns="0" tIns="0" rIns="0" bIns="0" anchor="t">
            <a:spAutoFit/>
          </a:bodyPr>
          <a:lstStyle/>
          <a:p>
            <a:pPr algn="l">
              <a:spcBef>
                <a:spcPts val="0"/>
              </a:spcBef>
              <a:spcAft>
                <a:spcPts val="0"/>
              </a:spcAft>
            </a:pPr>
            <a:r>
              <a:rPr sz="1100" b="1" dirty="0">
                <a:solidFill>
                  <a:srgbClr val="EB6834"/>
                </a:solidFill>
                <a:latin typeface="Consolas"/>
              </a:rPr>
              <a:t>4 TRỤC MÔ TẢ — </a:t>
            </a:r>
            <a:r>
              <a:rPr sz="1100" b="1" dirty="0" err="1">
                <a:solidFill>
                  <a:srgbClr val="EB6834"/>
                </a:solidFill>
                <a:latin typeface="Consolas"/>
              </a:rPr>
              <a:t>không</a:t>
            </a:r>
            <a:r>
              <a:rPr sz="1100" b="1" dirty="0">
                <a:solidFill>
                  <a:srgbClr val="EB6834"/>
                </a:solidFill>
                <a:latin typeface="Consolas"/>
              </a:rPr>
              <a:t> </a:t>
            </a:r>
            <a:r>
              <a:rPr sz="1100" b="1" dirty="0" err="1">
                <a:solidFill>
                  <a:srgbClr val="EB6834"/>
                </a:solidFill>
                <a:latin typeface="Consolas"/>
              </a:rPr>
              <a:t>vào</a:t>
            </a:r>
            <a:r>
              <a:rPr sz="1100" b="1" dirty="0">
                <a:solidFill>
                  <a:srgbClr val="EB6834"/>
                </a:solidFill>
                <a:latin typeface="Consolas"/>
              </a:rPr>
              <a:t> </a:t>
            </a:r>
            <a:r>
              <a:rPr sz="1100" b="1" dirty="0" err="1">
                <a:solidFill>
                  <a:srgbClr val="EB6834"/>
                </a:solidFill>
                <a:latin typeface="Consolas"/>
              </a:rPr>
              <a:t>KMeans</a:t>
            </a:r>
            <a:endParaRPr sz="1100" b="1" dirty="0">
              <a:solidFill>
                <a:srgbClr val="EB6834"/>
              </a:solidFill>
              <a:latin typeface="Consolas"/>
            </a:endParaRPr>
          </a:p>
          <a:p>
            <a:pPr>
              <a:lnSpc>
                <a:spcPct val="124000"/>
              </a:lnSpc>
              <a:spcBef>
                <a:spcPts val="700"/>
              </a:spcBef>
              <a:spcAft>
                <a:spcPts val="0"/>
              </a:spcAft>
            </a:pPr>
            <a:r>
              <a:rPr sz="1150" b="1" dirty="0" err="1">
                <a:solidFill>
                  <a:srgbClr val="0B0B0B"/>
                </a:solidFill>
                <a:latin typeface="Consolas"/>
              </a:rPr>
              <a:t>typical_distance</a:t>
            </a:r>
            <a:r>
              <a:rPr sz="1150" b="1" dirty="0">
                <a:solidFill>
                  <a:srgbClr val="0B0B0B"/>
                </a:solidFill>
                <a:latin typeface="Consolas"/>
              </a:rPr>
              <a:t>   </a:t>
            </a:r>
            <a:endParaRPr lang="en-US" sz="1150" b="1" dirty="0">
              <a:solidFill>
                <a:srgbClr val="0B0B0B"/>
              </a:solidFill>
              <a:latin typeface="Consolas"/>
            </a:endParaRPr>
          </a:p>
          <a:p>
            <a:pPr>
              <a:lnSpc>
                <a:spcPct val="124000"/>
              </a:lnSpc>
              <a:spcBef>
                <a:spcPts val="700"/>
              </a:spcBef>
              <a:spcAft>
                <a:spcPts val="0"/>
              </a:spcAft>
            </a:pPr>
            <a:r>
              <a:rPr sz="1150" b="1" dirty="0" err="1">
                <a:solidFill>
                  <a:srgbClr val="0B0B0B"/>
                </a:solidFill>
                <a:latin typeface="Consolas"/>
              </a:rPr>
              <a:t>avg_fare</a:t>
            </a:r>
            <a:endParaRPr sz="1150" dirty="0">
              <a:solidFill>
                <a:srgbClr val="52514E"/>
              </a:solidFill>
              <a:latin typeface="Segoe UI"/>
            </a:endParaRPr>
          </a:p>
          <a:p>
            <a:pPr>
              <a:lnSpc>
                <a:spcPct val="124000"/>
              </a:lnSpc>
              <a:spcBef>
                <a:spcPts val="700"/>
              </a:spcBef>
              <a:spcAft>
                <a:spcPts val="0"/>
              </a:spcAft>
            </a:pPr>
            <a:r>
              <a:rPr sz="1150" b="1" dirty="0" err="1">
                <a:solidFill>
                  <a:srgbClr val="0B0B0B"/>
                </a:solidFill>
                <a:latin typeface="Consolas"/>
              </a:rPr>
              <a:t>pref_time_bucket</a:t>
            </a:r>
            <a:r>
              <a:rPr sz="1150" b="1" dirty="0">
                <a:solidFill>
                  <a:srgbClr val="0B0B0B"/>
                </a:solidFill>
                <a:latin typeface="Consolas"/>
              </a:rPr>
              <a:t>   </a:t>
            </a:r>
            <a:endParaRPr lang="en-US" sz="1150" b="1" dirty="0">
              <a:solidFill>
                <a:srgbClr val="0B0B0B"/>
              </a:solidFill>
              <a:latin typeface="Consolas"/>
            </a:endParaRPr>
          </a:p>
          <a:p>
            <a:pPr>
              <a:lnSpc>
                <a:spcPct val="124000"/>
              </a:lnSpc>
              <a:spcBef>
                <a:spcPts val="700"/>
              </a:spcBef>
              <a:spcAft>
                <a:spcPts val="0"/>
              </a:spcAft>
            </a:pPr>
            <a:r>
              <a:rPr sz="1150" b="1" dirty="0" err="1">
                <a:solidFill>
                  <a:srgbClr val="0B0B0B"/>
                </a:solidFill>
                <a:latin typeface="Consolas"/>
              </a:rPr>
              <a:t>home_borough</a:t>
            </a:r>
            <a:endParaRPr sz="1150" dirty="0">
              <a:solidFill>
                <a:srgbClr val="52514E"/>
              </a:solidFill>
              <a:latin typeface="Segoe U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58368" y="402336"/>
            <a:ext cx="603504" cy="4445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585216"/>
            <a:ext cx="10874959" cy="256032"/>
          </a:xfrm>
          <a:prstGeom prst="rect">
            <a:avLst/>
          </a:prstGeom>
          <a:noFill/>
        </p:spPr>
        <p:txBody>
          <a:bodyPr wrap="square" lIns="0" tIns="0" rIns="0" bIns="0" anchor="t">
            <a:spAutoFit/>
          </a:bodyPr>
          <a:lstStyle/>
          <a:p>
            <a:pPr algn="l">
              <a:spcBef>
                <a:spcPts val="0"/>
              </a:spcBef>
              <a:spcAft>
                <a:spcPts val="0"/>
              </a:spcAft>
            </a:pPr>
            <a:r>
              <a:rPr sz="1050" b="0">
                <a:solidFill>
                  <a:srgbClr val="898781"/>
                </a:solidFill>
                <a:latin typeface="Consolas"/>
              </a:rPr>
              <a:t>03  ·  CHỌN SỐ CỤM  ·  Mục 3</a:t>
            </a:r>
          </a:p>
        </p:txBody>
      </p:sp>
      <p:sp>
        <p:nvSpPr>
          <p:cNvPr id="5" name="TextBox 4"/>
          <p:cNvSpPr txBox="1"/>
          <p:nvPr/>
        </p:nvSpPr>
        <p:spPr>
          <a:xfrm>
            <a:off x="658368" y="896112"/>
            <a:ext cx="9787463" cy="621792"/>
          </a:xfrm>
          <a:prstGeom prst="rect">
            <a:avLst/>
          </a:prstGeom>
          <a:noFill/>
        </p:spPr>
        <p:txBody>
          <a:bodyPr wrap="square" lIns="0" tIns="0" rIns="0" bIns="0" anchor="t">
            <a:spAutoFit/>
          </a:bodyPr>
          <a:lstStyle/>
          <a:p>
            <a:pPr algn="l">
              <a:lnSpc>
                <a:spcPct val="104000"/>
              </a:lnSpc>
              <a:spcBef>
                <a:spcPts val="0"/>
              </a:spcBef>
              <a:spcAft>
                <a:spcPts val="0"/>
              </a:spcAft>
            </a:pPr>
            <a:r>
              <a:rPr sz="2800" b="1">
                <a:solidFill>
                  <a:srgbClr val="0B0B0B"/>
                </a:solidFill>
                <a:latin typeface="Segoe UI"/>
              </a:rPr>
              <a:t>K = 3 — ràng buộc trước, tối ưu sau</a:t>
            </a:r>
          </a:p>
        </p:txBody>
      </p:sp>
      <p:sp>
        <p:nvSpPr>
          <p:cNvPr id="6" name="TextBox 5"/>
          <p:cNvSpPr txBox="1"/>
          <p:nvPr/>
        </p:nvSpPr>
        <p:spPr>
          <a:xfrm>
            <a:off x="658368" y="1609344"/>
            <a:ext cx="8917466" cy="694944"/>
          </a:xfrm>
          <a:prstGeom prst="rect">
            <a:avLst/>
          </a:prstGeom>
          <a:noFill/>
        </p:spPr>
        <p:txBody>
          <a:bodyPr wrap="square" lIns="0" tIns="0" rIns="0" bIns="0" anchor="t">
            <a:spAutoFit/>
          </a:bodyPr>
          <a:lstStyle/>
          <a:p>
            <a:pPr algn="l">
              <a:lnSpc>
                <a:spcPct val="126000"/>
              </a:lnSpc>
              <a:spcBef>
                <a:spcPts val="0"/>
              </a:spcBef>
              <a:spcAft>
                <a:spcPts val="0"/>
              </a:spcAft>
            </a:pPr>
            <a:r>
              <a:rPr sz="1400" b="0">
                <a:solidFill>
                  <a:srgbClr val="52514E"/>
                </a:solidFill>
                <a:latin typeface="Segoe UI"/>
              </a:rPr>
              <a:t>Silhouette thô sẽ chọn K = 2, nhưng dữ liệu xáo trộn hoàn toàn cũng đạt 0,3190 — tức 93,7% con số đó là ngẫu nhiên. Phải so với baseline null mới thấy cấu trúc thật.</a:t>
            </a:r>
          </a:p>
        </p:txBody>
      </p:sp>
      <p:sp>
        <p:nvSpPr>
          <p:cNvPr id="7" name="Rectangle 6"/>
          <p:cNvSpPr/>
          <p:nvPr/>
        </p:nvSpPr>
        <p:spPr>
          <a:xfrm>
            <a:off x="658368" y="6345936"/>
            <a:ext cx="10874959" cy="9525"/>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6464808"/>
            <a:ext cx="8156219" cy="219456"/>
          </a:xfrm>
          <a:prstGeom prst="rect">
            <a:avLst/>
          </a:prstGeom>
          <a:noFill/>
        </p:spPr>
        <p:txBody>
          <a:bodyPr wrap="square" lIns="0" tIns="0" rIns="0" bIns="0" anchor="t">
            <a:spAutoFit/>
          </a:bodyPr>
          <a:lstStyle/>
          <a:p>
            <a:pPr algn="l">
              <a:spcBef>
                <a:spcPts val="0"/>
              </a:spcBef>
              <a:spcAft>
                <a:spcPts val="0"/>
              </a:spcAft>
            </a:pPr>
            <a:r>
              <a:rPr sz="950" b="0">
                <a:solidFill>
                  <a:srgbClr val="898781"/>
                </a:solidFill>
                <a:latin typeface="Consolas"/>
              </a:rPr>
              <a:t>Customer Segmentation  ·  Ride-Hailing Promotions</a:t>
            </a:r>
          </a:p>
        </p:txBody>
      </p:sp>
      <p:sp>
        <p:nvSpPr>
          <p:cNvPr id="9" name="TextBox 8"/>
          <p:cNvSpPr txBox="1"/>
          <p:nvPr/>
        </p:nvSpPr>
        <p:spPr>
          <a:xfrm>
            <a:off x="10344607" y="6464808"/>
            <a:ext cx="1188720" cy="219456"/>
          </a:xfrm>
          <a:prstGeom prst="rect">
            <a:avLst/>
          </a:prstGeom>
          <a:noFill/>
        </p:spPr>
        <p:txBody>
          <a:bodyPr wrap="square" lIns="0" tIns="0" rIns="0" bIns="0" anchor="t">
            <a:spAutoFit/>
          </a:bodyPr>
          <a:lstStyle/>
          <a:p>
            <a:pPr algn="r">
              <a:spcBef>
                <a:spcPts val="0"/>
              </a:spcBef>
              <a:spcAft>
                <a:spcPts val="0"/>
              </a:spcAft>
            </a:pPr>
            <a:r>
              <a:rPr sz="950" b="0">
                <a:solidFill>
                  <a:srgbClr val="898781"/>
                </a:solidFill>
                <a:latin typeface="Consolas"/>
              </a:rPr>
              <a:t>3 / 6</a:t>
            </a:r>
          </a:p>
        </p:txBody>
      </p:sp>
      <p:graphicFrame>
        <p:nvGraphicFramePr>
          <p:cNvPr id="10" name="Chart 9"/>
          <p:cNvGraphicFramePr>
            <a:graphicFrameLocks noGrp="1"/>
          </p:cNvGraphicFramePr>
          <p:nvPr/>
        </p:nvGraphicFramePr>
        <p:xfrm>
          <a:off x="658368" y="2377440"/>
          <a:ext cx="5981227" cy="2432304"/>
        </p:xfrm>
        <a:graphic>
          <a:graphicData uri="http://schemas.openxmlformats.org/drawingml/2006/chart">
            <c:chart xmlns:c="http://schemas.openxmlformats.org/drawingml/2006/chart" xmlns:r="http://schemas.openxmlformats.org/officeDocument/2006/relationships" r:id="rId2"/>
          </a:graphicData>
        </a:graphic>
      </p:graphicFrame>
      <p:sp>
        <p:nvSpPr>
          <p:cNvPr id="11" name="TextBox 10"/>
          <p:cNvSpPr txBox="1"/>
          <p:nvPr/>
        </p:nvSpPr>
        <p:spPr>
          <a:xfrm>
            <a:off x="658368" y="4901184"/>
            <a:ext cx="5981227" cy="256032"/>
          </a:xfrm>
          <a:prstGeom prst="rect">
            <a:avLst/>
          </a:prstGeom>
          <a:noFill/>
        </p:spPr>
        <p:txBody>
          <a:bodyPr wrap="square" lIns="0" tIns="0" rIns="0" bIns="0" anchor="t">
            <a:spAutoFit/>
          </a:bodyPr>
          <a:lstStyle/>
          <a:p>
            <a:pPr algn="l">
              <a:spcBef>
                <a:spcPts val="0"/>
              </a:spcBef>
              <a:spcAft>
                <a:spcPts val="0"/>
              </a:spcAft>
            </a:pPr>
            <a:r>
              <a:rPr sz="1050" b="0">
                <a:solidFill>
                  <a:srgbClr val="898781"/>
                </a:solidFill>
                <a:latin typeface="Consolas"/>
              </a:rPr>
              <a:t>Silhouette theo K  ·  thật vs null</a:t>
            </a:r>
          </a:p>
        </p:txBody>
      </p:sp>
      <p:sp>
        <p:nvSpPr>
          <p:cNvPr id="12" name="TextBox 11"/>
          <p:cNvSpPr txBox="1"/>
          <p:nvPr/>
        </p:nvSpPr>
        <p:spPr>
          <a:xfrm>
            <a:off x="7060219" y="2322576"/>
            <a:ext cx="4473108" cy="2217017"/>
          </a:xfrm>
          <a:prstGeom prst="rect">
            <a:avLst/>
          </a:prstGeom>
          <a:noFill/>
        </p:spPr>
        <p:txBody>
          <a:bodyPr wrap="square" lIns="0" tIns="0" rIns="0" bIns="0" anchor="t">
            <a:spAutoFit/>
          </a:bodyPr>
          <a:lstStyle/>
          <a:p>
            <a:pPr algn="l">
              <a:spcBef>
                <a:spcPts val="0"/>
              </a:spcBef>
              <a:spcAft>
                <a:spcPts val="0"/>
              </a:spcAft>
            </a:pPr>
            <a:r>
              <a:rPr sz="1100" b="1" dirty="0">
                <a:solidFill>
                  <a:srgbClr val="EB6834"/>
                </a:solidFill>
                <a:latin typeface="Consolas"/>
              </a:rPr>
              <a:t>BƯỚC 1 — LOẠI THEO RÀNG BUỘC</a:t>
            </a:r>
          </a:p>
          <a:p>
            <a:pPr>
              <a:lnSpc>
                <a:spcPct val="126000"/>
              </a:lnSpc>
              <a:spcBef>
                <a:spcPts val="900"/>
              </a:spcBef>
              <a:spcAft>
                <a:spcPts val="0"/>
              </a:spcAft>
            </a:pPr>
            <a:r>
              <a:rPr sz="1200" b="1" dirty="0">
                <a:solidFill>
                  <a:srgbClr val="0B0B0B"/>
                </a:solidFill>
                <a:latin typeface="Segoe UI"/>
              </a:rPr>
              <a:t>K = 5 </a:t>
            </a:r>
            <a:r>
              <a:rPr sz="1200" b="1" dirty="0" err="1">
                <a:solidFill>
                  <a:srgbClr val="0B0B0B"/>
                </a:solidFill>
                <a:latin typeface="Segoe UI"/>
              </a:rPr>
              <a:t>và</a:t>
            </a:r>
            <a:r>
              <a:rPr sz="1200" b="1" dirty="0">
                <a:solidFill>
                  <a:srgbClr val="0B0B0B"/>
                </a:solidFill>
                <a:latin typeface="Segoe UI"/>
              </a:rPr>
              <a:t> K = 6 </a:t>
            </a:r>
            <a:r>
              <a:rPr sz="1200" b="1" dirty="0" err="1">
                <a:solidFill>
                  <a:srgbClr val="0B0B0B"/>
                </a:solidFill>
                <a:latin typeface="Segoe UI"/>
              </a:rPr>
              <a:t>bị</a:t>
            </a:r>
            <a:r>
              <a:rPr sz="1200" b="1" dirty="0">
                <a:solidFill>
                  <a:srgbClr val="0B0B0B"/>
                </a:solidFill>
                <a:latin typeface="Segoe UI"/>
              </a:rPr>
              <a:t> </a:t>
            </a:r>
            <a:r>
              <a:rPr sz="1200" b="1" dirty="0" err="1">
                <a:solidFill>
                  <a:srgbClr val="0B0B0B"/>
                </a:solidFill>
                <a:latin typeface="Segoe UI"/>
              </a:rPr>
              <a:t>loại</a:t>
            </a:r>
            <a:r>
              <a:rPr sz="1200" b="1" dirty="0">
                <a:solidFill>
                  <a:srgbClr val="0B0B0B"/>
                </a:solidFill>
                <a:latin typeface="Segoe UI"/>
              </a:rPr>
              <a:t>:   </a:t>
            </a:r>
            <a:r>
              <a:rPr sz="1200" dirty="0" err="1">
                <a:solidFill>
                  <a:srgbClr val="52514E"/>
                </a:solidFill>
                <a:latin typeface="Segoe UI"/>
              </a:rPr>
              <a:t>cụm</a:t>
            </a:r>
            <a:r>
              <a:rPr sz="1200" dirty="0">
                <a:solidFill>
                  <a:srgbClr val="52514E"/>
                </a:solidFill>
                <a:latin typeface="Segoe UI"/>
              </a:rPr>
              <a:t> </a:t>
            </a:r>
            <a:r>
              <a:rPr sz="1200" dirty="0" err="1">
                <a:solidFill>
                  <a:srgbClr val="52514E"/>
                </a:solidFill>
                <a:latin typeface="Segoe UI"/>
              </a:rPr>
              <a:t>nhỏ</a:t>
            </a:r>
            <a:r>
              <a:rPr sz="1200" dirty="0">
                <a:solidFill>
                  <a:srgbClr val="52514E"/>
                </a:solidFill>
                <a:latin typeface="Segoe UI"/>
              </a:rPr>
              <a:t> </a:t>
            </a:r>
            <a:r>
              <a:rPr sz="1200" dirty="0" err="1">
                <a:solidFill>
                  <a:srgbClr val="52514E"/>
                </a:solidFill>
                <a:latin typeface="Segoe UI"/>
              </a:rPr>
              <a:t>nhất</a:t>
            </a:r>
            <a:r>
              <a:rPr sz="1200" dirty="0">
                <a:solidFill>
                  <a:srgbClr val="52514E"/>
                </a:solidFill>
                <a:latin typeface="Segoe UI"/>
              </a:rPr>
              <a:t> </a:t>
            </a:r>
            <a:r>
              <a:rPr sz="1200" dirty="0" err="1">
                <a:solidFill>
                  <a:srgbClr val="52514E"/>
                </a:solidFill>
                <a:latin typeface="Segoe UI"/>
              </a:rPr>
              <a:t>chỉ</a:t>
            </a:r>
            <a:r>
              <a:rPr sz="1200" dirty="0">
                <a:solidFill>
                  <a:srgbClr val="52514E"/>
                </a:solidFill>
                <a:latin typeface="Segoe UI"/>
              </a:rPr>
              <a:t> 1,53% </a:t>
            </a:r>
            <a:r>
              <a:rPr sz="1200" dirty="0" err="1">
                <a:solidFill>
                  <a:srgbClr val="52514E"/>
                </a:solidFill>
                <a:latin typeface="Segoe UI"/>
              </a:rPr>
              <a:t>và</a:t>
            </a:r>
            <a:r>
              <a:rPr sz="1200" dirty="0">
                <a:solidFill>
                  <a:srgbClr val="52514E"/>
                </a:solidFill>
                <a:latin typeface="Segoe UI"/>
              </a:rPr>
              <a:t> 1,51% — </a:t>
            </a:r>
            <a:r>
              <a:rPr sz="1200" dirty="0" err="1">
                <a:solidFill>
                  <a:srgbClr val="52514E"/>
                </a:solidFill>
                <a:latin typeface="Segoe UI"/>
              </a:rPr>
              <a:t>khoảng</a:t>
            </a:r>
            <a:r>
              <a:rPr sz="1200" dirty="0">
                <a:solidFill>
                  <a:srgbClr val="52514E"/>
                </a:solidFill>
                <a:latin typeface="Segoe UI"/>
              </a:rPr>
              <a:t> 300 rider, </a:t>
            </a:r>
            <a:r>
              <a:rPr sz="1200" dirty="0" err="1">
                <a:solidFill>
                  <a:srgbClr val="52514E"/>
                </a:solidFill>
                <a:latin typeface="Segoe UI"/>
              </a:rPr>
              <a:t>không</a:t>
            </a:r>
            <a:r>
              <a:rPr sz="1200" dirty="0">
                <a:solidFill>
                  <a:srgbClr val="52514E"/>
                </a:solidFill>
                <a:latin typeface="Segoe UI"/>
              </a:rPr>
              <a:t> </a:t>
            </a:r>
            <a:r>
              <a:rPr sz="1200" dirty="0" err="1">
                <a:solidFill>
                  <a:srgbClr val="52514E"/>
                </a:solidFill>
                <a:latin typeface="Segoe UI"/>
              </a:rPr>
              <a:t>chạy</a:t>
            </a:r>
            <a:r>
              <a:rPr sz="1200" dirty="0">
                <a:solidFill>
                  <a:srgbClr val="52514E"/>
                </a:solidFill>
                <a:latin typeface="Segoe UI"/>
              </a:rPr>
              <a:t> </a:t>
            </a:r>
            <a:r>
              <a:rPr sz="1200" dirty="0" err="1">
                <a:solidFill>
                  <a:srgbClr val="52514E"/>
                </a:solidFill>
                <a:latin typeface="Segoe UI"/>
              </a:rPr>
              <a:t>chiến</a:t>
            </a:r>
            <a:r>
              <a:rPr sz="1200" dirty="0">
                <a:solidFill>
                  <a:srgbClr val="52514E"/>
                </a:solidFill>
                <a:latin typeface="Segoe UI"/>
              </a:rPr>
              <a:t> </a:t>
            </a:r>
            <a:r>
              <a:rPr sz="1200" dirty="0" err="1">
                <a:solidFill>
                  <a:srgbClr val="52514E"/>
                </a:solidFill>
                <a:latin typeface="Segoe UI"/>
              </a:rPr>
              <a:t>dịch</a:t>
            </a:r>
            <a:r>
              <a:rPr sz="1200" dirty="0">
                <a:solidFill>
                  <a:srgbClr val="52514E"/>
                </a:solidFill>
                <a:latin typeface="Segoe UI"/>
              </a:rPr>
              <a:t> </a:t>
            </a:r>
            <a:r>
              <a:rPr sz="1200" dirty="0" err="1">
                <a:solidFill>
                  <a:srgbClr val="52514E"/>
                </a:solidFill>
                <a:latin typeface="Segoe UI"/>
              </a:rPr>
              <a:t>riêng</a:t>
            </a:r>
            <a:r>
              <a:rPr sz="1200" dirty="0">
                <a:solidFill>
                  <a:srgbClr val="52514E"/>
                </a:solidFill>
                <a:latin typeface="Segoe UI"/>
              </a:rPr>
              <a:t> </a:t>
            </a:r>
            <a:r>
              <a:rPr sz="1200" dirty="0" err="1">
                <a:solidFill>
                  <a:srgbClr val="52514E"/>
                </a:solidFill>
                <a:latin typeface="Segoe UI"/>
              </a:rPr>
              <a:t>được</a:t>
            </a:r>
            <a:r>
              <a:rPr sz="1200" dirty="0">
                <a:solidFill>
                  <a:srgbClr val="52514E"/>
                </a:solidFill>
                <a:latin typeface="Segoe UI"/>
              </a:rPr>
              <a:t>. </a:t>
            </a:r>
            <a:endParaRPr lang="en-US" sz="1200" dirty="0">
              <a:solidFill>
                <a:srgbClr val="52514E"/>
              </a:solidFill>
              <a:latin typeface="Segoe UI"/>
            </a:endParaRPr>
          </a:p>
          <a:p>
            <a:pPr>
              <a:lnSpc>
                <a:spcPct val="126000"/>
              </a:lnSpc>
              <a:spcBef>
                <a:spcPts val="900"/>
              </a:spcBef>
              <a:spcAft>
                <a:spcPts val="0"/>
              </a:spcAft>
            </a:pPr>
            <a:r>
              <a:rPr sz="1100" b="1" dirty="0">
                <a:solidFill>
                  <a:srgbClr val="2A78D6"/>
                </a:solidFill>
                <a:latin typeface="Consolas"/>
              </a:rPr>
              <a:t>BƯỚC 2 — LẤY </a:t>
            </a:r>
            <a:r>
              <a:rPr sz="1100" b="1" dirty="0" err="1">
                <a:solidFill>
                  <a:srgbClr val="2A78D6"/>
                </a:solidFill>
                <a:latin typeface="Consolas"/>
              </a:rPr>
              <a:t>sil_gap</a:t>
            </a:r>
            <a:r>
              <a:rPr sz="1100" b="1" dirty="0">
                <a:solidFill>
                  <a:srgbClr val="2A78D6"/>
                </a:solidFill>
                <a:latin typeface="Consolas"/>
              </a:rPr>
              <a:t> LỚN NHẤT</a:t>
            </a:r>
          </a:p>
          <a:p>
            <a:pPr>
              <a:lnSpc>
                <a:spcPct val="126000"/>
              </a:lnSpc>
              <a:spcBef>
                <a:spcPts val="900"/>
              </a:spcBef>
              <a:spcAft>
                <a:spcPts val="0"/>
              </a:spcAft>
            </a:pPr>
            <a:r>
              <a:rPr sz="1200" b="1" dirty="0">
                <a:solidFill>
                  <a:srgbClr val="0B0B0B"/>
                </a:solidFill>
                <a:latin typeface="Segoe UI"/>
              </a:rPr>
              <a:t>K = 3:   </a:t>
            </a:r>
            <a:r>
              <a:rPr sz="1200" dirty="0">
                <a:solidFill>
                  <a:srgbClr val="52514E"/>
                </a:solidFill>
                <a:latin typeface="Segoe UI"/>
              </a:rPr>
              <a:t>gap 0,0479 ± 0,0025, </a:t>
            </a:r>
            <a:r>
              <a:rPr sz="1200" dirty="0" err="1">
                <a:solidFill>
                  <a:srgbClr val="52514E"/>
                </a:solidFill>
                <a:latin typeface="Segoe UI"/>
              </a:rPr>
              <a:t>lớn</a:t>
            </a:r>
            <a:r>
              <a:rPr sz="1200" dirty="0">
                <a:solidFill>
                  <a:srgbClr val="52514E"/>
                </a:solidFill>
                <a:latin typeface="Segoe UI"/>
              </a:rPr>
              <a:t> </a:t>
            </a:r>
            <a:r>
              <a:rPr sz="1200" dirty="0" err="1">
                <a:solidFill>
                  <a:srgbClr val="52514E"/>
                </a:solidFill>
                <a:latin typeface="Segoe UI"/>
              </a:rPr>
              <a:t>nhất</a:t>
            </a:r>
            <a:r>
              <a:rPr sz="1200" dirty="0">
                <a:solidFill>
                  <a:srgbClr val="52514E"/>
                </a:solidFill>
                <a:latin typeface="Segoe UI"/>
              </a:rPr>
              <a:t> </a:t>
            </a:r>
            <a:r>
              <a:rPr sz="1200" dirty="0" err="1">
                <a:solidFill>
                  <a:srgbClr val="52514E"/>
                </a:solidFill>
                <a:latin typeface="Segoe UI"/>
              </a:rPr>
              <a:t>trong</a:t>
            </a:r>
            <a:r>
              <a:rPr sz="1200" dirty="0">
                <a:solidFill>
                  <a:srgbClr val="52514E"/>
                </a:solidFill>
                <a:latin typeface="Segoe UI"/>
              </a:rPr>
              <a:t> K = 2 · 3 · 4. </a:t>
            </a:r>
            <a:r>
              <a:rPr sz="1200" dirty="0" err="1">
                <a:solidFill>
                  <a:srgbClr val="52514E"/>
                </a:solidFill>
                <a:latin typeface="Segoe UI"/>
              </a:rPr>
              <a:t>Cách</a:t>
            </a:r>
            <a:r>
              <a:rPr sz="1200" dirty="0">
                <a:solidFill>
                  <a:srgbClr val="52514E"/>
                </a:solidFill>
                <a:latin typeface="Segoe UI"/>
              </a:rPr>
              <a:t> K = 2 (0,0216) </a:t>
            </a:r>
            <a:endParaRPr lang="en-US" sz="1200" dirty="0">
              <a:solidFill>
                <a:srgbClr val="52514E"/>
              </a:solidFill>
              <a:latin typeface="Segoe UI"/>
            </a:endParaRPr>
          </a:p>
          <a:p>
            <a:pPr>
              <a:lnSpc>
                <a:spcPct val="126000"/>
              </a:lnSpc>
              <a:spcBef>
                <a:spcPts val="900"/>
              </a:spcBef>
              <a:spcAft>
                <a:spcPts val="0"/>
              </a:spcAft>
            </a:pPr>
            <a:r>
              <a:rPr sz="1200" b="1" dirty="0" err="1">
                <a:solidFill>
                  <a:srgbClr val="0B0B0B"/>
                </a:solidFill>
                <a:latin typeface="Segoe UI"/>
              </a:rPr>
              <a:t>Độ</a:t>
            </a:r>
            <a:r>
              <a:rPr sz="1200" b="1" dirty="0">
                <a:solidFill>
                  <a:srgbClr val="0B0B0B"/>
                </a:solidFill>
                <a:latin typeface="Segoe UI"/>
              </a:rPr>
              <a:t> </a:t>
            </a:r>
            <a:r>
              <a:rPr sz="1200" b="1" dirty="0" err="1">
                <a:solidFill>
                  <a:srgbClr val="0B0B0B"/>
                </a:solidFill>
                <a:latin typeface="Segoe UI"/>
              </a:rPr>
              <a:t>ổn</a:t>
            </a:r>
            <a:r>
              <a:rPr sz="1200" b="1" dirty="0">
                <a:solidFill>
                  <a:srgbClr val="0B0B0B"/>
                </a:solidFill>
                <a:latin typeface="Segoe UI"/>
              </a:rPr>
              <a:t> </a:t>
            </a:r>
            <a:r>
              <a:rPr sz="1200" b="1" dirty="0" err="1">
                <a:solidFill>
                  <a:srgbClr val="0B0B0B"/>
                </a:solidFill>
                <a:latin typeface="Segoe UI"/>
              </a:rPr>
              <a:t>định</a:t>
            </a:r>
            <a:r>
              <a:rPr sz="1200" b="1" dirty="0">
                <a:solidFill>
                  <a:srgbClr val="0B0B0B"/>
                </a:solidFill>
                <a:latin typeface="Segoe UI"/>
              </a:rPr>
              <a:t>:   </a:t>
            </a:r>
            <a:r>
              <a:rPr sz="1200" dirty="0">
                <a:solidFill>
                  <a:srgbClr val="52514E"/>
                </a:solidFill>
                <a:latin typeface="Segoe UI"/>
              </a:rPr>
              <a:t>ARI </a:t>
            </a:r>
            <a:r>
              <a:rPr sz="1200" dirty="0" err="1">
                <a:solidFill>
                  <a:srgbClr val="52514E"/>
                </a:solidFill>
                <a:latin typeface="Segoe UI"/>
              </a:rPr>
              <a:t>giữa</a:t>
            </a:r>
            <a:r>
              <a:rPr sz="1200" dirty="0">
                <a:solidFill>
                  <a:srgbClr val="52514E"/>
                </a:solidFill>
                <a:latin typeface="Segoe UI"/>
              </a:rPr>
              <a:t> </a:t>
            </a:r>
            <a:r>
              <a:rPr sz="1200" dirty="0" err="1">
                <a:solidFill>
                  <a:srgbClr val="52514E"/>
                </a:solidFill>
                <a:latin typeface="Segoe UI"/>
              </a:rPr>
              <a:t>hai</a:t>
            </a:r>
            <a:r>
              <a:rPr sz="1200" dirty="0">
                <a:solidFill>
                  <a:srgbClr val="52514E"/>
                </a:solidFill>
                <a:latin typeface="Segoe UI"/>
              </a:rPr>
              <a:t> seed = 0,975 — </a:t>
            </a:r>
            <a:r>
              <a:rPr sz="1200" dirty="0" err="1">
                <a:solidFill>
                  <a:srgbClr val="52514E"/>
                </a:solidFill>
                <a:latin typeface="Segoe UI"/>
              </a:rPr>
              <a:t>chạy</a:t>
            </a:r>
            <a:r>
              <a:rPr sz="1200" dirty="0">
                <a:solidFill>
                  <a:srgbClr val="52514E"/>
                </a:solidFill>
                <a:latin typeface="Segoe UI"/>
              </a:rPr>
              <a:t> </a:t>
            </a:r>
            <a:r>
              <a:rPr sz="1200" dirty="0" err="1">
                <a:solidFill>
                  <a:srgbClr val="52514E"/>
                </a:solidFill>
                <a:latin typeface="Segoe UI"/>
              </a:rPr>
              <a:t>lại</a:t>
            </a:r>
            <a:r>
              <a:rPr sz="1200" dirty="0">
                <a:solidFill>
                  <a:srgbClr val="52514E"/>
                </a:solidFill>
                <a:latin typeface="Segoe UI"/>
              </a:rPr>
              <a:t> ra </a:t>
            </a:r>
            <a:r>
              <a:rPr sz="1200" dirty="0" err="1">
                <a:solidFill>
                  <a:srgbClr val="52514E"/>
                </a:solidFill>
                <a:latin typeface="Segoe UI"/>
              </a:rPr>
              <a:t>gần</a:t>
            </a:r>
            <a:r>
              <a:rPr sz="1200" dirty="0">
                <a:solidFill>
                  <a:srgbClr val="52514E"/>
                </a:solidFill>
                <a:latin typeface="Segoe UI"/>
              </a:rPr>
              <a:t> </a:t>
            </a:r>
            <a:r>
              <a:rPr sz="1200" dirty="0" err="1">
                <a:solidFill>
                  <a:srgbClr val="52514E"/>
                </a:solidFill>
                <a:latin typeface="Segoe UI"/>
              </a:rPr>
              <a:t>như</a:t>
            </a:r>
            <a:r>
              <a:rPr sz="1200" dirty="0">
                <a:solidFill>
                  <a:srgbClr val="52514E"/>
                </a:solidFill>
                <a:latin typeface="Segoe UI"/>
              </a:rPr>
              <a:t> </a:t>
            </a:r>
            <a:r>
              <a:rPr sz="1200" dirty="0" err="1">
                <a:solidFill>
                  <a:srgbClr val="52514E"/>
                </a:solidFill>
                <a:latin typeface="Segoe UI"/>
              </a:rPr>
              <a:t>cùng</a:t>
            </a:r>
            <a:r>
              <a:rPr sz="1200" dirty="0">
                <a:solidFill>
                  <a:srgbClr val="52514E"/>
                </a:solidFill>
                <a:latin typeface="Segoe UI"/>
              </a:rPr>
              <a:t> </a:t>
            </a:r>
            <a:r>
              <a:rPr sz="1200" dirty="0" err="1">
                <a:solidFill>
                  <a:srgbClr val="52514E"/>
                </a:solidFill>
                <a:latin typeface="Segoe UI"/>
              </a:rPr>
              <a:t>lời</a:t>
            </a:r>
            <a:r>
              <a:rPr sz="1200" dirty="0">
                <a:solidFill>
                  <a:srgbClr val="52514E"/>
                </a:solidFill>
                <a:latin typeface="Segoe UI"/>
              </a:rPr>
              <a:t> </a:t>
            </a:r>
            <a:r>
              <a:rPr sz="1200" dirty="0" err="1">
                <a:solidFill>
                  <a:srgbClr val="52514E"/>
                </a:solidFill>
                <a:latin typeface="Segoe UI"/>
              </a:rPr>
              <a:t>giải</a:t>
            </a:r>
            <a:r>
              <a:rPr sz="1200" dirty="0">
                <a:solidFill>
                  <a:srgbClr val="52514E"/>
                </a:solidFill>
                <a:latin typeface="Segoe UI"/>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58368" y="402336"/>
            <a:ext cx="603504" cy="4445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585216"/>
            <a:ext cx="10874959" cy="256032"/>
          </a:xfrm>
          <a:prstGeom prst="rect">
            <a:avLst/>
          </a:prstGeom>
          <a:noFill/>
        </p:spPr>
        <p:txBody>
          <a:bodyPr wrap="square" lIns="0" tIns="0" rIns="0" bIns="0" anchor="t">
            <a:spAutoFit/>
          </a:bodyPr>
          <a:lstStyle/>
          <a:p>
            <a:pPr algn="l">
              <a:spcBef>
                <a:spcPts val="0"/>
              </a:spcBef>
              <a:spcAft>
                <a:spcPts val="0"/>
              </a:spcAft>
            </a:pPr>
            <a:r>
              <a:rPr sz="1050" b="0">
                <a:solidFill>
                  <a:srgbClr val="898781"/>
                </a:solidFill>
                <a:latin typeface="Consolas"/>
              </a:rPr>
              <a:t>04  ·  ELBOW  ·  Mục 3</a:t>
            </a:r>
          </a:p>
        </p:txBody>
      </p:sp>
      <p:sp>
        <p:nvSpPr>
          <p:cNvPr id="5" name="TextBox 4"/>
          <p:cNvSpPr txBox="1"/>
          <p:nvPr/>
        </p:nvSpPr>
        <p:spPr>
          <a:xfrm>
            <a:off x="658368" y="896112"/>
            <a:ext cx="9787463" cy="621792"/>
          </a:xfrm>
          <a:prstGeom prst="rect">
            <a:avLst/>
          </a:prstGeom>
          <a:noFill/>
        </p:spPr>
        <p:txBody>
          <a:bodyPr wrap="square" lIns="0" tIns="0" rIns="0" bIns="0" anchor="t">
            <a:spAutoFit/>
          </a:bodyPr>
          <a:lstStyle/>
          <a:p>
            <a:pPr algn="l">
              <a:lnSpc>
                <a:spcPct val="104000"/>
              </a:lnSpc>
              <a:spcBef>
                <a:spcPts val="0"/>
              </a:spcBef>
              <a:spcAft>
                <a:spcPts val="0"/>
              </a:spcAft>
            </a:pPr>
            <a:r>
              <a:rPr sz="2800" b="1">
                <a:solidFill>
                  <a:srgbClr val="0B0B0B"/>
                </a:solidFill>
                <a:latin typeface="Segoe UI"/>
              </a:rPr>
              <a:t>Elbow cũng chỉ ra K = 3</a:t>
            </a:r>
          </a:p>
        </p:txBody>
      </p:sp>
      <p:sp>
        <p:nvSpPr>
          <p:cNvPr id="7" name="Rectangle 6"/>
          <p:cNvSpPr/>
          <p:nvPr/>
        </p:nvSpPr>
        <p:spPr>
          <a:xfrm>
            <a:off x="658368" y="6345936"/>
            <a:ext cx="10874959" cy="9525"/>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6464808"/>
            <a:ext cx="8156219" cy="219456"/>
          </a:xfrm>
          <a:prstGeom prst="rect">
            <a:avLst/>
          </a:prstGeom>
          <a:noFill/>
        </p:spPr>
        <p:txBody>
          <a:bodyPr wrap="square" lIns="0" tIns="0" rIns="0" bIns="0" anchor="t">
            <a:spAutoFit/>
          </a:bodyPr>
          <a:lstStyle/>
          <a:p>
            <a:pPr algn="l">
              <a:spcBef>
                <a:spcPts val="0"/>
              </a:spcBef>
              <a:spcAft>
                <a:spcPts val="0"/>
              </a:spcAft>
            </a:pPr>
            <a:r>
              <a:rPr sz="950" b="0">
                <a:solidFill>
                  <a:srgbClr val="898781"/>
                </a:solidFill>
                <a:latin typeface="Consolas"/>
              </a:rPr>
              <a:t>Customer Segmentation  ·  Ride-Hailing Promotions</a:t>
            </a:r>
          </a:p>
        </p:txBody>
      </p:sp>
      <p:sp>
        <p:nvSpPr>
          <p:cNvPr id="9" name="TextBox 8"/>
          <p:cNvSpPr txBox="1"/>
          <p:nvPr/>
        </p:nvSpPr>
        <p:spPr>
          <a:xfrm>
            <a:off x="10344607" y="6464808"/>
            <a:ext cx="1188720" cy="219456"/>
          </a:xfrm>
          <a:prstGeom prst="rect">
            <a:avLst/>
          </a:prstGeom>
          <a:noFill/>
        </p:spPr>
        <p:txBody>
          <a:bodyPr wrap="square" lIns="0" tIns="0" rIns="0" bIns="0" anchor="t">
            <a:spAutoFit/>
          </a:bodyPr>
          <a:lstStyle/>
          <a:p>
            <a:pPr algn="r">
              <a:spcBef>
                <a:spcPts val="0"/>
              </a:spcBef>
              <a:spcAft>
                <a:spcPts val="0"/>
              </a:spcAft>
            </a:pPr>
            <a:r>
              <a:rPr sz="950" b="0">
                <a:solidFill>
                  <a:srgbClr val="898781"/>
                </a:solidFill>
                <a:latin typeface="Consolas"/>
              </a:rPr>
              <a:t>4 / 6</a:t>
            </a:r>
          </a:p>
        </p:txBody>
      </p:sp>
      <p:sp>
        <p:nvSpPr>
          <p:cNvPr id="11" name="TextBox 10"/>
          <p:cNvSpPr txBox="1"/>
          <p:nvPr/>
        </p:nvSpPr>
        <p:spPr>
          <a:xfrm>
            <a:off x="658368" y="4864608"/>
            <a:ext cx="5437480" cy="274320"/>
          </a:xfrm>
          <a:prstGeom prst="rect">
            <a:avLst/>
          </a:prstGeom>
          <a:noFill/>
        </p:spPr>
        <p:txBody>
          <a:bodyPr wrap="square" lIns="0" tIns="0" rIns="0" bIns="0" anchor="t">
            <a:spAutoFit/>
          </a:bodyPr>
          <a:lstStyle/>
          <a:p>
            <a:pPr algn="l">
              <a:spcBef>
                <a:spcPts val="0"/>
              </a:spcBef>
              <a:spcAft>
                <a:spcPts val="0"/>
              </a:spcAft>
            </a:pPr>
            <a:r>
              <a:rPr sz="1050" b="0">
                <a:solidFill>
                  <a:srgbClr val="898781"/>
                </a:solidFill>
                <a:latin typeface="Consolas"/>
              </a:rPr>
              <a:t>Inertia theo K  ·  điểm gãy = xa dây cung nhất</a:t>
            </a:r>
          </a:p>
        </p:txBody>
      </p:sp>
      <p:sp>
        <p:nvSpPr>
          <p:cNvPr id="12" name="TextBox 11"/>
          <p:cNvSpPr txBox="1"/>
          <p:nvPr/>
        </p:nvSpPr>
        <p:spPr>
          <a:xfrm>
            <a:off x="6635344" y="2382459"/>
            <a:ext cx="5016855" cy="863378"/>
          </a:xfrm>
          <a:prstGeom prst="rect">
            <a:avLst/>
          </a:prstGeom>
          <a:noFill/>
        </p:spPr>
        <p:txBody>
          <a:bodyPr wrap="square" lIns="0" tIns="0" rIns="0" bIns="0" anchor="t">
            <a:spAutoFit/>
          </a:bodyPr>
          <a:lstStyle/>
          <a:p>
            <a:pPr algn="l">
              <a:spcBef>
                <a:spcPts val="0"/>
              </a:spcBef>
              <a:spcAft>
                <a:spcPts val="0"/>
              </a:spcAft>
            </a:pPr>
            <a:r>
              <a:rPr sz="1100" b="1" dirty="0">
                <a:solidFill>
                  <a:srgbClr val="2A78D6"/>
                </a:solidFill>
                <a:latin typeface="Consolas"/>
              </a:rPr>
              <a:t>KNEEDLE </a:t>
            </a:r>
            <a:endParaRPr lang="en-US" sz="1100" b="1" dirty="0">
              <a:solidFill>
                <a:srgbClr val="2A78D6"/>
              </a:solidFill>
              <a:latin typeface="Consolas"/>
            </a:endParaRPr>
          </a:p>
          <a:p>
            <a:pPr algn="l">
              <a:spcBef>
                <a:spcPts val="0"/>
              </a:spcBef>
              <a:spcAft>
                <a:spcPts val="0"/>
              </a:spcAft>
            </a:pPr>
            <a:r>
              <a:rPr sz="1200" b="1" dirty="0" err="1">
                <a:solidFill>
                  <a:srgbClr val="0B0B0B"/>
                </a:solidFill>
                <a:latin typeface="Segoe UI"/>
              </a:rPr>
              <a:t>Cách</a:t>
            </a:r>
            <a:r>
              <a:rPr sz="1200" b="1" dirty="0">
                <a:solidFill>
                  <a:srgbClr val="0B0B0B"/>
                </a:solidFill>
                <a:latin typeface="Segoe UI"/>
              </a:rPr>
              <a:t> </a:t>
            </a:r>
            <a:r>
              <a:rPr sz="1200" b="1" dirty="0" err="1">
                <a:solidFill>
                  <a:srgbClr val="0B0B0B"/>
                </a:solidFill>
                <a:latin typeface="Segoe UI"/>
              </a:rPr>
              <a:t>xác</a:t>
            </a:r>
            <a:r>
              <a:rPr sz="1200" b="1" dirty="0">
                <a:solidFill>
                  <a:srgbClr val="0B0B0B"/>
                </a:solidFill>
                <a:latin typeface="Segoe UI"/>
              </a:rPr>
              <a:t> </a:t>
            </a:r>
            <a:r>
              <a:rPr sz="1200" b="1" dirty="0" err="1">
                <a:solidFill>
                  <a:srgbClr val="0B0B0B"/>
                </a:solidFill>
                <a:latin typeface="Segoe UI"/>
              </a:rPr>
              <a:t>định</a:t>
            </a:r>
            <a:r>
              <a:rPr sz="1200" b="1" dirty="0">
                <a:solidFill>
                  <a:srgbClr val="0B0B0B"/>
                </a:solidFill>
                <a:latin typeface="Segoe UI"/>
              </a:rPr>
              <a:t>:   </a:t>
            </a:r>
            <a:r>
              <a:rPr sz="1200" dirty="0" err="1">
                <a:solidFill>
                  <a:srgbClr val="52514E"/>
                </a:solidFill>
                <a:latin typeface="Segoe UI"/>
              </a:rPr>
              <a:t>chuẩn</a:t>
            </a:r>
            <a:r>
              <a:rPr sz="1200" dirty="0">
                <a:solidFill>
                  <a:srgbClr val="52514E"/>
                </a:solidFill>
                <a:latin typeface="Segoe UI"/>
              </a:rPr>
              <a:t> </a:t>
            </a:r>
            <a:r>
              <a:rPr sz="1200" dirty="0" err="1">
                <a:solidFill>
                  <a:srgbClr val="52514E"/>
                </a:solidFill>
                <a:latin typeface="Segoe UI"/>
              </a:rPr>
              <a:t>hoá</a:t>
            </a:r>
            <a:r>
              <a:rPr sz="1200" dirty="0">
                <a:solidFill>
                  <a:srgbClr val="52514E"/>
                </a:solidFill>
                <a:latin typeface="Segoe UI"/>
              </a:rPr>
              <a:t> </a:t>
            </a:r>
            <a:r>
              <a:rPr sz="1200" dirty="0" err="1">
                <a:solidFill>
                  <a:srgbClr val="52514E"/>
                </a:solidFill>
                <a:latin typeface="Segoe UI"/>
              </a:rPr>
              <a:t>hai</a:t>
            </a:r>
            <a:r>
              <a:rPr sz="1200" dirty="0">
                <a:solidFill>
                  <a:srgbClr val="52514E"/>
                </a:solidFill>
                <a:latin typeface="Segoe UI"/>
              </a:rPr>
              <a:t> </a:t>
            </a:r>
            <a:r>
              <a:rPr sz="1200" dirty="0" err="1">
                <a:solidFill>
                  <a:srgbClr val="52514E"/>
                </a:solidFill>
                <a:latin typeface="Segoe UI"/>
              </a:rPr>
              <a:t>trục</a:t>
            </a:r>
            <a:r>
              <a:rPr sz="1200" dirty="0">
                <a:solidFill>
                  <a:srgbClr val="52514E"/>
                </a:solidFill>
                <a:latin typeface="Segoe UI"/>
              </a:rPr>
              <a:t> </a:t>
            </a:r>
            <a:r>
              <a:rPr sz="1200" dirty="0" err="1">
                <a:solidFill>
                  <a:srgbClr val="52514E"/>
                </a:solidFill>
                <a:latin typeface="Segoe UI"/>
              </a:rPr>
              <a:t>về</a:t>
            </a:r>
            <a:r>
              <a:rPr sz="1200" dirty="0">
                <a:solidFill>
                  <a:srgbClr val="52514E"/>
                </a:solidFill>
                <a:latin typeface="Segoe UI"/>
              </a:rPr>
              <a:t> [0, 1], </a:t>
            </a:r>
            <a:r>
              <a:rPr sz="1200" dirty="0" err="1">
                <a:solidFill>
                  <a:srgbClr val="52514E"/>
                </a:solidFill>
                <a:latin typeface="Segoe UI"/>
              </a:rPr>
              <a:t>nối</a:t>
            </a:r>
            <a:r>
              <a:rPr sz="1200" dirty="0">
                <a:solidFill>
                  <a:srgbClr val="52514E"/>
                </a:solidFill>
                <a:latin typeface="Segoe UI"/>
              </a:rPr>
              <a:t> </a:t>
            </a:r>
            <a:r>
              <a:rPr sz="1200" dirty="0" err="1">
                <a:solidFill>
                  <a:srgbClr val="52514E"/>
                </a:solidFill>
                <a:latin typeface="Segoe UI"/>
              </a:rPr>
              <a:t>điểm</a:t>
            </a:r>
            <a:r>
              <a:rPr sz="1200" dirty="0">
                <a:solidFill>
                  <a:srgbClr val="52514E"/>
                </a:solidFill>
                <a:latin typeface="Segoe UI"/>
              </a:rPr>
              <a:t> </a:t>
            </a:r>
            <a:r>
              <a:rPr sz="1200" dirty="0" err="1">
                <a:solidFill>
                  <a:srgbClr val="52514E"/>
                </a:solidFill>
                <a:latin typeface="Segoe UI"/>
              </a:rPr>
              <a:t>đầu</a:t>
            </a:r>
            <a:r>
              <a:rPr sz="1200" dirty="0">
                <a:solidFill>
                  <a:srgbClr val="52514E"/>
                </a:solidFill>
                <a:latin typeface="Segoe UI"/>
              </a:rPr>
              <a:t> </a:t>
            </a:r>
            <a:r>
              <a:rPr sz="1200" dirty="0" err="1">
                <a:solidFill>
                  <a:srgbClr val="52514E"/>
                </a:solidFill>
                <a:latin typeface="Segoe UI"/>
              </a:rPr>
              <a:t>với</a:t>
            </a:r>
            <a:r>
              <a:rPr sz="1200" dirty="0">
                <a:solidFill>
                  <a:srgbClr val="52514E"/>
                </a:solidFill>
                <a:latin typeface="Segoe UI"/>
              </a:rPr>
              <a:t> </a:t>
            </a:r>
            <a:r>
              <a:rPr sz="1200" dirty="0" err="1">
                <a:solidFill>
                  <a:srgbClr val="52514E"/>
                </a:solidFill>
                <a:latin typeface="Segoe UI"/>
              </a:rPr>
              <a:t>điểm</a:t>
            </a:r>
            <a:r>
              <a:rPr sz="1200" dirty="0">
                <a:solidFill>
                  <a:srgbClr val="52514E"/>
                </a:solidFill>
                <a:latin typeface="Segoe UI"/>
              </a:rPr>
              <a:t> </a:t>
            </a:r>
            <a:r>
              <a:rPr sz="1200" dirty="0" err="1">
                <a:solidFill>
                  <a:srgbClr val="52514E"/>
                </a:solidFill>
                <a:latin typeface="Segoe UI"/>
              </a:rPr>
              <a:t>cuối</a:t>
            </a:r>
            <a:r>
              <a:rPr sz="1200" dirty="0">
                <a:solidFill>
                  <a:srgbClr val="52514E"/>
                </a:solidFill>
                <a:latin typeface="Segoe UI"/>
              </a:rPr>
              <a:t>, K </a:t>
            </a:r>
            <a:r>
              <a:rPr sz="1200" dirty="0" err="1">
                <a:solidFill>
                  <a:srgbClr val="52514E"/>
                </a:solidFill>
                <a:latin typeface="Segoe UI"/>
              </a:rPr>
              <a:t>nào</a:t>
            </a:r>
            <a:r>
              <a:rPr sz="1200" dirty="0">
                <a:solidFill>
                  <a:srgbClr val="52514E"/>
                </a:solidFill>
                <a:latin typeface="Segoe UI"/>
              </a:rPr>
              <a:t> </a:t>
            </a:r>
            <a:r>
              <a:rPr sz="1200" dirty="0" err="1">
                <a:solidFill>
                  <a:srgbClr val="52514E"/>
                </a:solidFill>
                <a:latin typeface="Segoe UI"/>
              </a:rPr>
              <a:t>xa</a:t>
            </a:r>
            <a:r>
              <a:rPr sz="1200" dirty="0">
                <a:solidFill>
                  <a:srgbClr val="52514E"/>
                </a:solidFill>
                <a:latin typeface="Segoe UI"/>
              </a:rPr>
              <a:t> </a:t>
            </a:r>
            <a:r>
              <a:rPr sz="1200" dirty="0" err="1">
                <a:solidFill>
                  <a:srgbClr val="52514E"/>
                </a:solidFill>
                <a:latin typeface="Segoe UI"/>
              </a:rPr>
              <a:t>dây</a:t>
            </a:r>
            <a:r>
              <a:rPr sz="1200" dirty="0">
                <a:solidFill>
                  <a:srgbClr val="52514E"/>
                </a:solidFill>
                <a:latin typeface="Segoe UI"/>
              </a:rPr>
              <a:t> </a:t>
            </a:r>
            <a:r>
              <a:rPr sz="1200" dirty="0" err="1">
                <a:solidFill>
                  <a:srgbClr val="52514E"/>
                </a:solidFill>
                <a:latin typeface="Segoe UI"/>
              </a:rPr>
              <a:t>cung</a:t>
            </a:r>
            <a:r>
              <a:rPr sz="1200" dirty="0">
                <a:solidFill>
                  <a:srgbClr val="52514E"/>
                </a:solidFill>
                <a:latin typeface="Segoe UI"/>
              </a:rPr>
              <a:t> </a:t>
            </a:r>
            <a:r>
              <a:rPr sz="1200" dirty="0" err="1">
                <a:solidFill>
                  <a:srgbClr val="52514E"/>
                </a:solidFill>
                <a:latin typeface="Segoe UI"/>
              </a:rPr>
              <a:t>đó</a:t>
            </a:r>
            <a:r>
              <a:rPr sz="1200" dirty="0">
                <a:solidFill>
                  <a:srgbClr val="52514E"/>
                </a:solidFill>
                <a:latin typeface="Segoe UI"/>
              </a:rPr>
              <a:t> </a:t>
            </a:r>
            <a:r>
              <a:rPr sz="1200" dirty="0" err="1">
                <a:solidFill>
                  <a:srgbClr val="52514E"/>
                </a:solidFill>
                <a:latin typeface="Segoe UI"/>
              </a:rPr>
              <a:t>nhất</a:t>
            </a:r>
            <a:r>
              <a:rPr sz="1200" dirty="0">
                <a:solidFill>
                  <a:srgbClr val="52514E"/>
                </a:solidFill>
                <a:latin typeface="Segoe UI"/>
              </a:rPr>
              <a:t> </a:t>
            </a:r>
            <a:r>
              <a:rPr sz="1200" dirty="0" err="1">
                <a:solidFill>
                  <a:srgbClr val="52514E"/>
                </a:solidFill>
                <a:latin typeface="Segoe UI"/>
              </a:rPr>
              <a:t>thì</a:t>
            </a:r>
            <a:r>
              <a:rPr sz="1200" dirty="0">
                <a:solidFill>
                  <a:srgbClr val="52514E"/>
                </a:solidFill>
                <a:latin typeface="Segoe UI"/>
              </a:rPr>
              <a:t> </a:t>
            </a:r>
            <a:r>
              <a:rPr sz="1200" dirty="0" err="1">
                <a:solidFill>
                  <a:srgbClr val="52514E"/>
                </a:solidFill>
                <a:latin typeface="Segoe UI"/>
              </a:rPr>
              <a:t>là</a:t>
            </a:r>
            <a:r>
              <a:rPr sz="1200" dirty="0">
                <a:solidFill>
                  <a:srgbClr val="52514E"/>
                </a:solidFill>
                <a:latin typeface="Segoe UI"/>
              </a:rPr>
              <a:t> </a:t>
            </a:r>
            <a:r>
              <a:rPr sz="1200" dirty="0" err="1">
                <a:solidFill>
                  <a:srgbClr val="52514E"/>
                </a:solidFill>
                <a:latin typeface="Segoe UI"/>
              </a:rPr>
              <a:t>điểm</a:t>
            </a:r>
            <a:r>
              <a:rPr sz="1200" dirty="0">
                <a:solidFill>
                  <a:srgbClr val="52514E"/>
                </a:solidFill>
                <a:latin typeface="Segoe UI"/>
              </a:rPr>
              <a:t> </a:t>
            </a:r>
            <a:r>
              <a:rPr sz="1200" dirty="0" err="1">
                <a:solidFill>
                  <a:srgbClr val="52514E"/>
                </a:solidFill>
                <a:latin typeface="Segoe UI"/>
              </a:rPr>
              <a:t>gãy</a:t>
            </a:r>
            <a:r>
              <a:rPr sz="1200" dirty="0">
                <a:solidFill>
                  <a:srgbClr val="52514E"/>
                </a:solidFill>
                <a:latin typeface="Segoe UI"/>
              </a:rPr>
              <a:t>.</a:t>
            </a:r>
          </a:p>
          <a:p>
            <a:pPr>
              <a:lnSpc>
                <a:spcPct val="126000"/>
              </a:lnSpc>
              <a:spcBef>
                <a:spcPts val="900"/>
              </a:spcBef>
              <a:spcAft>
                <a:spcPts val="0"/>
              </a:spcAft>
            </a:pPr>
            <a:r>
              <a:rPr sz="1200" b="1" dirty="0">
                <a:solidFill>
                  <a:srgbClr val="0B0B0B"/>
                </a:solidFill>
                <a:latin typeface="Segoe UI"/>
              </a:rPr>
              <a:t>K = 3 :   </a:t>
            </a:r>
            <a:r>
              <a:rPr sz="1200" dirty="0" err="1">
                <a:solidFill>
                  <a:srgbClr val="52514E"/>
                </a:solidFill>
                <a:latin typeface="Segoe UI"/>
              </a:rPr>
              <a:t>khoảng</a:t>
            </a:r>
            <a:r>
              <a:rPr sz="1200" dirty="0">
                <a:solidFill>
                  <a:srgbClr val="52514E"/>
                </a:solidFill>
                <a:latin typeface="Segoe UI"/>
              </a:rPr>
              <a:t> </a:t>
            </a:r>
            <a:r>
              <a:rPr sz="1200" dirty="0" err="1">
                <a:solidFill>
                  <a:srgbClr val="52514E"/>
                </a:solidFill>
                <a:latin typeface="Segoe UI"/>
              </a:rPr>
              <a:t>cách</a:t>
            </a:r>
            <a:r>
              <a:rPr sz="1200" dirty="0">
                <a:solidFill>
                  <a:srgbClr val="52514E"/>
                </a:solidFill>
                <a:latin typeface="Segoe UI"/>
              </a:rPr>
              <a:t> 0,1776 so </a:t>
            </a:r>
            <a:r>
              <a:rPr sz="1200" dirty="0" err="1">
                <a:solidFill>
                  <a:srgbClr val="52514E"/>
                </a:solidFill>
                <a:latin typeface="Segoe UI"/>
              </a:rPr>
              <a:t>với</a:t>
            </a:r>
            <a:r>
              <a:rPr sz="1200" dirty="0">
                <a:solidFill>
                  <a:srgbClr val="52514E"/>
                </a:solidFill>
                <a:latin typeface="Segoe UI"/>
              </a:rPr>
              <a:t> 0,1450 </a:t>
            </a:r>
            <a:r>
              <a:rPr sz="1200" dirty="0" err="1">
                <a:solidFill>
                  <a:srgbClr val="52514E"/>
                </a:solidFill>
                <a:latin typeface="Segoe UI"/>
              </a:rPr>
              <a:t>của</a:t>
            </a:r>
            <a:r>
              <a:rPr sz="1200" dirty="0">
                <a:solidFill>
                  <a:srgbClr val="52514E"/>
                </a:solidFill>
                <a:latin typeface="Segoe UI"/>
              </a:rPr>
              <a:t> K = 4 — </a:t>
            </a:r>
            <a:r>
              <a:rPr sz="1200" dirty="0" err="1">
                <a:solidFill>
                  <a:srgbClr val="52514E"/>
                </a:solidFill>
                <a:latin typeface="Segoe UI"/>
              </a:rPr>
              <a:t>hơn</a:t>
            </a:r>
            <a:r>
              <a:rPr sz="1200" dirty="0">
                <a:solidFill>
                  <a:srgbClr val="52514E"/>
                </a:solidFill>
                <a:latin typeface="Segoe UI"/>
              </a:rPr>
              <a:t> 22%.</a:t>
            </a:r>
          </a:p>
        </p:txBody>
      </p:sp>
      <p:pic>
        <p:nvPicPr>
          <p:cNvPr id="16" name="chart">
            <a:extLst>
              <a:ext uri="{FF2B5EF4-FFF2-40B4-BE49-F238E27FC236}">
                <a16:creationId xmlns:a16="http://schemas.microsoft.com/office/drawing/2014/main" id="{4FA34C59-0B3B-4AED-8F13-1168CEC1A6CD}"/>
              </a:ext>
            </a:extLst>
          </p:cNvPr>
          <p:cNvPicPr>
            <a:picLocks noChangeAspect="1"/>
          </p:cNvPicPr>
          <p:nvPr/>
        </p:nvPicPr>
        <p:blipFill>
          <a:blip r:embed="rId2"/>
          <a:stretch>
            <a:fillRect/>
          </a:stretch>
        </p:blipFill>
        <p:spPr>
          <a:xfrm>
            <a:off x="539801" y="1801651"/>
            <a:ext cx="5437480" cy="2395728"/>
          </a:xfrm>
          <a:prstGeom prst="rect">
            <a:avLst/>
          </a:prstGeom>
        </p:spPr>
      </p:pic>
      <p:pic>
        <p:nvPicPr>
          <p:cNvPr id="18" name="Picture 17">
            <a:extLst>
              <a:ext uri="{FF2B5EF4-FFF2-40B4-BE49-F238E27FC236}">
                <a16:creationId xmlns:a16="http://schemas.microsoft.com/office/drawing/2014/main" id="{92030C81-81EF-47AE-A7AB-EBB33D93BF51}"/>
              </a:ext>
            </a:extLst>
          </p:cNvPr>
          <p:cNvPicPr>
            <a:picLocks noChangeAspect="1"/>
          </p:cNvPicPr>
          <p:nvPr/>
        </p:nvPicPr>
        <p:blipFill>
          <a:blip r:embed="rId3"/>
          <a:stretch>
            <a:fillRect/>
          </a:stretch>
        </p:blipFill>
        <p:spPr>
          <a:xfrm>
            <a:off x="6754216" y="3529679"/>
            <a:ext cx="2772162" cy="227679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58368" y="402336"/>
            <a:ext cx="603504" cy="4445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585216"/>
            <a:ext cx="10874959" cy="256032"/>
          </a:xfrm>
          <a:prstGeom prst="rect">
            <a:avLst/>
          </a:prstGeom>
          <a:noFill/>
        </p:spPr>
        <p:txBody>
          <a:bodyPr wrap="square" lIns="0" tIns="0" rIns="0" bIns="0" anchor="t">
            <a:spAutoFit/>
          </a:bodyPr>
          <a:lstStyle/>
          <a:p>
            <a:pPr algn="l">
              <a:spcBef>
                <a:spcPts val="0"/>
              </a:spcBef>
              <a:spcAft>
                <a:spcPts val="0"/>
              </a:spcAft>
            </a:pPr>
            <a:r>
              <a:rPr sz="1050" b="0">
                <a:solidFill>
                  <a:srgbClr val="898781"/>
                </a:solidFill>
                <a:latin typeface="Consolas"/>
              </a:rPr>
              <a:t>05  ·  BA PERSONA  ·  Mục 4 – 5</a:t>
            </a:r>
          </a:p>
        </p:txBody>
      </p:sp>
      <p:sp>
        <p:nvSpPr>
          <p:cNvPr id="5" name="TextBox 4"/>
          <p:cNvSpPr txBox="1"/>
          <p:nvPr/>
        </p:nvSpPr>
        <p:spPr>
          <a:xfrm>
            <a:off x="658368" y="896112"/>
            <a:ext cx="9787463" cy="621792"/>
          </a:xfrm>
          <a:prstGeom prst="rect">
            <a:avLst/>
          </a:prstGeom>
          <a:noFill/>
        </p:spPr>
        <p:txBody>
          <a:bodyPr wrap="square" lIns="0" tIns="0" rIns="0" bIns="0" anchor="t">
            <a:spAutoFit/>
          </a:bodyPr>
          <a:lstStyle/>
          <a:p>
            <a:pPr algn="l">
              <a:lnSpc>
                <a:spcPct val="104000"/>
              </a:lnSpc>
              <a:spcBef>
                <a:spcPts val="0"/>
              </a:spcBef>
              <a:spcAft>
                <a:spcPts val="0"/>
              </a:spcAft>
            </a:pPr>
            <a:r>
              <a:rPr sz="2800" b="1">
                <a:solidFill>
                  <a:srgbClr val="0B0B0B"/>
                </a:solidFill>
                <a:latin typeface="Segoe UI"/>
              </a:rPr>
              <a:t>Ba cụm tách nhau rõ trên cả trục mô tả</a:t>
            </a:r>
          </a:p>
        </p:txBody>
      </p:sp>
      <p:sp>
        <p:nvSpPr>
          <p:cNvPr id="7" name="Rectangle 6"/>
          <p:cNvSpPr/>
          <p:nvPr/>
        </p:nvSpPr>
        <p:spPr>
          <a:xfrm>
            <a:off x="658368" y="6345936"/>
            <a:ext cx="10874959" cy="9525"/>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6464808"/>
            <a:ext cx="8156219" cy="219456"/>
          </a:xfrm>
          <a:prstGeom prst="rect">
            <a:avLst/>
          </a:prstGeom>
          <a:noFill/>
        </p:spPr>
        <p:txBody>
          <a:bodyPr wrap="square" lIns="0" tIns="0" rIns="0" bIns="0" anchor="t">
            <a:spAutoFit/>
          </a:bodyPr>
          <a:lstStyle/>
          <a:p>
            <a:pPr algn="l">
              <a:spcBef>
                <a:spcPts val="0"/>
              </a:spcBef>
              <a:spcAft>
                <a:spcPts val="0"/>
              </a:spcAft>
            </a:pPr>
            <a:r>
              <a:rPr sz="950" b="0">
                <a:solidFill>
                  <a:srgbClr val="898781"/>
                </a:solidFill>
                <a:latin typeface="Consolas"/>
              </a:rPr>
              <a:t>Customer Segmentation  ·  Ride-Hailing Promotions</a:t>
            </a:r>
          </a:p>
        </p:txBody>
      </p:sp>
      <p:sp>
        <p:nvSpPr>
          <p:cNvPr id="9" name="TextBox 8"/>
          <p:cNvSpPr txBox="1"/>
          <p:nvPr/>
        </p:nvSpPr>
        <p:spPr>
          <a:xfrm>
            <a:off x="10344607" y="6464808"/>
            <a:ext cx="1188720" cy="219456"/>
          </a:xfrm>
          <a:prstGeom prst="rect">
            <a:avLst/>
          </a:prstGeom>
          <a:noFill/>
        </p:spPr>
        <p:txBody>
          <a:bodyPr wrap="square" lIns="0" tIns="0" rIns="0" bIns="0" anchor="t">
            <a:spAutoFit/>
          </a:bodyPr>
          <a:lstStyle/>
          <a:p>
            <a:pPr algn="r">
              <a:spcBef>
                <a:spcPts val="0"/>
              </a:spcBef>
              <a:spcAft>
                <a:spcPts val="0"/>
              </a:spcAft>
            </a:pPr>
            <a:r>
              <a:rPr sz="950" b="0">
                <a:solidFill>
                  <a:srgbClr val="898781"/>
                </a:solidFill>
                <a:latin typeface="Consolas"/>
              </a:rPr>
              <a:t>5 / 6</a:t>
            </a:r>
          </a:p>
        </p:txBody>
      </p:sp>
      <p:graphicFrame>
        <p:nvGraphicFramePr>
          <p:cNvPr id="10" name="Table 9"/>
          <p:cNvGraphicFramePr>
            <a:graphicFrameLocks noGrp="1"/>
          </p:cNvGraphicFramePr>
          <p:nvPr>
            <p:extLst>
              <p:ext uri="{D42A27DB-BD31-4B8C-83A1-F6EECF244321}">
                <p14:modId xmlns:p14="http://schemas.microsoft.com/office/powerpoint/2010/main" val="1622135333"/>
              </p:ext>
            </p:extLst>
          </p:nvPr>
        </p:nvGraphicFramePr>
        <p:xfrm>
          <a:off x="658368" y="1642147"/>
          <a:ext cx="10872216" cy="2615184"/>
        </p:xfrm>
        <a:graphic>
          <a:graphicData uri="http://schemas.openxmlformats.org/drawingml/2006/table">
            <a:tbl>
              <a:tblPr>
                <a:tableStyleId>{5C22544A-7EE6-4342-B048-85BDC9FD1C3A}</a:tableStyleId>
              </a:tblPr>
              <a:tblGrid>
                <a:gridCol w="2560320">
                  <a:extLst>
                    <a:ext uri="{9D8B030D-6E8A-4147-A177-3AD203B41FA5}">
                      <a16:colId xmlns:a16="http://schemas.microsoft.com/office/drawing/2014/main" val="20000"/>
                    </a:ext>
                  </a:extLst>
                </a:gridCol>
                <a:gridCol w="1152144">
                  <a:extLst>
                    <a:ext uri="{9D8B030D-6E8A-4147-A177-3AD203B41FA5}">
                      <a16:colId xmlns:a16="http://schemas.microsoft.com/office/drawing/2014/main" val="20001"/>
                    </a:ext>
                  </a:extLst>
                </a:gridCol>
                <a:gridCol w="896112">
                  <a:extLst>
                    <a:ext uri="{9D8B030D-6E8A-4147-A177-3AD203B41FA5}">
                      <a16:colId xmlns:a16="http://schemas.microsoft.com/office/drawing/2014/main" val="20002"/>
                    </a:ext>
                  </a:extLst>
                </a:gridCol>
                <a:gridCol w="932688">
                  <a:extLst>
                    <a:ext uri="{9D8B030D-6E8A-4147-A177-3AD203B41FA5}">
                      <a16:colId xmlns:a16="http://schemas.microsoft.com/office/drawing/2014/main" val="20003"/>
                    </a:ext>
                  </a:extLst>
                </a:gridCol>
                <a:gridCol w="1042416">
                  <a:extLst>
                    <a:ext uri="{9D8B030D-6E8A-4147-A177-3AD203B41FA5}">
                      <a16:colId xmlns:a16="http://schemas.microsoft.com/office/drawing/2014/main" val="20004"/>
                    </a:ext>
                  </a:extLst>
                </a:gridCol>
                <a:gridCol w="1152144">
                  <a:extLst>
                    <a:ext uri="{9D8B030D-6E8A-4147-A177-3AD203B41FA5}">
                      <a16:colId xmlns:a16="http://schemas.microsoft.com/office/drawing/2014/main" val="20005"/>
                    </a:ext>
                  </a:extLst>
                </a:gridCol>
                <a:gridCol w="3136392">
                  <a:extLst>
                    <a:ext uri="{9D8B030D-6E8A-4147-A177-3AD203B41FA5}">
                      <a16:colId xmlns:a16="http://schemas.microsoft.com/office/drawing/2014/main" val="20006"/>
                    </a:ext>
                  </a:extLst>
                </a:gridCol>
              </a:tblGrid>
              <a:tr h="475488">
                <a:tc>
                  <a:txBody>
                    <a:bodyPr/>
                    <a:lstStyle/>
                    <a:p>
                      <a:pPr algn="l">
                        <a:lnSpc>
                          <a:spcPct val="114000"/>
                        </a:lnSpc>
                      </a:pPr>
                      <a:r>
                        <a:rPr sz="1050" b="1">
                          <a:solidFill>
                            <a:srgbClr val="FCFCFB"/>
                          </a:solidFill>
                          <a:latin typeface="Consolas"/>
                        </a:rPr>
                        <a:t>Persona</a:t>
                      </a:r>
                    </a:p>
                  </a:txBody>
                  <a:tcPr marL="100584" marR="100584" anchor="ctr">
                    <a:solidFill>
                      <a:srgbClr val="0B0B0B"/>
                    </a:solidFill>
                  </a:tcPr>
                </a:tc>
                <a:tc>
                  <a:txBody>
                    <a:bodyPr/>
                    <a:lstStyle/>
                    <a:p>
                      <a:pPr algn="l">
                        <a:lnSpc>
                          <a:spcPct val="114000"/>
                        </a:lnSpc>
                      </a:pPr>
                      <a:r>
                        <a:rPr sz="1050" b="1">
                          <a:solidFill>
                            <a:srgbClr val="FCFCFB"/>
                          </a:solidFill>
                          <a:latin typeface="Consolas"/>
                        </a:rPr>
                        <a:t>Quy mô</a:t>
                      </a:r>
                    </a:p>
                  </a:txBody>
                  <a:tcPr marL="100584" marR="100584" anchor="ctr">
                    <a:solidFill>
                      <a:srgbClr val="0B0B0B"/>
                    </a:solidFill>
                  </a:tcPr>
                </a:tc>
                <a:tc>
                  <a:txBody>
                    <a:bodyPr/>
                    <a:lstStyle/>
                    <a:p>
                      <a:pPr algn="r">
                        <a:lnSpc>
                          <a:spcPct val="114000"/>
                        </a:lnSpc>
                      </a:pPr>
                      <a:r>
                        <a:rPr sz="1050" b="1">
                          <a:solidFill>
                            <a:srgbClr val="FCFCFB"/>
                          </a:solidFill>
                          <a:latin typeface="Consolas"/>
                        </a:rPr>
                        <a:t>z tip</a:t>
                      </a:r>
                    </a:p>
                  </a:txBody>
                  <a:tcPr marL="100584" marR="100584" anchor="ctr">
                    <a:solidFill>
                      <a:srgbClr val="0B0B0B"/>
                    </a:solidFill>
                  </a:tcPr>
                </a:tc>
                <a:tc>
                  <a:txBody>
                    <a:bodyPr/>
                    <a:lstStyle/>
                    <a:p>
                      <a:pPr algn="r">
                        <a:lnSpc>
                          <a:spcPct val="114000"/>
                        </a:lnSpc>
                      </a:pPr>
                      <a:r>
                        <a:rPr sz="1050" b="1">
                          <a:solidFill>
                            <a:srgbClr val="FCFCFB"/>
                          </a:solidFill>
                          <a:latin typeface="Consolas"/>
                        </a:rPr>
                        <a:t>z Flex</a:t>
                      </a:r>
                    </a:p>
                  </a:txBody>
                  <a:tcPr marL="100584" marR="100584" anchor="ctr">
                    <a:solidFill>
                      <a:srgbClr val="0B0B0B"/>
                    </a:solidFill>
                  </a:tcPr>
                </a:tc>
                <a:tc>
                  <a:txBody>
                    <a:bodyPr/>
                    <a:lstStyle/>
                    <a:p>
                      <a:pPr algn="r">
                        <a:lnSpc>
                          <a:spcPct val="114000"/>
                        </a:lnSpc>
                      </a:pPr>
                      <a:r>
                        <a:rPr sz="1050" b="1">
                          <a:solidFill>
                            <a:srgbClr val="FCFCFB"/>
                          </a:solidFill>
                          <a:latin typeface="Consolas"/>
                        </a:rPr>
                        <a:t>z sân bay</a:t>
                      </a:r>
                    </a:p>
                  </a:txBody>
                  <a:tcPr marL="100584" marR="100584" anchor="ctr">
                    <a:solidFill>
                      <a:srgbClr val="0B0B0B"/>
                    </a:solidFill>
                  </a:tcPr>
                </a:tc>
                <a:tc>
                  <a:txBody>
                    <a:bodyPr/>
                    <a:lstStyle/>
                    <a:p>
                      <a:pPr algn="r">
                        <a:lnSpc>
                          <a:spcPct val="114000"/>
                        </a:lnSpc>
                      </a:pPr>
                      <a:r>
                        <a:rPr sz="1050" b="1">
                          <a:solidFill>
                            <a:srgbClr val="FCFCFB"/>
                          </a:solidFill>
                          <a:latin typeface="Consolas"/>
                        </a:rPr>
                        <a:t>z cuối tuần</a:t>
                      </a:r>
                    </a:p>
                  </a:txBody>
                  <a:tcPr marL="100584" marR="100584" anchor="ctr">
                    <a:solidFill>
                      <a:srgbClr val="0B0B0B"/>
                    </a:solidFill>
                  </a:tcPr>
                </a:tc>
                <a:tc>
                  <a:txBody>
                    <a:bodyPr/>
                    <a:lstStyle/>
                    <a:p>
                      <a:pPr algn="l">
                        <a:lnSpc>
                          <a:spcPct val="114000"/>
                        </a:lnSpc>
                      </a:pPr>
                      <a:r>
                        <a:rPr sz="1050" b="1">
                          <a:solidFill>
                            <a:srgbClr val="FCFCFB"/>
                          </a:solidFill>
                          <a:latin typeface="Consolas"/>
                        </a:rPr>
                        <a:t>Trục mô tả (không dùng để chia)</a:t>
                      </a:r>
                    </a:p>
                  </a:txBody>
                  <a:tcPr marL="100584" marR="100584" anchor="ctr">
                    <a:solidFill>
                      <a:srgbClr val="0B0B0B"/>
                    </a:solidFill>
                  </a:tcPr>
                </a:tc>
                <a:extLst>
                  <a:ext uri="{0D108BD9-81ED-4DB2-BD59-A6C34878D82A}">
                    <a16:rowId xmlns:a16="http://schemas.microsoft.com/office/drawing/2014/main" val="10000"/>
                  </a:ext>
                </a:extLst>
              </a:tr>
              <a:tr h="713232">
                <a:tc>
                  <a:txBody>
                    <a:bodyPr/>
                    <a:lstStyle/>
                    <a:p>
                      <a:pPr algn="l">
                        <a:lnSpc>
                          <a:spcPct val="114000"/>
                        </a:lnSpc>
                      </a:pPr>
                      <a:r>
                        <a:rPr sz="1050" b="1">
                          <a:solidFill>
                            <a:srgbClr val="0B0B0B"/>
                          </a:solidFill>
                          <a:latin typeface="Segoe UI"/>
                        </a:rPr>
                        <a:t>Cụm 0 · Nội đô ngày thường, tip cao</a:t>
                      </a:r>
                    </a:p>
                  </a:txBody>
                  <a:tcPr marL="100584" marR="100584" anchor="ctr">
                    <a:solidFill>
                      <a:srgbClr val="FCFCFB"/>
                    </a:solidFill>
                  </a:tcPr>
                </a:tc>
                <a:tc>
                  <a:txBody>
                    <a:bodyPr/>
                    <a:lstStyle/>
                    <a:p>
                      <a:pPr algn="l">
                        <a:lnSpc>
                          <a:spcPct val="114000"/>
                        </a:lnSpc>
                      </a:pPr>
                      <a:r>
                        <a:rPr sz="1050" b="0">
                          <a:solidFill>
                            <a:srgbClr val="52514E"/>
                          </a:solidFill>
                          <a:latin typeface="Consolas"/>
                        </a:rPr>
                        <a:t>10.946 · 54,7%</a:t>
                      </a:r>
                    </a:p>
                  </a:txBody>
                  <a:tcPr marL="100584" marR="100584" anchor="ctr">
                    <a:solidFill>
                      <a:srgbClr val="FCFCFB"/>
                    </a:solidFill>
                  </a:tcPr>
                </a:tc>
                <a:tc>
                  <a:txBody>
                    <a:bodyPr/>
                    <a:lstStyle/>
                    <a:p>
                      <a:pPr algn="r">
                        <a:lnSpc>
                          <a:spcPct val="114000"/>
                        </a:lnSpc>
                      </a:pPr>
                      <a:r>
                        <a:rPr sz="1250" b="0">
                          <a:solidFill>
                            <a:srgbClr val="898781"/>
                          </a:solidFill>
                          <a:latin typeface="Consolas"/>
                        </a:rPr>
                        <a:t>+0,42</a:t>
                      </a:r>
                    </a:p>
                  </a:txBody>
                  <a:tcPr marL="100584" marR="100584" anchor="ctr">
                    <a:solidFill>
                      <a:srgbClr val="FCFCFB"/>
                    </a:solidFill>
                  </a:tcPr>
                </a:tc>
                <a:tc>
                  <a:txBody>
                    <a:bodyPr/>
                    <a:lstStyle/>
                    <a:p>
                      <a:pPr algn="r">
                        <a:lnSpc>
                          <a:spcPct val="114000"/>
                        </a:lnSpc>
                      </a:pPr>
                      <a:r>
                        <a:rPr sz="1250" b="0">
                          <a:solidFill>
                            <a:srgbClr val="898781"/>
                          </a:solidFill>
                          <a:latin typeface="Consolas"/>
                        </a:rPr>
                        <a:t>−0,43</a:t>
                      </a:r>
                    </a:p>
                  </a:txBody>
                  <a:tcPr marL="100584" marR="100584" anchor="ctr">
                    <a:solidFill>
                      <a:srgbClr val="FCFCFB"/>
                    </a:solidFill>
                  </a:tcPr>
                </a:tc>
                <a:tc>
                  <a:txBody>
                    <a:bodyPr/>
                    <a:lstStyle/>
                    <a:p>
                      <a:pPr algn="r">
                        <a:lnSpc>
                          <a:spcPct val="114000"/>
                        </a:lnSpc>
                      </a:pPr>
                      <a:r>
                        <a:rPr sz="1250" b="0">
                          <a:solidFill>
                            <a:srgbClr val="898781"/>
                          </a:solidFill>
                          <a:latin typeface="Consolas"/>
                        </a:rPr>
                        <a:t>−0,36</a:t>
                      </a:r>
                    </a:p>
                  </a:txBody>
                  <a:tcPr marL="100584" marR="100584" anchor="ctr">
                    <a:solidFill>
                      <a:srgbClr val="FCFCFB"/>
                    </a:solidFill>
                  </a:tcPr>
                </a:tc>
                <a:tc>
                  <a:txBody>
                    <a:bodyPr/>
                    <a:lstStyle/>
                    <a:p>
                      <a:pPr algn="r">
                        <a:lnSpc>
                          <a:spcPct val="114000"/>
                        </a:lnSpc>
                      </a:pPr>
                      <a:r>
                        <a:rPr sz="1250" b="0">
                          <a:solidFill>
                            <a:srgbClr val="898781"/>
                          </a:solidFill>
                          <a:latin typeface="Consolas"/>
                        </a:rPr>
                        <a:t>−0,28</a:t>
                      </a:r>
                    </a:p>
                  </a:txBody>
                  <a:tcPr marL="100584" marR="100584" anchor="ctr">
                    <a:solidFill>
                      <a:srgbClr val="FCFCFB"/>
                    </a:solidFill>
                  </a:tcPr>
                </a:tc>
                <a:tc>
                  <a:txBody>
                    <a:bodyPr/>
                    <a:lstStyle/>
                    <a:p>
                      <a:pPr algn="l">
                        <a:lnSpc>
                          <a:spcPct val="114000"/>
                        </a:lnSpc>
                      </a:pPr>
                      <a:r>
                        <a:rPr sz="1050" b="0">
                          <a:solidFill>
                            <a:srgbClr val="52514E"/>
                          </a:solidFill>
                          <a:latin typeface="Segoe UI"/>
                        </a:rPr>
                        <a:t>cự ly 1,70 dặm · cước 16,51 — thấp nhất · trội evening 38,0%</a:t>
                      </a:r>
                    </a:p>
                  </a:txBody>
                  <a:tcPr marL="100584" marR="100584" anchor="ctr">
                    <a:solidFill>
                      <a:srgbClr val="FCFCFB"/>
                    </a:solidFill>
                  </a:tcPr>
                </a:tc>
                <a:extLst>
                  <a:ext uri="{0D108BD9-81ED-4DB2-BD59-A6C34878D82A}">
                    <a16:rowId xmlns:a16="http://schemas.microsoft.com/office/drawing/2014/main" val="10001"/>
                  </a:ext>
                </a:extLst>
              </a:tr>
              <a:tr h="713232">
                <a:tc>
                  <a:txBody>
                    <a:bodyPr/>
                    <a:lstStyle/>
                    <a:p>
                      <a:pPr algn="l">
                        <a:lnSpc>
                          <a:spcPct val="114000"/>
                        </a:lnSpc>
                      </a:pPr>
                      <a:r>
                        <a:rPr sz="1050" b="1">
                          <a:solidFill>
                            <a:srgbClr val="0B0B0B"/>
                          </a:solidFill>
                          <a:latin typeface="Segoe UI"/>
                        </a:rPr>
                        <a:t>Cụm 1 · Sân bay / đường dài</a:t>
                      </a:r>
                    </a:p>
                  </a:txBody>
                  <a:tcPr marL="100584" marR="100584" anchor="ctr">
                    <a:solidFill>
                      <a:srgbClr val="F2F1EC"/>
                    </a:solidFill>
                  </a:tcPr>
                </a:tc>
                <a:tc>
                  <a:txBody>
                    <a:bodyPr/>
                    <a:lstStyle/>
                    <a:p>
                      <a:pPr algn="l">
                        <a:lnSpc>
                          <a:spcPct val="114000"/>
                        </a:lnSpc>
                      </a:pPr>
                      <a:r>
                        <a:rPr sz="1050" b="0">
                          <a:solidFill>
                            <a:srgbClr val="52514E"/>
                          </a:solidFill>
                          <a:latin typeface="Consolas"/>
                        </a:rPr>
                        <a:t>2.608 · 13,0%</a:t>
                      </a:r>
                    </a:p>
                  </a:txBody>
                  <a:tcPr marL="100584" marR="100584" anchor="ctr">
                    <a:solidFill>
                      <a:srgbClr val="F2F1EC"/>
                    </a:solidFill>
                  </a:tcPr>
                </a:tc>
                <a:tc>
                  <a:txBody>
                    <a:bodyPr/>
                    <a:lstStyle/>
                    <a:p>
                      <a:pPr algn="r">
                        <a:lnSpc>
                          <a:spcPct val="114000"/>
                        </a:lnSpc>
                      </a:pPr>
                      <a:r>
                        <a:rPr sz="1250" b="1">
                          <a:solidFill>
                            <a:srgbClr val="2A78D6"/>
                          </a:solidFill>
                          <a:latin typeface="Consolas"/>
                        </a:rPr>
                        <a:t>−0,78</a:t>
                      </a:r>
                    </a:p>
                  </a:txBody>
                  <a:tcPr marL="100584" marR="100584" anchor="ctr">
                    <a:solidFill>
                      <a:srgbClr val="F2F1EC"/>
                    </a:solidFill>
                  </a:tcPr>
                </a:tc>
                <a:tc>
                  <a:txBody>
                    <a:bodyPr/>
                    <a:lstStyle/>
                    <a:p>
                      <a:pPr algn="r">
                        <a:lnSpc>
                          <a:spcPct val="114000"/>
                        </a:lnSpc>
                      </a:pPr>
                      <a:r>
                        <a:rPr sz="1250" b="0">
                          <a:solidFill>
                            <a:srgbClr val="898781"/>
                          </a:solidFill>
                          <a:latin typeface="Consolas"/>
                        </a:rPr>
                        <a:t>−0,42</a:t>
                      </a:r>
                    </a:p>
                  </a:txBody>
                  <a:tcPr marL="100584" marR="100584" anchor="ctr">
                    <a:solidFill>
                      <a:srgbClr val="F2F1EC"/>
                    </a:solidFill>
                  </a:tcPr>
                </a:tc>
                <a:tc>
                  <a:txBody>
                    <a:bodyPr/>
                    <a:lstStyle/>
                    <a:p>
                      <a:pPr algn="r">
                        <a:lnSpc>
                          <a:spcPct val="114000"/>
                        </a:lnSpc>
                      </a:pPr>
                      <a:r>
                        <a:rPr sz="1250" b="1">
                          <a:solidFill>
                            <a:srgbClr val="2A78D6"/>
                          </a:solidFill>
                          <a:latin typeface="Consolas"/>
                        </a:rPr>
                        <a:t>+2,04</a:t>
                      </a:r>
                    </a:p>
                  </a:txBody>
                  <a:tcPr marL="100584" marR="100584" anchor="ctr">
                    <a:solidFill>
                      <a:srgbClr val="F2F1EC"/>
                    </a:solidFill>
                  </a:tcPr>
                </a:tc>
                <a:tc>
                  <a:txBody>
                    <a:bodyPr/>
                    <a:lstStyle/>
                    <a:p>
                      <a:pPr algn="r">
                        <a:lnSpc>
                          <a:spcPct val="114000"/>
                        </a:lnSpc>
                      </a:pPr>
                      <a:r>
                        <a:rPr sz="1250" b="0">
                          <a:solidFill>
                            <a:srgbClr val="898781"/>
                          </a:solidFill>
                          <a:latin typeface="Consolas"/>
                        </a:rPr>
                        <a:t>−0,20</a:t>
                      </a:r>
                    </a:p>
                  </a:txBody>
                  <a:tcPr marL="100584" marR="100584" anchor="ctr">
                    <a:solidFill>
                      <a:srgbClr val="F2F1EC"/>
                    </a:solidFill>
                  </a:tcPr>
                </a:tc>
                <a:tc>
                  <a:txBody>
                    <a:bodyPr/>
                    <a:lstStyle/>
                    <a:p>
                      <a:pPr algn="l">
                        <a:lnSpc>
                          <a:spcPct val="114000"/>
                        </a:lnSpc>
                      </a:pPr>
                      <a:r>
                        <a:rPr sz="1050" b="0">
                          <a:solidFill>
                            <a:srgbClr val="52514E"/>
                          </a:solidFill>
                          <a:latin typeface="Segoe UI"/>
                        </a:rPr>
                        <a:t>cự ly 7,32 dặm · cước 38,26 — cao nhất · trội midday 35,1%</a:t>
                      </a:r>
                    </a:p>
                  </a:txBody>
                  <a:tcPr marL="100584" marR="100584" anchor="ctr">
                    <a:solidFill>
                      <a:srgbClr val="F2F1EC"/>
                    </a:solidFill>
                  </a:tcPr>
                </a:tc>
                <a:extLst>
                  <a:ext uri="{0D108BD9-81ED-4DB2-BD59-A6C34878D82A}">
                    <a16:rowId xmlns:a16="http://schemas.microsoft.com/office/drawing/2014/main" val="10002"/>
                  </a:ext>
                </a:extLst>
              </a:tr>
              <a:tr h="713232">
                <a:tc>
                  <a:txBody>
                    <a:bodyPr/>
                    <a:lstStyle/>
                    <a:p>
                      <a:pPr algn="l">
                        <a:lnSpc>
                          <a:spcPct val="114000"/>
                        </a:lnSpc>
                      </a:pPr>
                      <a:r>
                        <a:rPr sz="1050" b="1">
                          <a:solidFill>
                            <a:srgbClr val="0B0B0B"/>
                          </a:solidFill>
                          <a:latin typeface="Segoe UI"/>
                        </a:rPr>
                        <a:t>Cụm 2 · Cuối tuần, trả Flex, tip thấp</a:t>
                      </a:r>
                    </a:p>
                  </a:txBody>
                  <a:tcPr marL="100584" marR="100584" anchor="ctr">
                    <a:solidFill>
                      <a:srgbClr val="EAF2FC"/>
                    </a:solidFill>
                  </a:tcPr>
                </a:tc>
                <a:tc>
                  <a:txBody>
                    <a:bodyPr/>
                    <a:lstStyle/>
                    <a:p>
                      <a:pPr algn="l">
                        <a:lnSpc>
                          <a:spcPct val="114000"/>
                        </a:lnSpc>
                      </a:pPr>
                      <a:r>
                        <a:rPr sz="1050" b="0">
                          <a:solidFill>
                            <a:srgbClr val="52514E"/>
                          </a:solidFill>
                          <a:latin typeface="Consolas"/>
                        </a:rPr>
                        <a:t>6.446 · 32,2%</a:t>
                      </a:r>
                    </a:p>
                  </a:txBody>
                  <a:tcPr marL="100584" marR="100584" anchor="ctr">
                    <a:solidFill>
                      <a:srgbClr val="EAF2FC"/>
                    </a:solidFill>
                  </a:tcPr>
                </a:tc>
                <a:tc>
                  <a:txBody>
                    <a:bodyPr/>
                    <a:lstStyle/>
                    <a:p>
                      <a:pPr algn="r">
                        <a:lnSpc>
                          <a:spcPct val="114000"/>
                        </a:lnSpc>
                      </a:pPr>
                      <a:r>
                        <a:rPr sz="1250" b="0">
                          <a:solidFill>
                            <a:srgbClr val="898781"/>
                          </a:solidFill>
                          <a:latin typeface="Consolas"/>
                        </a:rPr>
                        <a:t>−0,41</a:t>
                      </a:r>
                    </a:p>
                  </a:txBody>
                  <a:tcPr marL="100584" marR="100584" anchor="ctr">
                    <a:solidFill>
                      <a:srgbClr val="EAF2FC"/>
                    </a:solidFill>
                  </a:tcPr>
                </a:tc>
                <a:tc>
                  <a:txBody>
                    <a:bodyPr/>
                    <a:lstStyle/>
                    <a:p>
                      <a:pPr algn="r">
                        <a:lnSpc>
                          <a:spcPct val="114000"/>
                        </a:lnSpc>
                      </a:pPr>
                      <a:r>
                        <a:rPr sz="1250" b="1">
                          <a:solidFill>
                            <a:srgbClr val="2A78D6"/>
                          </a:solidFill>
                          <a:latin typeface="Consolas"/>
                        </a:rPr>
                        <a:t>+0,90</a:t>
                      </a:r>
                    </a:p>
                  </a:txBody>
                  <a:tcPr marL="100584" marR="100584" anchor="ctr">
                    <a:solidFill>
                      <a:srgbClr val="EAF2FC"/>
                    </a:solidFill>
                  </a:tcPr>
                </a:tc>
                <a:tc>
                  <a:txBody>
                    <a:bodyPr/>
                    <a:lstStyle/>
                    <a:p>
                      <a:pPr algn="r">
                        <a:lnSpc>
                          <a:spcPct val="114000"/>
                        </a:lnSpc>
                      </a:pPr>
                      <a:r>
                        <a:rPr sz="1250" b="0">
                          <a:solidFill>
                            <a:srgbClr val="898781"/>
                          </a:solidFill>
                          <a:latin typeface="Consolas"/>
                        </a:rPr>
                        <a:t>−0,21</a:t>
                      </a:r>
                    </a:p>
                  </a:txBody>
                  <a:tcPr marL="100584" marR="100584" anchor="ctr">
                    <a:solidFill>
                      <a:srgbClr val="EAF2FC"/>
                    </a:solidFill>
                  </a:tcPr>
                </a:tc>
                <a:tc>
                  <a:txBody>
                    <a:bodyPr/>
                    <a:lstStyle/>
                    <a:p>
                      <a:pPr algn="r">
                        <a:lnSpc>
                          <a:spcPct val="114000"/>
                        </a:lnSpc>
                      </a:pPr>
                      <a:r>
                        <a:rPr sz="1250" b="1">
                          <a:solidFill>
                            <a:srgbClr val="2A78D6"/>
                          </a:solidFill>
                          <a:latin typeface="Consolas"/>
                        </a:rPr>
                        <a:t>+0,56</a:t>
                      </a:r>
                    </a:p>
                  </a:txBody>
                  <a:tcPr marL="100584" marR="100584" anchor="ctr">
                    <a:solidFill>
                      <a:srgbClr val="EAF2FC"/>
                    </a:solidFill>
                  </a:tcPr>
                </a:tc>
                <a:tc>
                  <a:txBody>
                    <a:bodyPr/>
                    <a:lstStyle/>
                    <a:p>
                      <a:pPr algn="l">
                        <a:lnSpc>
                          <a:spcPct val="114000"/>
                        </a:lnSpc>
                      </a:pPr>
                      <a:r>
                        <a:rPr sz="1050" b="0" dirty="0" err="1">
                          <a:solidFill>
                            <a:srgbClr val="52514E"/>
                          </a:solidFill>
                          <a:latin typeface="Segoe UI"/>
                        </a:rPr>
                        <a:t>cự</a:t>
                      </a:r>
                      <a:r>
                        <a:rPr sz="1050" b="0" dirty="0">
                          <a:solidFill>
                            <a:srgbClr val="52514E"/>
                          </a:solidFill>
                          <a:latin typeface="Segoe UI"/>
                        </a:rPr>
                        <a:t> </a:t>
                      </a:r>
                      <a:r>
                        <a:rPr sz="1050" b="0" dirty="0" err="1">
                          <a:solidFill>
                            <a:srgbClr val="52514E"/>
                          </a:solidFill>
                          <a:latin typeface="Segoe UI"/>
                        </a:rPr>
                        <a:t>ly</a:t>
                      </a:r>
                      <a:r>
                        <a:rPr sz="1050" b="0" dirty="0">
                          <a:solidFill>
                            <a:srgbClr val="52514E"/>
                          </a:solidFill>
                          <a:latin typeface="Segoe UI"/>
                        </a:rPr>
                        <a:t> 3,02 · </a:t>
                      </a:r>
                      <a:r>
                        <a:rPr sz="1050" b="0" dirty="0" err="1">
                          <a:solidFill>
                            <a:srgbClr val="52514E"/>
                          </a:solidFill>
                          <a:latin typeface="Segoe UI"/>
                        </a:rPr>
                        <a:t>cước</a:t>
                      </a:r>
                      <a:r>
                        <a:rPr sz="1050" b="0" dirty="0">
                          <a:solidFill>
                            <a:srgbClr val="52514E"/>
                          </a:solidFill>
                          <a:latin typeface="Segoe UI"/>
                        </a:rPr>
                        <a:t> 22,67 · </a:t>
                      </a:r>
                      <a:r>
                        <a:rPr sz="1050" b="0" dirty="0" err="1">
                          <a:solidFill>
                            <a:srgbClr val="52514E"/>
                          </a:solidFill>
                          <a:latin typeface="Segoe UI"/>
                        </a:rPr>
                        <a:t>trội</a:t>
                      </a:r>
                      <a:r>
                        <a:rPr sz="1050" b="0" dirty="0">
                          <a:solidFill>
                            <a:srgbClr val="52514E"/>
                          </a:solidFill>
                          <a:latin typeface="Segoe UI"/>
                        </a:rPr>
                        <a:t> </a:t>
                      </a:r>
                      <a:r>
                        <a:rPr sz="1050" b="0" dirty="0" err="1">
                          <a:solidFill>
                            <a:srgbClr val="52514E"/>
                          </a:solidFill>
                          <a:latin typeface="Segoe UI"/>
                        </a:rPr>
                        <a:t>late_night</a:t>
                      </a:r>
                      <a:r>
                        <a:rPr sz="1050" b="0" dirty="0">
                          <a:solidFill>
                            <a:srgbClr val="52514E"/>
                          </a:solidFill>
                          <a:latin typeface="Segoe UI"/>
                        </a:rPr>
                        <a:t> 34,3%, </a:t>
                      </a:r>
                      <a:r>
                        <a:rPr sz="1050" b="0" dirty="0" err="1">
                          <a:solidFill>
                            <a:srgbClr val="52514E"/>
                          </a:solidFill>
                          <a:latin typeface="Segoe UI"/>
                        </a:rPr>
                        <a:t>gấp</a:t>
                      </a:r>
                      <a:r>
                        <a:rPr sz="1050" b="0" dirty="0">
                          <a:solidFill>
                            <a:srgbClr val="52514E"/>
                          </a:solidFill>
                          <a:latin typeface="Segoe UI"/>
                        </a:rPr>
                        <a:t> ~</a:t>
                      </a:r>
                      <a:r>
                        <a:rPr lang="en-US" sz="1050" b="0" dirty="0">
                          <a:solidFill>
                            <a:srgbClr val="52514E"/>
                          </a:solidFill>
                          <a:latin typeface="Segoe UI"/>
                        </a:rPr>
                        <a:t>2- </a:t>
                      </a:r>
                      <a:r>
                        <a:rPr sz="1050" b="0" dirty="0">
                          <a:solidFill>
                            <a:srgbClr val="52514E"/>
                          </a:solidFill>
                          <a:latin typeface="Segoe UI"/>
                        </a:rPr>
                        <a:t>3 </a:t>
                      </a:r>
                      <a:r>
                        <a:rPr sz="1050" b="0" dirty="0" err="1">
                          <a:solidFill>
                            <a:srgbClr val="52514E"/>
                          </a:solidFill>
                          <a:latin typeface="Segoe UI"/>
                        </a:rPr>
                        <a:t>lần</a:t>
                      </a:r>
                      <a:r>
                        <a:rPr sz="1050" b="0" dirty="0">
                          <a:solidFill>
                            <a:srgbClr val="52514E"/>
                          </a:solidFill>
                          <a:latin typeface="Segoe UI"/>
                        </a:rPr>
                        <a:t> </a:t>
                      </a:r>
                      <a:r>
                        <a:rPr sz="1050" b="0" dirty="0" err="1">
                          <a:solidFill>
                            <a:srgbClr val="52514E"/>
                          </a:solidFill>
                          <a:latin typeface="Segoe UI"/>
                        </a:rPr>
                        <a:t>hai</a:t>
                      </a:r>
                      <a:r>
                        <a:rPr sz="1050" b="0" dirty="0">
                          <a:solidFill>
                            <a:srgbClr val="52514E"/>
                          </a:solidFill>
                          <a:latin typeface="Segoe UI"/>
                        </a:rPr>
                        <a:t> </a:t>
                      </a:r>
                      <a:r>
                        <a:rPr sz="1050" b="0" dirty="0" err="1">
                          <a:solidFill>
                            <a:srgbClr val="52514E"/>
                          </a:solidFill>
                          <a:latin typeface="Segoe UI"/>
                        </a:rPr>
                        <a:t>cụm</a:t>
                      </a:r>
                      <a:r>
                        <a:rPr sz="1050" b="0" dirty="0">
                          <a:solidFill>
                            <a:srgbClr val="52514E"/>
                          </a:solidFill>
                          <a:latin typeface="Segoe UI"/>
                        </a:rPr>
                        <a:t> kia</a:t>
                      </a:r>
                    </a:p>
                  </a:txBody>
                  <a:tcPr marL="100584" marR="100584" anchor="ctr">
                    <a:solidFill>
                      <a:srgbClr val="EAF2FC"/>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CFC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58368" y="402336"/>
            <a:ext cx="603504" cy="4445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58368" y="585216"/>
            <a:ext cx="10874959" cy="256032"/>
          </a:xfrm>
          <a:prstGeom prst="rect">
            <a:avLst/>
          </a:prstGeom>
          <a:noFill/>
        </p:spPr>
        <p:txBody>
          <a:bodyPr wrap="square" lIns="0" tIns="0" rIns="0" bIns="0" anchor="t">
            <a:spAutoFit/>
          </a:bodyPr>
          <a:lstStyle/>
          <a:p>
            <a:pPr algn="l">
              <a:spcBef>
                <a:spcPts val="0"/>
              </a:spcBef>
              <a:spcAft>
                <a:spcPts val="0"/>
              </a:spcAft>
            </a:pPr>
            <a:r>
              <a:rPr sz="1050" b="0">
                <a:solidFill>
                  <a:srgbClr val="898781"/>
                </a:solidFill>
                <a:latin typeface="Consolas"/>
              </a:rPr>
              <a:t>06  ·  CHỌN NHÓM TARGET  ·  Mục 6</a:t>
            </a:r>
          </a:p>
        </p:txBody>
      </p:sp>
      <p:sp>
        <p:nvSpPr>
          <p:cNvPr id="5" name="TextBox 4"/>
          <p:cNvSpPr txBox="1"/>
          <p:nvPr/>
        </p:nvSpPr>
        <p:spPr>
          <a:xfrm>
            <a:off x="658368" y="896112"/>
            <a:ext cx="9787463" cy="621792"/>
          </a:xfrm>
          <a:prstGeom prst="rect">
            <a:avLst/>
          </a:prstGeom>
          <a:noFill/>
        </p:spPr>
        <p:txBody>
          <a:bodyPr wrap="square" lIns="0" tIns="0" rIns="0" bIns="0" anchor="t">
            <a:spAutoFit/>
          </a:bodyPr>
          <a:lstStyle/>
          <a:p>
            <a:pPr algn="l">
              <a:lnSpc>
                <a:spcPct val="104000"/>
              </a:lnSpc>
              <a:spcBef>
                <a:spcPts val="0"/>
              </a:spcBef>
              <a:spcAft>
                <a:spcPts val="0"/>
              </a:spcAft>
            </a:pPr>
            <a:r>
              <a:rPr sz="2800" b="1">
                <a:solidFill>
                  <a:srgbClr val="0B0B0B"/>
                </a:solidFill>
                <a:latin typeface="Segoe UI"/>
              </a:rPr>
              <a:t>Chọn Cụm 2 cho A/B test</a:t>
            </a:r>
          </a:p>
        </p:txBody>
      </p:sp>
      <p:sp>
        <p:nvSpPr>
          <p:cNvPr id="6" name="TextBox 5"/>
          <p:cNvSpPr txBox="1"/>
          <p:nvPr/>
        </p:nvSpPr>
        <p:spPr>
          <a:xfrm>
            <a:off x="658368" y="1609344"/>
            <a:ext cx="8917466" cy="244298"/>
          </a:xfrm>
          <a:prstGeom prst="rect">
            <a:avLst/>
          </a:prstGeom>
          <a:noFill/>
        </p:spPr>
        <p:txBody>
          <a:bodyPr wrap="square" lIns="0" tIns="0" rIns="0" bIns="0" anchor="t">
            <a:spAutoFit/>
          </a:bodyPr>
          <a:lstStyle/>
          <a:p>
            <a:pPr algn="l">
              <a:lnSpc>
                <a:spcPct val="126000"/>
              </a:lnSpc>
              <a:spcBef>
                <a:spcPts val="0"/>
              </a:spcBef>
              <a:spcAft>
                <a:spcPts val="0"/>
              </a:spcAft>
            </a:pPr>
            <a:r>
              <a:rPr sz="1400" b="0" dirty="0" err="1">
                <a:solidFill>
                  <a:srgbClr val="52514E"/>
                </a:solidFill>
                <a:latin typeface="Segoe UI"/>
              </a:rPr>
              <a:t>Mục</a:t>
            </a:r>
            <a:r>
              <a:rPr sz="1400" b="0" dirty="0">
                <a:solidFill>
                  <a:srgbClr val="52514E"/>
                </a:solidFill>
                <a:latin typeface="Segoe UI"/>
              </a:rPr>
              <a:t> </a:t>
            </a:r>
            <a:r>
              <a:rPr sz="1400" b="0" dirty="0" err="1">
                <a:solidFill>
                  <a:srgbClr val="52514E"/>
                </a:solidFill>
                <a:latin typeface="Segoe UI"/>
              </a:rPr>
              <a:t>tiêu</a:t>
            </a:r>
            <a:r>
              <a:rPr sz="1400" b="0" dirty="0">
                <a:solidFill>
                  <a:srgbClr val="52514E"/>
                </a:solidFill>
                <a:latin typeface="Segoe UI"/>
              </a:rPr>
              <a:t> </a:t>
            </a:r>
            <a:r>
              <a:rPr sz="1400" b="0" dirty="0" err="1">
                <a:solidFill>
                  <a:srgbClr val="52514E"/>
                </a:solidFill>
                <a:latin typeface="Segoe UI"/>
              </a:rPr>
              <a:t>là</a:t>
            </a:r>
            <a:r>
              <a:rPr sz="1400" b="0" dirty="0">
                <a:solidFill>
                  <a:srgbClr val="52514E"/>
                </a:solidFill>
                <a:latin typeface="Segoe UI"/>
              </a:rPr>
              <a:t> </a:t>
            </a:r>
            <a:r>
              <a:rPr sz="1400" b="0" dirty="0" err="1">
                <a:solidFill>
                  <a:srgbClr val="52514E"/>
                </a:solidFill>
                <a:latin typeface="Segoe UI"/>
              </a:rPr>
              <a:t>tăng</a:t>
            </a:r>
            <a:r>
              <a:rPr sz="1400" b="0" dirty="0">
                <a:solidFill>
                  <a:srgbClr val="52514E"/>
                </a:solidFill>
                <a:latin typeface="Segoe UI"/>
              </a:rPr>
              <a:t> incremental trips</a:t>
            </a:r>
          </a:p>
        </p:txBody>
      </p:sp>
      <p:sp>
        <p:nvSpPr>
          <p:cNvPr id="7" name="Rectangle 6"/>
          <p:cNvSpPr/>
          <p:nvPr/>
        </p:nvSpPr>
        <p:spPr>
          <a:xfrm>
            <a:off x="658368" y="6345936"/>
            <a:ext cx="10874959" cy="9525"/>
          </a:xfrm>
          <a:prstGeom prst="rect">
            <a:avLst/>
          </a:prstGeom>
          <a:solidFill>
            <a:srgbClr val="E1E0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58368" y="6464808"/>
            <a:ext cx="8156219" cy="219456"/>
          </a:xfrm>
          <a:prstGeom prst="rect">
            <a:avLst/>
          </a:prstGeom>
          <a:noFill/>
        </p:spPr>
        <p:txBody>
          <a:bodyPr wrap="square" lIns="0" tIns="0" rIns="0" bIns="0" anchor="t">
            <a:spAutoFit/>
          </a:bodyPr>
          <a:lstStyle/>
          <a:p>
            <a:pPr algn="l">
              <a:spcBef>
                <a:spcPts val="0"/>
              </a:spcBef>
              <a:spcAft>
                <a:spcPts val="0"/>
              </a:spcAft>
            </a:pPr>
            <a:r>
              <a:rPr sz="950" b="0">
                <a:solidFill>
                  <a:srgbClr val="898781"/>
                </a:solidFill>
                <a:latin typeface="Consolas"/>
              </a:rPr>
              <a:t>Customer Segmentation  ·  Ride-Hailing Promotions</a:t>
            </a:r>
          </a:p>
        </p:txBody>
      </p:sp>
      <p:sp>
        <p:nvSpPr>
          <p:cNvPr id="9" name="TextBox 8"/>
          <p:cNvSpPr txBox="1"/>
          <p:nvPr/>
        </p:nvSpPr>
        <p:spPr>
          <a:xfrm>
            <a:off x="10344607" y="6464808"/>
            <a:ext cx="1188720" cy="219456"/>
          </a:xfrm>
          <a:prstGeom prst="rect">
            <a:avLst/>
          </a:prstGeom>
          <a:noFill/>
        </p:spPr>
        <p:txBody>
          <a:bodyPr wrap="square" lIns="0" tIns="0" rIns="0" bIns="0" anchor="t">
            <a:spAutoFit/>
          </a:bodyPr>
          <a:lstStyle/>
          <a:p>
            <a:pPr algn="r">
              <a:spcBef>
                <a:spcPts val="0"/>
              </a:spcBef>
              <a:spcAft>
                <a:spcPts val="0"/>
              </a:spcAft>
            </a:pPr>
            <a:r>
              <a:rPr sz="950" b="0">
                <a:solidFill>
                  <a:srgbClr val="898781"/>
                </a:solidFill>
                <a:latin typeface="Consolas"/>
              </a:rPr>
              <a:t>6 / 6</a:t>
            </a:r>
          </a:p>
        </p:txBody>
      </p:sp>
      <p:sp>
        <p:nvSpPr>
          <p:cNvPr id="10" name="Rectangle 9"/>
          <p:cNvSpPr/>
          <p:nvPr/>
        </p:nvSpPr>
        <p:spPr>
          <a:xfrm>
            <a:off x="658368" y="2377440"/>
            <a:ext cx="3490874" cy="2651760"/>
          </a:xfrm>
          <a:prstGeom prst="rect">
            <a:avLst/>
          </a:prstGeom>
          <a:solidFill>
            <a:srgbClr val="EAF2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58368" y="2377440"/>
            <a:ext cx="3490874" cy="4445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59536" y="2596896"/>
            <a:ext cx="3088538" cy="2286000"/>
          </a:xfrm>
          <a:prstGeom prst="rect">
            <a:avLst/>
          </a:prstGeom>
          <a:noFill/>
        </p:spPr>
        <p:txBody>
          <a:bodyPr wrap="square" lIns="0" tIns="0" rIns="0" bIns="0" anchor="t">
            <a:spAutoFit/>
          </a:bodyPr>
          <a:lstStyle/>
          <a:p>
            <a:pPr algn="l">
              <a:spcBef>
                <a:spcPts val="0"/>
              </a:spcBef>
              <a:spcAft>
                <a:spcPts val="0"/>
              </a:spcAft>
            </a:pPr>
            <a:r>
              <a:rPr sz="1050" b="1">
                <a:solidFill>
                  <a:srgbClr val="2A78D6"/>
                </a:solidFill>
                <a:latin typeface="Consolas"/>
              </a:rPr>
              <a:t>CHỌN</a:t>
            </a:r>
          </a:p>
          <a:p>
            <a:pPr algn="l">
              <a:lnSpc>
                <a:spcPct val="110000"/>
              </a:lnSpc>
              <a:spcBef>
                <a:spcPts val="600"/>
              </a:spcBef>
              <a:spcAft>
                <a:spcPts val="0"/>
              </a:spcAft>
            </a:pPr>
            <a:r>
              <a:rPr sz="1400" b="1">
                <a:solidFill>
                  <a:srgbClr val="0B0B0B"/>
                </a:solidFill>
                <a:latin typeface="Segoe UI"/>
              </a:rPr>
              <a:t>Cụm 2 · Cuối tuần, trả Flex</a:t>
            </a:r>
          </a:p>
          <a:p>
            <a:pPr algn="l">
              <a:spcBef>
                <a:spcPts val="400"/>
              </a:spcBef>
              <a:spcAft>
                <a:spcPts val="0"/>
              </a:spcAft>
            </a:pPr>
            <a:r>
              <a:rPr sz="1150" b="0">
                <a:solidFill>
                  <a:srgbClr val="52514E"/>
                </a:solidFill>
                <a:latin typeface="Consolas"/>
              </a:rPr>
              <a:t>6.446 rider  ·  32,2%</a:t>
            </a:r>
          </a:p>
          <a:p>
            <a:pPr algn="l">
              <a:lnSpc>
                <a:spcPct val="126000"/>
              </a:lnSpc>
              <a:spcBef>
                <a:spcPts val="1000"/>
              </a:spcBef>
              <a:spcAft>
                <a:spcPts val="0"/>
              </a:spcAft>
            </a:pPr>
            <a:r>
              <a:rPr sz="1150" b="0">
                <a:solidFill>
                  <a:srgbClr val="52514E"/>
                </a:solidFill>
                <a:latin typeface="Segoe UI"/>
              </a:rPr>
              <a:t>Nhóm nhạy giá nhất. Tỷ lệ trả Flex cao nhất bảng (z +0,90) cho thấy họ để tâm tới cách thanh toán, đi kèm tip dưới trung bình (z −0,41). Trội khung late_night 34,3% — nhu cầu đi chơi và về khuya, loại nhu cầu dời được và kích được.</a:t>
            </a:r>
          </a:p>
        </p:txBody>
      </p:sp>
      <p:sp>
        <p:nvSpPr>
          <p:cNvPr id="13" name="Rectangle 12"/>
          <p:cNvSpPr/>
          <p:nvPr/>
        </p:nvSpPr>
        <p:spPr>
          <a:xfrm>
            <a:off x="4350410" y="2377440"/>
            <a:ext cx="3490874" cy="2651760"/>
          </a:xfrm>
          <a:prstGeom prst="rect">
            <a:avLst/>
          </a:prstGeom>
          <a:solidFill>
            <a:srgbClr val="F2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350410" y="2377440"/>
            <a:ext cx="3490874" cy="44450"/>
          </a:xfrm>
          <a:prstGeom prst="rect">
            <a:avLst/>
          </a:prstGeom>
          <a:solidFill>
            <a:srgbClr val="C3C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51578" y="2596896"/>
            <a:ext cx="3088538" cy="2286000"/>
          </a:xfrm>
          <a:prstGeom prst="rect">
            <a:avLst/>
          </a:prstGeom>
          <a:noFill/>
        </p:spPr>
        <p:txBody>
          <a:bodyPr wrap="square" lIns="0" tIns="0" rIns="0" bIns="0" anchor="t">
            <a:spAutoFit/>
          </a:bodyPr>
          <a:lstStyle/>
          <a:p>
            <a:pPr algn="l">
              <a:spcBef>
                <a:spcPts val="0"/>
              </a:spcBef>
              <a:spcAft>
                <a:spcPts val="0"/>
              </a:spcAft>
            </a:pPr>
            <a:r>
              <a:rPr sz="1050" b="1">
                <a:solidFill>
                  <a:srgbClr val="898781"/>
                </a:solidFill>
                <a:latin typeface="Consolas"/>
              </a:rPr>
              <a:t>LOẠI</a:t>
            </a:r>
          </a:p>
          <a:p>
            <a:pPr algn="l">
              <a:lnSpc>
                <a:spcPct val="110000"/>
              </a:lnSpc>
              <a:spcBef>
                <a:spcPts val="600"/>
              </a:spcBef>
              <a:spcAft>
                <a:spcPts val="0"/>
              </a:spcAft>
            </a:pPr>
            <a:r>
              <a:rPr sz="1400" b="1">
                <a:solidFill>
                  <a:srgbClr val="0B0B0B"/>
                </a:solidFill>
                <a:latin typeface="Segoe UI"/>
              </a:rPr>
              <a:t>Cụm 0 · Nội đô, tip cao</a:t>
            </a:r>
          </a:p>
          <a:p>
            <a:pPr algn="l">
              <a:spcBef>
                <a:spcPts val="400"/>
              </a:spcBef>
              <a:spcAft>
                <a:spcPts val="0"/>
              </a:spcAft>
            </a:pPr>
            <a:r>
              <a:rPr sz="1150" b="0">
                <a:solidFill>
                  <a:srgbClr val="52514E"/>
                </a:solidFill>
                <a:latin typeface="Consolas"/>
              </a:rPr>
              <a:t>10.946 rider  ·  54,7%</a:t>
            </a:r>
          </a:p>
          <a:p>
            <a:pPr algn="l">
              <a:lnSpc>
                <a:spcPct val="126000"/>
              </a:lnSpc>
              <a:spcBef>
                <a:spcPts val="1000"/>
              </a:spcBef>
              <a:spcAft>
                <a:spcPts val="0"/>
              </a:spcAft>
            </a:pPr>
            <a:r>
              <a:rPr sz="1150" b="0">
                <a:solidFill>
                  <a:srgbClr val="52514E"/>
                </a:solidFill>
                <a:latin typeface="Segoe UI"/>
              </a:rPr>
              <a:t>Đông hơn cụm 2 tới 70%, nhưng đã đi đều đặn trong tuần với chặng ngắn 1,70 dặm. Voucher dễ rơi vào chuyến vốn dĩ sẽ xảy ra — tốn ngân sách mà không tạo thêm chuyến.</a:t>
            </a:r>
          </a:p>
        </p:txBody>
      </p:sp>
      <p:sp>
        <p:nvSpPr>
          <p:cNvPr id="16" name="Rectangle 15"/>
          <p:cNvSpPr/>
          <p:nvPr/>
        </p:nvSpPr>
        <p:spPr>
          <a:xfrm>
            <a:off x="8042452" y="2377440"/>
            <a:ext cx="3490874" cy="2651760"/>
          </a:xfrm>
          <a:prstGeom prst="rect">
            <a:avLst/>
          </a:prstGeom>
          <a:solidFill>
            <a:srgbClr val="F2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042452" y="2377440"/>
            <a:ext cx="3490874" cy="44450"/>
          </a:xfrm>
          <a:prstGeom prst="rect">
            <a:avLst/>
          </a:prstGeom>
          <a:solidFill>
            <a:srgbClr val="C3C2B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43620" y="2596896"/>
            <a:ext cx="3088538" cy="2286000"/>
          </a:xfrm>
          <a:prstGeom prst="rect">
            <a:avLst/>
          </a:prstGeom>
          <a:noFill/>
        </p:spPr>
        <p:txBody>
          <a:bodyPr wrap="square" lIns="0" tIns="0" rIns="0" bIns="0" anchor="t">
            <a:spAutoFit/>
          </a:bodyPr>
          <a:lstStyle/>
          <a:p>
            <a:pPr algn="l">
              <a:spcBef>
                <a:spcPts val="0"/>
              </a:spcBef>
              <a:spcAft>
                <a:spcPts val="0"/>
              </a:spcAft>
            </a:pPr>
            <a:r>
              <a:rPr sz="1050" b="1">
                <a:solidFill>
                  <a:srgbClr val="898781"/>
                </a:solidFill>
                <a:latin typeface="Consolas"/>
              </a:rPr>
              <a:t>LOẠI</a:t>
            </a:r>
          </a:p>
          <a:p>
            <a:pPr algn="l">
              <a:lnSpc>
                <a:spcPct val="110000"/>
              </a:lnSpc>
              <a:spcBef>
                <a:spcPts val="600"/>
              </a:spcBef>
              <a:spcAft>
                <a:spcPts val="0"/>
              </a:spcAft>
            </a:pPr>
            <a:r>
              <a:rPr sz="1400" b="1">
                <a:solidFill>
                  <a:srgbClr val="0B0B0B"/>
                </a:solidFill>
                <a:latin typeface="Segoe UI"/>
              </a:rPr>
              <a:t>Cụm 1 · Sân bay / đường dài</a:t>
            </a:r>
          </a:p>
          <a:p>
            <a:pPr algn="l">
              <a:spcBef>
                <a:spcPts val="400"/>
              </a:spcBef>
              <a:spcAft>
                <a:spcPts val="0"/>
              </a:spcAft>
            </a:pPr>
            <a:r>
              <a:rPr sz="1150" b="0">
                <a:solidFill>
                  <a:srgbClr val="52514E"/>
                </a:solidFill>
                <a:latin typeface="Consolas"/>
              </a:rPr>
              <a:t>2.608 rider  ·  13,0%</a:t>
            </a:r>
          </a:p>
          <a:p>
            <a:pPr algn="l">
              <a:lnSpc>
                <a:spcPct val="126000"/>
              </a:lnSpc>
              <a:spcBef>
                <a:spcPts val="1000"/>
              </a:spcBef>
              <a:spcAft>
                <a:spcPts val="0"/>
              </a:spcAft>
            </a:pPr>
            <a:r>
              <a:rPr sz="1150" b="0">
                <a:solidFill>
                  <a:srgbClr val="52514E"/>
                </a:solidFill>
                <a:latin typeface="Segoe UI"/>
              </a:rPr>
              <a:t>Cước cao nhất ($38,26) nên hấp dẫn về doanh thu, nhưng nhu cầu gắn với lịch bay nên khó dịch chuyển bằng khuyến mãi.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1886</TotalTime>
  <Words>866</Words>
  <Application>Microsoft Office PowerPoint</Application>
  <PresentationFormat>Widescreen</PresentationFormat>
  <Paragraphs>113</Paragraphs>
  <Slides>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Nguyen Khanh Linh (S.AI.20K)</cp:lastModifiedBy>
  <cp:revision>28</cp:revision>
  <dcterms:created xsi:type="dcterms:W3CDTF">2013-01-27T09:14:16Z</dcterms:created>
  <dcterms:modified xsi:type="dcterms:W3CDTF">2026-08-08T18:27:53Z</dcterms:modified>
  <cp:category/>
</cp:coreProperties>
</file>