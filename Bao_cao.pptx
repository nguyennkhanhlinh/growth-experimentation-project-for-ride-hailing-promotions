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Bao_cao.pptx.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D9D4"/>
          </a:solidFill>
          <a:ln w="12700">
            <a:solidFill>
              <a:srgbClr val="14D9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0A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&amp; EXPERIMENTATION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052560" y="1645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NYC Yellow Taxi • Q1/2026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9326880" y="731520"/>
            <a:ext cx="2103120" cy="2103120"/>
          </a:xfrm>
          <a:prstGeom prst="ellipse">
            <a:avLst/>
          </a:prstGeom>
          <a:solidFill>
            <a:srgbClr val="1478FF">
              <a:alpha val="28000"/>
            </a:srgbClr>
          </a:solidFill>
          <a:ln w="12700">
            <a:solidFill>
              <a:srgbClr val="147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2971800"/>
            <a:ext cx="1188720" cy="1188720"/>
          </a:xfrm>
          <a:prstGeom prst="ellipse">
            <a:avLst/>
          </a:prstGeom>
          <a:solidFill>
            <a:srgbClr val="14D9D4">
              <a:alpha val="24000"/>
            </a:srgbClr>
          </a:solidFill>
          <a:ln w="12700">
            <a:solidFill>
              <a:srgbClr val="14D9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14D9D4"/>
                </a:solidFill>
              </a:rPr>
              <a:t>GROWTH &amp; EXPERIMENTATION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Từ bài toán kinh doanh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đến quyết định rollout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7919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8D8E8"/>
                </a:solidFill>
              </a:rPr>
              <a:t>Thiết kế roadmap dữ liệu và experimentation để xác định đúng khách hàng, đo uplift và bảo vệ hiệu quả kinh tế.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2121408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187952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D9D4"/>
                </a:solidFill>
              </a:rPr>
              <a:t>10.44M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4672" y="4645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1EE"/>
                </a:solidFill>
              </a:rPr>
              <a:t>clean trips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3977640"/>
            <a:ext cx="2121408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4187952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DA3FF"/>
                </a:solidFill>
              </a:rPr>
              <a:t>20,000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319272" y="4645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1EE"/>
                </a:solidFill>
              </a:rPr>
              <a:t>synthetic riders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3977640"/>
            <a:ext cx="2121408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4187952"/>
            <a:ext cx="1783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D9D4"/>
                </a:solidFill>
              </a:rPr>
              <a:t>42.7%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833872" y="46451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1EE"/>
                </a:solidFill>
              </a:rPr>
              <a:t>target ROI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420624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D9D4"/>
                </a:solidFill>
              </a:rPr>
              <a:t>BUSINESS-LED STORYLINE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45902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  →  Roadmap  →  Evidence  →  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09560" y="5065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Targeted rollout, không rải voucher đại trà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 problem: Voucher có tạo tăng trưởng có lợi nhuận?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Không chỉ cần biết “có uplift”, mà phải biết uplift đến từ ai và có vượt chi phí hay không.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00A8C8">
              <a:alpha val="10000"/>
            </a:srgbClr>
          </a:solidFill>
          <a:ln w="12700">
            <a:solidFill>
              <a:srgbClr val="00A8C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45389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8"/>
                </a:solidFill>
              </a:rPr>
              <a:t>DECISION TO MAKE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</a:rPr>
              <a:t>Có nên triển khai voucher cho toàn bộ khách hàng?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B5B"/>
                </a:solidFill>
              </a:rPr>
              <a:t>Rủi ro của cách làm đại trà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999232"/>
            <a:ext cx="329184" cy="329184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072384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B5B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29809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Subsidize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67712" y="2980944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Trả tiền cho những chuyến vốn đã xảy 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3749040"/>
            <a:ext cx="329184" cy="329184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82219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B5B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37307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Dilution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67712" y="3730752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Uplift trung bình che khuất khác biệt giữa các nhóm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4498848"/>
            <a:ext cx="329184" cy="329184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5720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B5B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44805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False confidence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67712" y="448056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Kết quả tốt một lần nhưng không bền vững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1444752"/>
            <a:ext cx="5925312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6247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Tiêu chí của một quyết định tốt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53328" y="2395728"/>
            <a:ext cx="1060704" cy="393192"/>
          </a:xfrm>
          <a:prstGeom prst="roundRect">
            <a:avLst>
              <a:gd name="adj" fmla="val 13953"/>
            </a:avLst>
          </a:prstGeom>
          <a:solidFill>
            <a:srgbClr val="E8FB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251460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8"/>
                </a:solidFill>
              </a:rPr>
              <a:t>WHO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3488" y="24323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3B53"/>
                </a:solidFill>
              </a:rPr>
              <a:t>Nhóm khách nào phản ứng tốt và đủ lớn?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53328" y="3145536"/>
            <a:ext cx="1060704" cy="393192"/>
          </a:xfrm>
          <a:prstGeom prst="roundRect">
            <a:avLst>
              <a:gd name="adj" fmla="val 13953"/>
            </a:avLst>
          </a:prstGeom>
          <a:solidFill>
            <a:srgbClr val="EA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264408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78FF"/>
                </a:solidFill>
              </a:rPr>
              <a:t>CAUSAL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33488" y="31821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3B53"/>
                </a:solidFill>
              </a:rPr>
              <a:t>Voucher có thực sự tạo thêm chuyến?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53328" y="3895344"/>
            <a:ext cx="1060704" cy="393192"/>
          </a:xfrm>
          <a:prstGeom prst="roundRect">
            <a:avLst>
              <a:gd name="adj" fmla="val 13953"/>
            </a:avLst>
          </a:prstGeom>
          <a:solidFill>
            <a:srgbClr val="E8FB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4014216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8"/>
                </a:solidFill>
              </a:rPr>
              <a:t>ECONOMICS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33488" y="39319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3B53"/>
                </a:solidFill>
              </a:rPr>
              <a:t>Doanh thu biên có phủ voucher và opex?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53328" y="4645152"/>
            <a:ext cx="1060704" cy="393192"/>
          </a:xfrm>
          <a:prstGeom prst="roundRect">
            <a:avLst>
              <a:gd name="adj" fmla="val 13953"/>
            </a:avLst>
          </a:prstGeom>
          <a:solidFill>
            <a:srgbClr val="EA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4764024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78FF"/>
                </a:solidFill>
              </a:rPr>
              <a:t>ROBUSTNESS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33488" y="468172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3B53"/>
                </a:solidFill>
              </a:rPr>
              <a:t>Kết luận có đứng vững khi thay seed/estimator?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81928" y="551383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A77B"/>
                </a:solidFill>
              </a:rPr>
              <a:t>Output cần có: GO / NO-GO theo từng segment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Vì sao cần roadmap theo lớp bằng chứng?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Mỗi bước trả lời một rủi ro kinh doanh trước khi chuyển sang bước tiếp theo.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75104" cy="4160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667512" y="18105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78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1288" y="184708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88A"/>
                </a:solidFill>
              </a:rPr>
              <a:t>Understand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" y="235000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3154680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Nhu cầu xảy ra khi nào, ở đâu, theo hành vi nào?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67512" y="4517136"/>
            <a:ext cx="1627632" cy="1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4754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66788A"/>
                </a:solidFill>
              </a:rPr>
              <a:t>DELIVERABLE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7512" y="50200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Feature foundation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96312" y="3310128"/>
            <a:ext cx="228600" cy="502920"/>
          </a:xfrm>
          <a:prstGeom prst="chevron">
            <a:avLst/>
          </a:prstGeom>
          <a:solidFill>
            <a:srgbClr val="AFC3D7"/>
          </a:solidFill>
          <a:ln w="12700">
            <a:solidFill>
              <a:srgbClr val="AFC3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0632" y="1600200"/>
            <a:ext cx="1975104" cy="4160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4" name="Text 12"/>
          <p:cNvSpPr/>
          <p:nvPr/>
        </p:nvSpPr>
        <p:spPr>
          <a:xfrm>
            <a:off x="2935224" y="18105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78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184708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88A"/>
                </a:solidFill>
              </a:rPr>
              <a:t>Represent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35224" y="235000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Rider-level 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35224" y="3154680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Trip-level chưa đủ để target và randomize theo rider.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935224" y="4517136"/>
            <a:ext cx="1627632" cy="1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5224" y="4754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66788A"/>
                </a:solidFill>
              </a:rPr>
              <a:t>DELIVERABLE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35224" y="50200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Analysis unit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64024" y="3310128"/>
            <a:ext cx="228600" cy="502920"/>
          </a:xfrm>
          <a:prstGeom prst="chevron">
            <a:avLst/>
          </a:prstGeom>
          <a:solidFill>
            <a:srgbClr val="AFC3D7"/>
          </a:solidFill>
          <a:ln w="12700">
            <a:solidFill>
              <a:srgbClr val="AFC3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38344" y="1600200"/>
            <a:ext cx="1975104" cy="4160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23" name="Text 21"/>
          <p:cNvSpPr/>
          <p:nvPr/>
        </p:nvSpPr>
        <p:spPr>
          <a:xfrm>
            <a:off x="5202936" y="18105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78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96712" y="184708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88A"/>
                </a:solidFill>
              </a:rPr>
              <a:t>Prioritize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02936" y="235000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Segmentation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02936" y="3154680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Không phải mọi nhóm đều có cùng khả năng phản ứng.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202936" y="4517136"/>
            <a:ext cx="1627632" cy="1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4754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66788A"/>
                </a:solidFill>
              </a:rPr>
              <a:t>DELIVERABLE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2936" y="50200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Target segment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31736" y="3310128"/>
            <a:ext cx="228600" cy="502920"/>
          </a:xfrm>
          <a:prstGeom prst="chevron">
            <a:avLst/>
          </a:prstGeom>
          <a:solidFill>
            <a:srgbClr val="AFC3D7"/>
          </a:solidFill>
          <a:ln w="12700">
            <a:solidFill>
              <a:srgbClr val="AFC3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06056" y="1600200"/>
            <a:ext cx="1975104" cy="4160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32" name="Text 30"/>
          <p:cNvSpPr/>
          <p:nvPr/>
        </p:nvSpPr>
        <p:spPr>
          <a:xfrm>
            <a:off x="7470648" y="18105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78FF"/>
                </a:solidFill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64424" y="184708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88A"/>
                </a:solidFill>
              </a:rPr>
              <a:t>Prove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70648" y="235000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A/B testing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70648" y="3154680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Tách tác động voucher khỏi khác biệt sẵn có.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470648" y="4517136"/>
            <a:ext cx="1627632" cy="1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0648" y="4754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66788A"/>
                </a:solidFill>
              </a:rPr>
              <a:t>DELIVERABLE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70648" y="50200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Causal uplift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299448" y="3310128"/>
            <a:ext cx="228600" cy="502920"/>
          </a:xfrm>
          <a:prstGeom prst="chevron">
            <a:avLst/>
          </a:prstGeom>
          <a:solidFill>
            <a:srgbClr val="AFC3D7"/>
          </a:solidFill>
          <a:ln w="12700">
            <a:solidFill>
              <a:srgbClr val="AFC3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73768" y="1600200"/>
            <a:ext cx="1975104" cy="4160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14D9D4"/>
            </a:solidFill>
            <a:prstDash val="solid"/>
          </a:ln>
          <a:effectLst/>
        </p:spPr>
      </p:sp>
      <p:sp>
        <p:nvSpPr>
          <p:cNvPr id="41" name="Text 39"/>
          <p:cNvSpPr/>
          <p:nvPr/>
        </p:nvSpPr>
        <p:spPr>
          <a:xfrm>
            <a:off x="9738360" y="181051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C8"/>
                </a:solidFill>
              </a:rPr>
              <a:t>05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32136" y="184708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788A"/>
                </a:solidFill>
              </a:rPr>
              <a:t>Protect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738360" y="235000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Economics + stress test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738360" y="3154680"/>
            <a:ext cx="1627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Chỉ rollout khi có lợi nhuận và kết luận đủ vững.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9738360" y="4517136"/>
            <a:ext cx="1627632" cy="1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38360" y="4754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70" dirty="0">
                <a:solidFill>
                  <a:srgbClr val="66788A"/>
                </a:solidFill>
              </a:rPr>
              <a:t>DELIVERABLE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738360" y="50200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8A77B"/>
                </a:solidFill>
              </a:rPr>
              <a:t>Go / No-Go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60120" y="6016752"/>
            <a:ext cx="1024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C8"/>
                </a:solidFill>
              </a:rPr>
              <a:t>Logic chuyển bước: đủ dữ liệu → target có lý do → causal evidence → unit economics → robustness</a:t>
            </a:r>
            <a:endParaRPr lang="en-US" sz="12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foundation: Biến trip-level thành góc nhìn rider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EDA xác định pattern nền; synthetic layer tạo đơn vị phân tích phù hợp cho targeting và thử nghiệm.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667512" y="1691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78FF"/>
                </a:solidFill>
              </a:rPr>
              <a:t>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7512" y="19933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Peak 17h–21h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4048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18h cao nhất: 693,124 chuyến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25496" y="1481328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9" name="Text 7"/>
          <p:cNvSpPr/>
          <p:nvPr/>
        </p:nvSpPr>
        <p:spPr>
          <a:xfrm>
            <a:off x="2990088" y="1691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C8"/>
                </a:solidFill>
              </a:rPr>
              <a:t>GEO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90088" y="19933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Manhattan 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90088" y="24048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Airport 7.67%, fare và distance cao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48072" y="1481328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3" name="Text 11"/>
          <p:cNvSpPr/>
          <p:nvPr/>
        </p:nvSpPr>
        <p:spPr>
          <a:xfrm>
            <a:off x="5312664" y="1691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93B"/>
                </a:solidFill>
              </a:rPr>
              <a:t>BEHAVIOR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12664" y="19933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Chuyến đi ngắn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12664" y="24048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Median 1.90 mi; 87.5% dưới 30 phút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1847088"/>
            <a:ext cx="594360" cy="685800"/>
          </a:xfrm>
          <a:prstGeom prst="chevron">
            <a:avLst/>
          </a:prstGeom>
          <a:solidFill>
            <a:srgbClr val="14D9D4"/>
          </a:solidFill>
          <a:ln w="12700">
            <a:solidFill>
              <a:srgbClr val="14D9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1444752"/>
            <a:ext cx="3246120" cy="1517904"/>
          </a:xfrm>
          <a:prstGeom prst="roundRect">
            <a:avLst>
              <a:gd name="adj" fmla="val 3614"/>
            </a:avLst>
          </a:prstGeom>
          <a:solidFill>
            <a:srgbClr val="071D3D"/>
          </a:solidFill>
          <a:ln w="12700">
            <a:solidFill>
              <a:srgbClr val="071D3D"/>
            </a:solidFill>
            <a:prstDash val="solid"/>
          </a:ln>
          <a:effectLst/>
        </p:spPr>
      </p:sp>
      <p:sp>
        <p:nvSpPr>
          <p:cNvPr id="18" name="Text 16"/>
          <p:cNvSpPr/>
          <p:nvPr/>
        </p:nvSpPr>
        <p:spPr>
          <a:xfrm>
            <a:off x="8668512" y="1691640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D9D4"/>
                </a:solidFill>
              </a:rPr>
              <a:t>RIDER-LEVEL DATASET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68512" y="2029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20,000 riders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668512" y="24963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features hành vi, thời gian, địa lý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429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Vì sao bước chuyển đổi này quan trọng?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224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8"/>
                </a:solidFill>
              </a:rPr>
              <a:t>Targeting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" y="4626864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Định danh persona và khả năng phản ứng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233672" y="397764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EAF4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224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78FF"/>
                </a:solidFill>
              </a:rPr>
              <a:t>Randomization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4626864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Phân treatment/control tại đúng unit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964424" y="397764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5592" y="4224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8"/>
                </a:solidFill>
              </a:rPr>
              <a:t>Economics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65592" y="4626864"/>
            <a:ext cx="2971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63B53"/>
                </a:solidFill>
              </a:rPr>
              <a:t>Tính uplift, chi phí và lợi nhuận theo rider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1828800" y="5715000"/>
            <a:ext cx="8503920" cy="438912"/>
          </a:xfrm>
          <a:prstGeom prst="roundRect">
            <a:avLst>
              <a:gd name="adj" fmla="val 10417"/>
            </a:avLst>
          </a:prstGeom>
          <a:solidFill>
            <a:srgbClr val="EAFBF6"/>
          </a:solidFill>
          <a:ln w="12700">
            <a:solidFill>
              <a:srgbClr val="C6F0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5843016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A77B"/>
                </a:solidFill>
              </a:rPr>
              <a:t>Kết quả: một analysis unit nhất quán cho segmentation, A/B test và business case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Targeting: Chọn nhóm có “headroom” và logic voucher rõ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K = 3 giúp tách nhóm theo hành vi; quyết định target dựa trên cả quy mô và khả năng tạo incremental trips.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731520" y="1810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88A"/>
                </a:solidFill>
              </a:rPr>
              <a:t>CLUSTER 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764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2A43"/>
                </a:solidFill>
              </a:rPr>
              <a:t>54.7%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Nội đô ngày thường, tip cao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182112"/>
            <a:ext cx="2880360" cy="1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381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63B53"/>
                </a:solidFill>
              </a:rPr>
              <a:t>Volume lớn nhưng rủi ro subsidize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431596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D94B5B">
              <a:alpha val="10000"/>
            </a:srgbClr>
          </a:solidFill>
          <a:ln w="12700">
            <a:solidFill>
              <a:srgbClr val="D94B5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0472" y="437997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B5B"/>
                </a:solidFill>
              </a:rPr>
              <a:t>NO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33672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3" name="Text 11"/>
          <p:cNvSpPr/>
          <p:nvPr/>
        </p:nvSpPr>
        <p:spPr>
          <a:xfrm>
            <a:off x="4462272" y="1810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88A"/>
                </a:solidFill>
              </a:rPr>
              <a:t>CLUSTER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36792" y="1764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2A43"/>
                </a:solidFill>
              </a:rPr>
              <a:t>13.0%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62272" y="23134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Sân bay / đường dài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62272" y="3182112"/>
            <a:ext cx="2880360" cy="1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34381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63B53"/>
                </a:solidFill>
              </a:rPr>
              <a:t>Fare cao nhưng nhu cầu khó kích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48072" y="431596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D94B5B">
              <a:alpha val="10000"/>
            </a:srgbClr>
          </a:solidFill>
          <a:ln w="12700">
            <a:solidFill>
              <a:srgbClr val="D94B5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437997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B5B"/>
                </a:solidFill>
              </a:rPr>
              <a:t>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64424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071D3D"/>
          </a:solidFill>
          <a:ln w="25400">
            <a:solidFill>
              <a:srgbClr val="14D9D4"/>
            </a:solidFill>
            <a:prstDash val="solid"/>
          </a:ln>
          <a:effectLst/>
        </p:spPr>
      </p:sp>
      <p:sp>
        <p:nvSpPr>
          <p:cNvPr id="21" name="Text 19"/>
          <p:cNvSpPr/>
          <p:nvPr/>
        </p:nvSpPr>
        <p:spPr>
          <a:xfrm>
            <a:off x="8193024" y="1810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D9D4"/>
                </a:solidFill>
              </a:rPr>
              <a:t>CLUSTER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67544" y="1764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32.2%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93024" y="23134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Cuối tuần, trả Flex, tip thấp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93024" y="3182112"/>
            <a:ext cx="2880360" cy="1"/>
          </a:xfrm>
          <a:prstGeom prst="line">
            <a:avLst/>
          </a:prstGeom>
          <a:noFill/>
          <a:ln w="12700">
            <a:solidFill>
              <a:srgbClr val="3C53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34381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Đủ lớn, nhạy giá, logic voucher rõ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78824" y="431596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8A77B">
              <a:alpha val="10000"/>
            </a:srgbClr>
          </a:solidFill>
          <a:ln w="12700">
            <a:solidFill>
              <a:srgbClr val="18A77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51976" y="437997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A77B"/>
                </a:solidFill>
              </a:rPr>
              <a:t>TARGET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5230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Decision rule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48840" y="5230368"/>
            <a:ext cx="894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B53"/>
                </a:solidFill>
              </a:rPr>
              <a:t>Ưu tiên segment có khả năng thay đổi hành vi, không chỉ segment có doanh thu hiện tại cao.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74520" y="5715000"/>
            <a:ext cx="8458200" cy="438912"/>
          </a:xfrm>
          <a:prstGeom prst="roundRect">
            <a:avLst>
              <a:gd name="adj" fmla="val 10417"/>
            </a:avLst>
          </a:prstGeom>
          <a:solidFill>
            <a:srgbClr val="EAFBF6"/>
          </a:solidFill>
          <a:ln w="12700">
            <a:solidFill>
              <a:srgbClr val="C6F0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5843016"/>
            <a:ext cx="8092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A77B"/>
                </a:solidFill>
              </a:rPr>
              <a:t>Target = 6,446 riders: khách cuối tuần, trả Flex, tip thấp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Causal evidence: Voucher tạo uplift vượt ngưỡng hòa vốn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Thiết kế thử nghiệm hợp lệ, covariates cân bằng và hiệu quả vừa có ý nghĩa thống kê vừa có ý nghĩa kinh tế.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02920" y="1444752"/>
            <a:ext cx="64008" cy="1325880"/>
          </a:xfrm>
          <a:prstGeom prst="rect">
            <a:avLst/>
          </a:prstGeom>
          <a:solidFill>
            <a:srgbClr val="1478FF"/>
          </a:solidFill>
          <a:ln w="12700">
            <a:solidFill>
              <a:srgbClr val="147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0934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TREATMENT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3,216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04088" y="238658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49.9% target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16352" y="1444752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0" name="Shape 8"/>
          <p:cNvSpPr/>
          <p:nvPr/>
        </p:nvSpPr>
        <p:spPr>
          <a:xfrm>
            <a:off x="2816352" y="1444752"/>
            <a:ext cx="64008" cy="1325880"/>
          </a:xfrm>
          <a:prstGeom prst="rect">
            <a:avLst/>
          </a:prstGeom>
          <a:solidFill>
            <a:srgbClr val="00A8C8"/>
          </a:solidFill>
          <a:ln w="12700">
            <a:solidFill>
              <a:srgbClr val="00A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60934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CONTROL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920240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3,230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017520" y="238658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50.1% target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29784" y="1444752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5" name="Shape 13"/>
          <p:cNvSpPr/>
          <p:nvPr/>
        </p:nvSpPr>
        <p:spPr>
          <a:xfrm>
            <a:off x="5129784" y="1444752"/>
            <a:ext cx="64008" cy="1325880"/>
          </a:xfrm>
          <a:prstGeom prst="rect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160934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SRM P-VALUE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0952" y="1920240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0.8714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330952" y="238658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không mismatch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43216" y="1444752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20" name="Shape 18"/>
          <p:cNvSpPr/>
          <p:nvPr/>
        </p:nvSpPr>
        <p:spPr>
          <a:xfrm>
            <a:off x="7443216" y="1444752"/>
            <a:ext cx="64008" cy="13258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160934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MAX SMD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44384" y="1920240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0.058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644384" y="238658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covariates cân bằng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56648" y="1444752"/>
            <a:ext cx="1883664" cy="1325880"/>
          </a:xfrm>
          <a:prstGeom prst="roundRect">
            <a:avLst>
              <a:gd name="adj" fmla="val 5517"/>
            </a:avLst>
          </a:prstGeom>
          <a:solidFill>
            <a:srgbClr val="071D3D"/>
          </a:solidFill>
          <a:ln w="12700">
            <a:solidFill>
              <a:srgbClr val="071D3D"/>
            </a:solidFill>
            <a:prstDash val="solid"/>
          </a:ln>
          <a:effectLst/>
        </p:spPr>
      </p:sp>
      <p:sp>
        <p:nvSpPr>
          <p:cNvPr id="25" name="Text 23"/>
          <p:cNvSpPr/>
          <p:nvPr/>
        </p:nvSpPr>
        <p:spPr>
          <a:xfrm>
            <a:off x="9912096" y="168249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D9D4"/>
                </a:solidFill>
              </a:rPr>
              <a:t>RANDOMIZATION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912096" y="2039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PASS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502920" y="3273552"/>
            <a:ext cx="717804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28" name="Text 26"/>
          <p:cNvSpPr/>
          <p:nvPr/>
        </p:nvSpPr>
        <p:spPr>
          <a:xfrm>
            <a:off x="804672" y="35844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88A"/>
                </a:solidFill>
              </a:rPr>
              <a:t>Uplift / rider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39136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</a:rPr>
              <a:t>1.967 trips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804672" y="44622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B53"/>
                </a:solidFill>
              </a:rPr>
              <a:t>95% CI  [1.690, 2.244]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01568" y="4224528"/>
            <a:ext cx="3383280" cy="1"/>
          </a:xfrm>
          <a:prstGeom prst="line">
            <a:avLst/>
          </a:prstGeom>
          <a:noFill/>
          <a:ln w="25400">
            <a:solidFill>
              <a:srgbClr val="AFC3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01568" y="4151376"/>
            <a:ext cx="1" cy="146304"/>
          </a:xfrm>
          <a:prstGeom prst="line">
            <a:avLst/>
          </a:prstGeom>
          <a:noFill/>
          <a:ln w="12700">
            <a:solidFill>
              <a:srgbClr val="7D91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33425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88A"/>
                </a:solidFill>
              </a:rPr>
              <a:t>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18888" y="4151376"/>
            <a:ext cx="1" cy="146304"/>
          </a:xfrm>
          <a:prstGeom prst="line">
            <a:avLst/>
          </a:prstGeom>
          <a:noFill/>
          <a:ln w="12700">
            <a:solidFill>
              <a:srgbClr val="7D91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33425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88A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6208" y="4151376"/>
            <a:ext cx="1" cy="146304"/>
          </a:xfrm>
          <a:prstGeom prst="line">
            <a:avLst/>
          </a:prstGeom>
          <a:noFill/>
          <a:ln w="12700">
            <a:solidFill>
              <a:srgbClr val="7D91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433425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88A"/>
                </a:solidFill>
              </a:rPr>
              <a:t>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55060" y="3767328"/>
            <a:ext cx="1" cy="868680"/>
          </a:xfrm>
          <a:prstGeom prst="line">
            <a:avLst/>
          </a:prstGeom>
          <a:noFill/>
          <a:ln w="25400">
            <a:solidFill>
              <a:srgbClr val="D94B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7588" y="335584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4B5B"/>
                </a:solidFill>
              </a:rPr>
              <a:t>Breakeven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94B5B"/>
                </a:solidFill>
              </a:rPr>
              <a:t>1.378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96981" y="4224528"/>
            <a:ext cx="784912" cy="1"/>
          </a:xfrm>
          <a:prstGeom prst="line">
            <a:avLst/>
          </a:prstGeom>
          <a:noFill/>
          <a:ln w="76200">
            <a:solidFill>
              <a:srgbClr val="1478FF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6116284" y="4151376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49651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A77B"/>
                </a:solidFill>
              </a:rPr>
              <a:t>Cận dưới CI &gt; breakeven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73568" y="3273552"/>
            <a:ext cx="3666744" cy="2359152"/>
          </a:xfrm>
          <a:prstGeom prst="roundRect">
            <a:avLst>
              <a:gd name="adj" fmla="val 3101"/>
            </a:avLst>
          </a:prstGeom>
          <a:solidFill>
            <a:srgbClr val="EAFBF6"/>
          </a:solidFill>
          <a:ln w="12700">
            <a:solidFill>
              <a:srgbClr val="C6F0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47888" y="3547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A77B"/>
                </a:solidFill>
              </a:rPr>
              <a:t>GO CRITERIA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47888" y="3931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B53"/>
                </a:solidFill>
              </a:rPr>
              <a:t>Relative lift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92640" y="3931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2A43"/>
                </a:solidFill>
              </a:rPr>
              <a:t>26.9%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47888" y="4443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B53"/>
                </a:solidFill>
              </a:rPr>
              <a:t>Marginal revenue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692640" y="44439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2A43"/>
                </a:solidFill>
              </a:rPr>
              <a:t>$8.49 / rider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247888" y="4956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B53"/>
                </a:solidFill>
              </a:rPr>
              <a:t>Voucher 0-trip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692640" y="49560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2A43"/>
                </a:solidFill>
              </a:rPr>
              <a:t>13.81% ≤ 20%</a:t>
            </a:r>
            <a:endParaRPr lang="en-US" sz="10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Business case: Có lợi nhuận và đủ vững để rollout có kiểm soát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Kết luận không phụ thuộc vào một seed, một estimator hay một lần chia mẫu.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298448"/>
          </a:xfrm>
          <a:prstGeom prst="rect">
            <a:avLst/>
          </a:prstGeom>
          <a:solidFill>
            <a:srgbClr val="1478FF"/>
          </a:solidFill>
          <a:ln w="12700">
            <a:solidFill>
              <a:srgbClr val="147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81912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INCREMENTAL TRIPS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1892808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12,679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04088" y="233172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trên target cluster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90672" y="1417320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0" name="Shape 8"/>
          <p:cNvSpPr/>
          <p:nvPr/>
        </p:nvSpPr>
        <p:spPr>
          <a:xfrm>
            <a:off x="3090672" y="1417320"/>
            <a:ext cx="64008" cy="129844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81912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TOTAL COST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892808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$40,288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voucher + opex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78424" y="1417320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5" name="Shape 13"/>
          <p:cNvSpPr/>
          <p:nvPr/>
        </p:nvSpPr>
        <p:spPr>
          <a:xfrm>
            <a:off x="5678424" y="1417320"/>
            <a:ext cx="64008" cy="1298448"/>
          </a:xfrm>
          <a:prstGeom prst="rect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9592" y="1581912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NET PROFIT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79592" y="1892808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$17,206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879592" y="233172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sau chi phí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66176" y="1417320"/>
            <a:ext cx="2423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20" name="Shape 18"/>
          <p:cNvSpPr/>
          <p:nvPr/>
        </p:nvSpPr>
        <p:spPr>
          <a:xfrm>
            <a:off x="8266176" y="1417320"/>
            <a:ext cx="64008" cy="1298448"/>
          </a:xfrm>
          <a:prstGeom prst="rect">
            <a:avLst/>
          </a:prstGeom>
          <a:solidFill>
            <a:srgbClr val="00A8C8"/>
          </a:solidFill>
          <a:ln w="12700">
            <a:solidFill>
              <a:srgbClr val="00A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1581912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88A"/>
                </a:solidFill>
              </a:rPr>
              <a:t>ROI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67344" y="1892808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42.7%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467344" y="2331720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63B53"/>
                </a:solidFill>
              </a:rPr>
              <a:t>target rollout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18211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A8C8">
              <a:alpha val="10000"/>
            </a:srgbClr>
          </a:solidFill>
          <a:ln w="12700">
            <a:solidFill>
              <a:srgbClr val="00A8C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2461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C8"/>
                </a:solidFill>
              </a:rPr>
              <a:t>STRESS TEST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" y="3721608"/>
            <a:ext cx="182880" cy="182880"/>
          </a:xfrm>
          <a:prstGeom prst="ellipse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73989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41248" y="37033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Đổi seed KMeans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54680" y="37033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Jaccard 0.9786–1.0000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0352" y="4160520"/>
            <a:ext cx="182880" cy="182880"/>
          </a:xfrm>
          <a:prstGeom prst="ellipse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17880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1248" y="41422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Bootstrap segmentation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54680" y="41422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99.8% giữ target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" y="4599432"/>
            <a:ext cx="182880" cy="182880"/>
          </a:xfrm>
          <a:prstGeom prst="ellipse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61772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41248" y="45811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Đổi estimator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54680" y="45811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Tất cả vượt breakeven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0352" y="5038344"/>
            <a:ext cx="182880" cy="182880"/>
          </a:xfrm>
          <a:prstGeom prst="ellipse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505663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1248" y="50200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Bỏ từng block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154680" y="50200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10/10 vẫn vượt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0352" y="5477256"/>
            <a:ext cx="182880" cy="182880"/>
          </a:xfrm>
          <a:prstGeom prst="ellipse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549554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41248" y="54589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B53"/>
                </a:solidFill>
              </a:rPr>
              <a:t>Bootstrap CI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154680" y="5458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A43"/>
                </a:solidFill>
              </a:rPr>
              <a:t>100% vượt breakeven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63640" y="39867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Không cần “tin” vào một mô hình duy nhất.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086600" y="4334522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442596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ROBUST ENOUGH TO PILOT</a:t>
            </a:r>
            <a:endParaRPr lang="en-US" sz="9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Recommendation: Rollout có chọn lọc, không rải voucher đại trà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Tối ưu ngân sách bằng cách gắn eligibility với segment có CATE vượt breakeven riêng.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22392" cy="1874520"/>
          </a:xfrm>
          <a:prstGeom prst="roundRect">
            <a:avLst>
              <a:gd name="adj" fmla="val 3902"/>
            </a:avLst>
          </a:prstGeom>
          <a:solidFill>
            <a:srgbClr val="FFF3F4"/>
          </a:solidFill>
          <a:ln w="12700">
            <a:solidFill>
              <a:srgbClr val="F3C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19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B5B"/>
                </a:solidFill>
              </a:rPr>
              <a:t>MASS ROLLOUT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2075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</a:rPr>
              <a:t>20,000 riders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4672" y="25877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B53"/>
                </a:solidFill>
              </a:rPr>
              <a:t>Lợi nhuận  -$1,500   |   ROI  -1.2%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96512" y="1956816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D94B5B">
              <a:alpha val="10000"/>
            </a:srgbClr>
          </a:solidFill>
          <a:ln w="12700">
            <a:solidFill>
              <a:srgbClr val="D94B5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9664" y="2020824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B5B"/>
                </a:solidFill>
              </a:rPr>
              <a:t>STOP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22392" cy="1874520"/>
          </a:xfrm>
          <a:prstGeom prst="roundRect">
            <a:avLst>
              <a:gd name="adj" fmla="val 3902"/>
            </a:avLst>
          </a:prstGeom>
          <a:solidFill>
            <a:srgbClr val="EAFBF6"/>
          </a:solidFill>
          <a:ln w="25400">
            <a:solidFill>
              <a:srgbClr val="BFE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A77B"/>
                </a:solidFill>
              </a:rPr>
              <a:t>TARGETED ROLLOUT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19672" y="2075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</a:rPr>
              <a:t>6,446 riders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19672" y="25877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B53"/>
                </a:solidFill>
              </a:rPr>
              <a:t>Lợi nhuận  $17,206   |   ROI  42.7%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802368" y="1956816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8A77B">
              <a:alpha val="10000"/>
            </a:srgbClr>
          </a:solidFill>
          <a:ln w="12700">
            <a:solidFill>
              <a:srgbClr val="18A7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2020824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A77B"/>
                </a:solidFill>
              </a:rPr>
              <a:t>GO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73075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Roadmap triển khai đề xuất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4224528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18" name="Shape 16"/>
          <p:cNvSpPr/>
          <p:nvPr/>
        </p:nvSpPr>
        <p:spPr>
          <a:xfrm>
            <a:off x="704088" y="4507992"/>
            <a:ext cx="457200" cy="457200"/>
          </a:xfrm>
          <a:prstGeom prst="ellipse">
            <a:avLst/>
          </a:prstGeom>
          <a:solidFill>
            <a:srgbClr val="1478FF"/>
          </a:solidFill>
          <a:ln w="12700">
            <a:solidFill>
              <a:srgbClr val="147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6451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44256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Pilot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800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B53"/>
                </a:solidFill>
              </a:rPr>
              <a:t>Giới hạn ngân sách và thời gian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95928" y="4599432"/>
            <a:ext cx="219456" cy="411480"/>
          </a:xfrm>
          <a:prstGeom prst="chevron">
            <a:avLst/>
          </a:prstGeom>
          <a:solidFill>
            <a:srgbClr val="AFC3D7"/>
          </a:solidFill>
          <a:ln w="12700">
            <a:solidFill>
              <a:srgbClr val="AFC3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33672" y="4224528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24" name="Shape 22"/>
          <p:cNvSpPr/>
          <p:nvPr/>
        </p:nvSpPr>
        <p:spPr>
          <a:xfrm>
            <a:off x="4434840" y="4507992"/>
            <a:ext cx="457200" cy="457200"/>
          </a:xfrm>
          <a:prstGeom prst="ellipse">
            <a:avLst/>
          </a:prstGeom>
          <a:solidFill>
            <a:srgbClr val="1478FF"/>
          </a:solidFill>
          <a:ln w="12700">
            <a:solidFill>
              <a:srgbClr val="147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6451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56632" y="44256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Monitor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56632" y="4800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B53"/>
                </a:solidFill>
              </a:rPr>
              <a:t>SRM, uplift, cost, 0-trip rate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4599432"/>
            <a:ext cx="219456" cy="411480"/>
          </a:xfrm>
          <a:prstGeom prst="chevron">
            <a:avLst/>
          </a:prstGeom>
          <a:solidFill>
            <a:srgbClr val="AFC3D7"/>
          </a:solidFill>
          <a:ln w="12700">
            <a:solidFill>
              <a:srgbClr val="AFC3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64424" y="4224528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  <a:effectLst/>
        </p:spPr>
      </p:sp>
      <p:sp>
        <p:nvSpPr>
          <p:cNvPr id="30" name="Shape 28"/>
          <p:cNvSpPr/>
          <p:nvPr/>
        </p:nvSpPr>
        <p:spPr>
          <a:xfrm>
            <a:off x="8165592" y="4507992"/>
            <a:ext cx="457200" cy="457200"/>
          </a:xfrm>
          <a:prstGeom prst="ellipse">
            <a:avLst/>
          </a:prstGeom>
          <a:solidFill>
            <a:srgbClr val="18A77B"/>
          </a:solidFill>
          <a:ln w="12700">
            <a:solidFill>
              <a:srgbClr val="18A7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46451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87384" y="44256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Scale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87384" y="4800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B53"/>
                </a:solidFill>
              </a:rPr>
              <a:t>Mở rộng nếu CI và ROI giữ vững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54480" y="5806440"/>
            <a:ext cx="9070848" cy="411480"/>
          </a:xfrm>
          <a:prstGeom prst="roundRect">
            <a:avLst>
              <a:gd name="adj" fmla="val 11111"/>
            </a:avLst>
          </a:prstGeom>
          <a:solidFill>
            <a:srgbClr val="071D3D"/>
          </a:solidFill>
          <a:ln w="12700">
            <a:solidFill>
              <a:srgbClr val="071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5925312"/>
            <a:ext cx="8613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FINAL: Rollout voucher cho khách cuối tuần, trả Flex, tip thấp</a:t>
            </a:r>
            <a:endParaRPr lang="en-US" sz="11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190A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1090</Words>
  <Application>Microsoft Office PowerPoint</Application>
  <PresentationFormat>Widescreen</PresentationFormat>
  <Paragraphs>221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VSF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&amp; Experimentation Project</dc:title>
  <dc:subject>Growth &amp; Experimentation Project - business-led narrative</dc:subject>
  <dc:creator>Đặng Thị Xuân (VSF-KDVHGSM-DL&amp;AI)</dc:creator>
  <cp:lastModifiedBy>Nguyen Khanh Linh (S.AI.20K)</cp:lastModifiedBy>
  <cp:revision>3</cp:revision>
  <dcterms:created xsi:type="dcterms:W3CDTF">2026-08-20T10:56:02Z</dcterms:created>
  <dcterms:modified xsi:type="dcterms:W3CDTF">2026-08-21T04:29:50Z</dcterms:modified>
</cp:coreProperties>
</file>