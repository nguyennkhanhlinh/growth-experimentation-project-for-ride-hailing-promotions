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Growth &amp; Experimentation Project deck.</a:t>
            </a:r>
          </a:p>
          <a:p>
            <a:r>
              <a:t>- User-provided visual reference for slide-1 composition.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https://github.com/nguyennkhanhlinh/Growth-Experimentation-Project-for-Ride-Hailing-Promotions/blob/main/02.%20Synthetic_data/gen_synthetic_data_v_final.ipynb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38E1A-EA46-4E75-9F23-EC1FDC897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57B737-790B-4CA1-9064-32C256D72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17A52-EF11-40F7-9005-2903F78E1A2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3BC3A-F97D-49A3-A34D-3361C0C7168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79815-2197-4691-8ED0-64DBF23D10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CB765-7E8C-45CE-9F58-F62B53A86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B3CCC-887B-4DB1-B871-8095570BF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9AE7-4D7D-452A-A841-DC20408C2E3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B03D3-DFAC-4BC5-B798-78CC97D8DB2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72D5-2ABF-4B20-81D4-7D5B22BCEE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9F847-1E2F-41C5-BBA4-65527A9C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6F6EE-624A-4F0C-A56A-B5A050A7BC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083F6C-9F8C-47C2-A61B-7A84160FBD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F7CE4-2C96-480C-B059-999569311D7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F9C64-CD82-42E7-B7C6-1299EA56EE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386D-7CA2-4C61-9590-A75C219B2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26C89-3A19-455E-AB9B-84254A694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5F7C53-7E73-4014-B57B-6DD68D5B86B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00B28-16C0-4447-B9FC-81A08E0D23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282F5-692B-4E01-ACD3-65CACDAD0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AA96C9-CD4A-47C7-A2FD-344C1C2192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F8B86-7919-4DB9-B29D-D2B6563C5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C505E-111B-48BF-B814-D75473A44F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5BE3FC-FDFD-4E4B-AE62-7315E0D300CF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2016B-6B41-4AB4-BADD-BCB11BB8AE8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D9CE2D-BCC3-4281-98CB-471106E63548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4CB45E-6C7A-4A52-A5E1-444D20571F4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4C766-5B2D-4AD6-AF32-1C99F83E32E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36464-2E7A-449A-A3CE-A08D6CA2B1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A45E8-A716-4E3B-8691-CC0555AE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8D9DBD-1A6F-48FF-BED1-9BE5015C7A8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9DD6E7-ED82-4335-B0F8-30BE31B183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D3A85C-ED71-41D6-B678-AE7CB1BFD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5F5AE1-E5C2-4A3C-BE73-8A1B9269972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95ECB7-5302-47BD-8777-A343C078CB0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2B929-DAA0-477B-B847-0AED634420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6B702-C6B4-471C-8E0B-199BE3529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DD3B7-F37F-44A8-9E32-FD64E7AED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56896-5ADE-491B-9B07-71216EA930A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8D9EAE-120C-4D1C-B39F-EAF4357B7C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D5E14-6842-4ECE-AB81-F0E9B761AC1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FB1CF4-E21F-4C5B-B7EA-8533455A73B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E8D2D-75B4-472E-BF3E-4627E05B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3D3AE5-F492-42C1-A92F-0F0D088C32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862908-F4FB-4408-8B4F-6A85191C93E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1BDB6-9C65-4568-8D92-7BB4000D89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E54FC9-0A9B-417D-8465-2177C73670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BDD72F-0D27-4D43-AE9D-14F5270508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0B9A-BD82-4E10-95DD-1244D14A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2598DF-31E4-4B5F-863B-E5E348363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13558-33C4-4806-ACE3-5B724B55E5B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A483A-6873-4D07-A951-5583CF08E2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92A99-5F54-44DC-896E-9FB2E75CA6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4D3B57-452D-486D-8703-13A3A0DCF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F6BD60-EA66-4C75-A795-AAF566D22D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5AC9ED-3578-4FA6-A399-15669DC833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C3518-99DE-4963-9CB0-1D4828D14D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24D5F-BE08-4485-B452-AE069C12B9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4AB790-52C8-4FF1-80D7-C54356674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35531-58B9-4828-A5E3-0885A880A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CF3D85-595F-43EA-935D-E6BF4B1D6F69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8/20/2026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6EBD5-31D1-4CB2-A567-48CF1B3128A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00224-E6B3-4D61-B576-96687F5AB3D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AFDFF"/>
            </a:gs>
            <a:gs pos="100000">
              <a:srgbClr val="EAF5FF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E746EA-35C7-42B4-A5CA-B79E4A0358F4}"/>
              </a:ext>
            </a:extLst>
          </p:cNvPr>
          <p:cNvSpPr>
            <a:spLocks noGrp="1"/>
          </p:cNvSpPr>
          <p:nvPr/>
        </p:nvSpPr>
        <p:spPr>
          <a:xfrm>
            <a:off x="495300" y="628650"/>
            <a:ext cx="7239000" cy="5623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3450" b="1">
                <a:solidFill>
                  <a:srgbClr val="071D3D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71D3D"/>
                </a:solidFill>
                <a:latin typeface="Aptos"/>
                <a:ea typeface="Aptos"/>
                <a:cs typeface="Aptos"/>
              </a:rPr>
              <a:t>Growth &amp; Experimentation Project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21ED29-EFAE-4687-AA46-B7B698E48A8F}"/>
              </a:ext>
            </a:extLst>
          </p:cNvPr>
          <p:cNvSpPr>
            <a:spLocks noGrp="1"/>
          </p:cNvSpPr>
          <p:nvPr/>
        </p:nvSpPr>
        <p:spPr>
          <a:xfrm>
            <a:off x="495300" y="1219200"/>
            <a:ext cx="71437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425" b="0">
                <a:solidFill>
                  <a:srgbClr val="4C627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C627D"/>
                </a:solidFill>
                <a:latin typeface="Aptos"/>
                <a:ea typeface="Aptos"/>
                <a:cs typeface="Aptos"/>
              </a:rPr>
              <a:t>Phân tích dữ liệu ride-hailing và thiết kế pipeline experimentation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32BB5C-DBCB-4B34-A5E7-8B5294D4EB9C}"/>
              </a:ext>
            </a:extLst>
          </p:cNvPr>
          <p:cNvSpPr>
            <a:spLocks noGrp="1"/>
          </p:cNvSpPr>
          <p:nvPr/>
        </p:nvSpPr>
        <p:spPr>
          <a:xfrm>
            <a:off x="495300" y="1752600"/>
            <a:ext cx="3714750" cy="51435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none" lIns="133350" tIns="95250" rIns="133350" bIns="95250" anchor="ctr">
            <a:noAutofit/>
          </a:bodyPr>
          <a:lstStyle/>
          <a:p>
            <a:pPr algn="ctr">
              <a:buNone/>
              <a:defRPr sz="1125" b="1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NYC Yellow Taxi  •  Q1/2026  •  20 features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BB5D890-1D52-44B8-97C9-3C5BC3B03AA2}"/>
              </a:ext>
            </a:extLst>
          </p:cNvPr>
          <p:cNvSpPr>
            <a:spLocks noGrp="1"/>
          </p:cNvSpPr>
          <p:nvPr/>
        </p:nvSpPr>
        <p:spPr>
          <a:xfrm>
            <a:off x="8191500" y="1524000"/>
            <a:ext cx="3352800" cy="4057650"/>
          </a:xfrm>
          <a:prstGeom prst="roundRect">
            <a:avLst>
              <a:gd name="adj" fmla="val 5682"/>
            </a:avLst>
          </a:prstGeom>
          <a:gradFill>
            <a:gsLst>
              <a:gs pos="0">
                <a:srgbClr val="082B5A"/>
              </a:gs>
              <a:gs pos="100000">
                <a:srgbClr val="041B38"/>
              </a:gs>
            </a:gsLst>
            <a:lin ang="10800000"/>
          </a:gradFill>
          <a:ln w="9525">
            <a:solidFill>
              <a:srgbClr val="0B3B7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7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F84E14-DBD7-4371-AE97-355F09B03102}"/>
              </a:ext>
            </a:extLst>
          </p:cNvPr>
          <p:cNvSpPr>
            <a:spLocks noGrp="1"/>
          </p:cNvSpPr>
          <p:nvPr/>
        </p:nvSpPr>
        <p:spPr>
          <a:xfrm>
            <a:off x="8420100" y="18669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41B38"/>
          </a:solidFill>
          <a:ln w="9525">
            <a:solidFill>
              <a:srgbClr val="174E85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14EA05-EB01-4C1B-8192-57F25A5B738D}"/>
              </a:ext>
            </a:extLst>
          </p:cNvPr>
          <p:cNvSpPr>
            <a:spLocks noGrp="1"/>
          </p:cNvSpPr>
          <p:nvPr/>
        </p:nvSpPr>
        <p:spPr>
          <a:xfrm>
            <a:off x="9182100" y="180975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CLEAN TRIP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80E31A-6EF2-4D15-ABF8-D077016F64D4}"/>
              </a:ext>
            </a:extLst>
          </p:cNvPr>
          <p:cNvSpPr>
            <a:spLocks noGrp="1"/>
          </p:cNvSpPr>
          <p:nvPr/>
        </p:nvSpPr>
        <p:spPr>
          <a:xfrm>
            <a:off x="9182100" y="2038350"/>
            <a:ext cx="20955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14D9D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D9D4"/>
                </a:solidFill>
                <a:latin typeface="Aptos"/>
                <a:ea typeface="Aptos"/>
                <a:cs typeface="Aptos"/>
              </a:rPr>
              <a:t>10.44M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04EAFC-A455-4EF4-B4E7-5E2DED4BEF8C}"/>
              </a:ext>
            </a:extLst>
          </p:cNvPr>
          <p:cNvSpPr>
            <a:spLocks noGrp="1"/>
          </p:cNvSpPr>
          <p:nvPr/>
        </p:nvSpPr>
        <p:spPr>
          <a:xfrm>
            <a:off x="9182100" y="245745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chuyến sau làm sạch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ED11E5-7DF5-43C3-B4CA-FCBC2B051B4E}"/>
              </a:ext>
            </a:extLst>
          </p:cNvPr>
          <p:cNvSpPr>
            <a:spLocks noGrp="1"/>
          </p:cNvSpPr>
          <p:nvPr/>
        </p:nvSpPr>
        <p:spPr>
          <a:xfrm>
            <a:off x="8420100" y="31242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41B38"/>
          </a:solidFill>
          <a:ln w="9525">
            <a:solidFill>
              <a:srgbClr val="174E85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132807-8F20-4D6B-B86A-CBBA0E4B6BA6}"/>
              </a:ext>
            </a:extLst>
          </p:cNvPr>
          <p:cNvSpPr>
            <a:spLocks noGrp="1"/>
          </p:cNvSpPr>
          <p:nvPr/>
        </p:nvSpPr>
        <p:spPr>
          <a:xfrm>
            <a:off x="8420100" y="2762250"/>
            <a:ext cx="2895600" cy="14288"/>
          </a:xfrm>
          <a:prstGeom prst="rect">
            <a:avLst/>
          </a:prstGeom>
          <a:solidFill>
            <a:srgbClr val="3E648B"/>
          </a:solidFill>
          <a:ln w="0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5AA343-825E-421F-900D-E561C0317199}"/>
              </a:ext>
            </a:extLst>
          </p:cNvPr>
          <p:cNvSpPr>
            <a:spLocks noGrp="1"/>
          </p:cNvSpPr>
          <p:nvPr/>
        </p:nvSpPr>
        <p:spPr>
          <a:xfrm>
            <a:off x="9182100" y="306705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SYNTHETIC RIDERS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974604-7749-4674-93E6-6697FDEFBE77}"/>
              </a:ext>
            </a:extLst>
          </p:cNvPr>
          <p:cNvSpPr>
            <a:spLocks noGrp="1"/>
          </p:cNvSpPr>
          <p:nvPr/>
        </p:nvSpPr>
        <p:spPr>
          <a:xfrm>
            <a:off x="9182100" y="3295650"/>
            <a:ext cx="20955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20,000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DE74C2-A32C-41FE-BCC4-6E6E282A5A7D}"/>
              </a:ext>
            </a:extLst>
          </p:cNvPr>
          <p:cNvSpPr>
            <a:spLocks noGrp="1"/>
          </p:cNvSpPr>
          <p:nvPr/>
        </p:nvSpPr>
        <p:spPr>
          <a:xfrm>
            <a:off x="9182100" y="371475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rider-level dataset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2DD06C9-7415-49D9-AFD2-0AB14198D4DD}"/>
              </a:ext>
            </a:extLst>
          </p:cNvPr>
          <p:cNvSpPr>
            <a:spLocks noGrp="1"/>
          </p:cNvSpPr>
          <p:nvPr/>
        </p:nvSpPr>
        <p:spPr>
          <a:xfrm>
            <a:off x="8420100" y="43815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041B38"/>
          </a:solidFill>
          <a:ln w="9525">
            <a:solidFill>
              <a:srgbClr val="174E85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9D5B30-A667-4F37-8248-A41934F3E6C9}"/>
              </a:ext>
            </a:extLst>
          </p:cNvPr>
          <p:cNvSpPr>
            <a:spLocks noGrp="1"/>
          </p:cNvSpPr>
          <p:nvPr/>
        </p:nvSpPr>
        <p:spPr>
          <a:xfrm>
            <a:off x="8420100" y="4019550"/>
            <a:ext cx="2895600" cy="14288"/>
          </a:xfrm>
          <a:prstGeom prst="rect">
            <a:avLst/>
          </a:prstGeom>
          <a:solidFill>
            <a:srgbClr val="3E648B"/>
          </a:solidFill>
          <a:ln w="0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D49A71-FD0C-47DB-9964-77E4E7D6F99B}"/>
              </a:ext>
            </a:extLst>
          </p:cNvPr>
          <p:cNvSpPr>
            <a:spLocks noGrp="1"/>
          </p:cNvSpPr>
          <p:nvPr/>
        </p:nvSpPr>
        <p:spPr>
          <a:xfrm>
            <a:off x="9182100" y="432435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DECISION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1FCDB1-28BE-453A-BDD2-205D26784E8F}"/>
              </a:ext>
            </a:extLst>
          </p:cNvPr>
          <p:cNvSpPr>
            <a:spLocks noGrp="1"/>
          </p:cNvSpPr>
          <p:nvPr/>
        </p:nvSpPr>
        <p:spPr>
          <a:xfrm>
            <a:off x="9182100" y="4552950"/>
            <a:ext cx="2095500" cy="4381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2325" b="1">
                <a:solidFill>
                  <a:srgbClr val="14D9D4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4D9D4"/>
                </a:solidFill>
                <a:latin typeface="Aptos"/>
                <a:ea typeface="Aptos"/>
                <a:cs typeface="Aptos"/>
              </a:rPr>
              <a:t>ROLLOUT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F58F89-C200-4825-8BE4-903DE44B0AFD}"/>
              </a:ext>
            </a:extLst>
          </p:cNvPr>
          <p:cNvSpPr>
            <a:spLocks noGrp="1"/>
          </p:cNvSpPr>
          <p:nvPr/>
        </p:nvSpPr>
        <p:spPr>
          <a:xfrm>
            <a:off x="9182100" y="4972050"/>
            <a:ext cx="20955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chỉ cho target segment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44225E-8D96-4B75-8ACC-387A5DC5F934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50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2" name="overview-eyebrow">
            <a:extLst>
              <a:ext uri="{FF2B5EF4-FFF2-40B4-BE49-F238E27FC236}">
                <a16:creationId xmlns:a16="http://schemas.microsoft.com/office/drawing/2014/main" id="{1F367624-4645-48A6-8796-109A8D2D15A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>
              <a:defRPr sz="1125" b="1">
                <a:solidFill>
                  <a:srgbClr val="00B8D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0B8D4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23" name="kpi-icon-1">
            <a:extLst>
              <a:ext uri="{FF2B5EF4-FFF2-40B4-BE49-F238E27FC236}">
                <a16:creationId xmlns:a16="http://schemas.microsoft.com/office/drawing/2014/main" id="{0F5D45CB-9CE1-4E7E-9AF6-699CE2DA11AF}"/>
              </a:ext>
            </a:extLst>
          </p:cNvPr>
          <p:cNvSpPr>
            <a:spLocks noGrp="1"/>
          </p:cNvSpPr>
          <p:nvPr/>
        </p:nvSpPr>
        <p:spPr>
          <a:xfrm>
            <a:off x="8553450" y="198120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14D9D4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4D9D4"/>
                </a:solidFill>
                <a:latin typeface="Aptos"/>
                <a:ea typeface="Aptos"/>
                <a:cs typeface="Aptos"/>
              </a:rPr>
              <a:t>↗</a:t>
            </a:r>
          </a:p>
        </p:txBody>
      </p:sp>
      <p:sp>
        <p:nvSpPr>
          <p:cNvPr id="24" name="kpi-icon-2">
            <a:extLst>
              <a:ext uri="{FF2B5EF4-FFF2-40B4-BE49-F238E27FC236}">
                <a16:creationId xmlns:a16="http://schemas.microsoft.com/office/drawing/2014/main" id="{ADC73224-8A00-4609-8F1E-18E54DC78AEE}"/>
              </a:ext>
            </a:extLst>
          </p:cNvPr>
          <p:cNvSpPr>
            <a:spLocks noGrp="1"/>
          </p:cNvSpPr>
          <p:nvPr/>
        </p:nvSpPr>
        <p:spPr>
          <a:xfrm>
            <a:off x="8553450" y="323850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2EA3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EA3FF"/>
                </a:solidFill>
                <a:latin typeface="Aptos"/>
                <a:ea typeface="Aptos"/>
                <a:cs typeface="Aptos"/>
              </a:rPr>
              <a:t>◎</a:t>
            </a:r>
          </a:p>
        </p:txBody>
      </p:sp>
      <p:sp>
        <p:nvSpPr>
          <p:cNvPr id="25" name="kpi-icon-3">
            <a:extLst>
              <a:ext uri="{FF2B5EF4-FFF2-40B4-BE49-F238E27FC236}">
                <a16:creationId xmlns:a16="http://schemas.microsoft.com/office/drawing/2014/main" id="{A1284481-C373-4D71-B410-E14BA98B53BA}"/>
              </a:ext>
            </a:extLst>
          </p:cNvPr>
          <p:cNvSpPr>
            <a:spLocks noGrp="1"/>
          </p:cNvSpPr>
          <p:nvPr/>
        </p:nvSpPr>
        <p:spPr>
          <a:xfrm>
            <a:off x="8553450" y="449580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2250" b="1">
                <a:solidFill>
                  <a:srgbClr val="14D9D4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4D9D4"/>
                </a:solidFill>
                <a:latin typeface="Aptos"/>
                <a:ea typeface="Aptos"/>
                <a:cs typeface="Aptos"/>
              </a:rPr>
              <a:t>⚑</a:t>
            </a:r>
          </a:p>
        </p:txBody>
      </p:sp>
      <p:sp>
        <p:nvSpPr>
          <p:cNvPr id="26" name="pipeline-line">
            <a:extLst>
              <a:ext uri="{FF2B5EF4-FFF2-40B4-BE49-F238E27FC236}">
                <a16:creationId xmlns:a16="http://schemas.microsoft.com/office/drawing/2014/main" id="{6E1E34E8-8253-43C4-83B4-24593C24FAFB}"/>
              </a:ext>
            </a:extLst>
          </p:cNvPr>
          <p:cNvSpPr>
            <a:spLocks noGrp="1"/>
          </p:cNvSpPr>
          <p:nvPr/>
        </p:nvSpPr>
        <p:spPr>
          <a:xfrm>
            <a:off x="819150" y="2724150"/>
            <a:ext cx="6419850" cy="0"/>
          </a:xfrm>
          <a:prstGeom prst="line">
            <a:avLst/>
          </a:prstGeom>
          <a:noFill/>
          <a:ln w="19050">
            <a:solidFill>
              <a:srgbClr val="00B8D4"/>
            </a:solidFill>
            <a:prstDash val="solid"/>
          </a:ln>
        </p:spPr>
      </p:sp>
      <p:sp>
        <p:nvSpPr>
          <p:cNvPr id="27" name="stage-card-1">
            <a:extLst>
              <a:ext uri="{FF2B5EF4-FFF2-40B4-BE49-F238E27FC236}">
                <a16:creationId xmlns:a16="http://schemas.microsoft.com/office/drawing/2014/main" id="{C9D5AC36-D9DA-41B4-A00C-196EC3A1252C}"/>
              </a:ext>
            </a:extLst>
          </p:cNvPr>
          <p:cNvSpPr>
            <a:spLocks noGrp="1"/>
          </p:cNvSpPr>
          <p:nvPr/>
        </p:nvSpPr>
        <p:spPr>
          <a:xfrm>
            <a:off x="361950" y="2971800"/>
            <a:ext cx="1295400" cy="196215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95250" tIns="342900" rIns="95250" bIns="13335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EDA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—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12243C"/>
                </a:solidFill>
                <a:latin typeface="Aptos"/>
                <a:ea typeface="Aptos"/>
                <a:cs typeface="Aptos"/>
              </a:rPr>
              <a:t>Thời gian
Không gian
Hành vi</a:t>
            </a:r>
          </a:p>
        </p:txBody>
      </p:sp>
      <p:sp>
        <p:nvSpPr>
          <p:cNvPr id="28" name="stage-marker-1">
            <a:extLst>
              <a:ext uri="{FF2B5EF4-FFF2-40B4-BE49-F238E27FC236}">
                <a16:creationId xmlns:a16="http://schemas.microsoft.com/office/drawing/2014/main" id="{00D30145-B630-45FA-96F5-FD3010D7708E}"/>
              </a:ext>
            </a:extLst>
          </p:cNvPr>
          <p:cNvSpPr>
            <a:spLocks noGrp="1"/>
          </p:cNvSpPr>
          <p:nvPr/>
        </p:nvSpPr>
        <p:spPr>
          <a:xfrm>
            <a:off x="762000" y="2495550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B8D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none" lIns="0" tIns="0" rIns="0" bIns="0" anchor="ctr">
            <a:noAutofit/>
          </a:bodyPr>
          <a:lstStyle/>
          <a:p>
            <a:pPr algn="ctr">
              <a:defRPr sz="1050" b="1">
                <a:solidFill>
                  <a:srgbClr val="00B8D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B8D4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9" name="stage-arrow-1">
            <a:extLst>
              <a:ext uri="{FF2B5EF4-FFF2-40B4-BE49-F238E27FC236}">
                <a16:creationId xmlns:a16="http://schemas.microsoft.com/office/drawing/2014/main" id="{81DBC97D-0B8F-43AE-A628-CE58D8310375}"/>
              </a:ext>
            </a:extLst>
          </p:cNvPr>
          <p:cNvSpPr>
            <a:spLocks noGrp="1"/>
          </p:cNvSpPr>
          <p:nvPr/>
        </p:nvSpPr>
        <p:spPr>
          <a:xfrm>
            <a:off x="1714500" y="3733800"/>
            <a:ext cx="266700" cy="2667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0" tIns="0" rIns="0" bIns="0" anchor="ctr">
            <a:normAutofit fontScale="74996"/>
          </a:bodyPr>
          <a:lstStyle/>
          <a:p>
            <a:pPr algn="ctr">
              <a:defRPr sz="16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30" name="stage-card-2">
            <a:extLst>
              <a:ext uri="{FF2B5EF4-FFF2-40B4-BE49-F238E27FC236}">
                <a16:creationId xmlns:a16="http://schemas.microsoft.com/office/drawing/2014/main" id="{7A9AD081-2A59-4D0E-A82A-6F31555D6F6B}"/>
              </a:ext>
            </a:extLst>
          </p:cNvPr>
          <p:cNvSpPr>
            <a:spLocks noGrp="1"/>
          </p:cNvSpPr>
          <p:nvPr/>
        </p:nvSpPr>
        <p:spPr>
          <a:xfrm>
            <a:off x="1885950" y="2971800"/>
            <a:ext cx="1295400" cy="196215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95250" tIns="342900" rIns="95250" bIns="13335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Synthetic Data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—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12243C"/>
                </a:solidFill>
                <a:latin typeface="Aptos"/>
                <a:ea typeface="Aptos"/>
                <a:cs typeface="Aptos"/>
              </a:rPr>
              <a:t>Trip-level →
rider-level</a:t>
            </a:r>
          </a:p>
        </p:txBody>
      </p:sp>
      <p:sp>
        <p:nvSpPr>
          <p:cNvPr id="31" name="stage-marker-2">
            <a:extLst>
              <a:ext uri="{FF2B5EF4-FFF2-40B4-BE49-F238E27FC236}">
                <a16:creationId xmlns:a16="http://schemas.microsoft.com/office/drawing/2014/main" id="{47A4D3BC-F7F7-4278-BA5E-67FEF3300FCE}"/>
              </a:ext>
            </a:extLst>
          </p:cNvPr>
          <p:cNvSpPr>
            <a:spLocks noGrp="1"/>
          </p:cNvSpPr>
          <p:nvPr/>
        </p:nvSpPr>
        <p:spPr>
          <a:xfrm>
            <a:off x="2286000" y="2495550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94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none" lIns="0" tIns="0" rIns="0" bIns="0" anchor="ctr">
            <a:noAutofit/>
          </a:bodyPr>
          <a:lstStyle/>
          <a:p>
            <a:pPr algn="ctr">
              <a:defRPr sz="1050" b="1">
                <a:solidFill>
                  <a:srgbClr val="1494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94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2" name="stage-arrow-2">
            <a:extLst>
              <a:ext uri="{FF2B5EF4-FFF2-40B4-BE49-F238E27FC236}">
                <a16:creationId xmlns:a16="http://schemas.microsoft.com/office/drawing/2014/main" id="{04DD31D1-19E3-4019-BE17-AB70C7A6AE49}"/>
              </a:ext>
            </a:extLst>
          </p:cNvPr>
          <p:cNvSpPr>
            <a:spLocks noGrp="1"/>
          </p:cNvSpPr>
          <p:nvPr/>
        </p:nvSpPr>
        <p:spPr>
          <a:xfrm>
            <a:off x="3238500" y="3733800"/>
            <a:ext cx="266700" cy="2667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0" tIns="0" rIns="0" bIns="0" anchor="ctr">
            <a:normAutofit fontScale="74996"/>
          </a:bodyPr>
          <a:lstStyle/>
          <a:p>
            <a:pPr algn="ctr">
              <a:defRPr sz="16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33" name="stage-card-3">
            <a:extLst>
              <a:ext uri="{FF2B5EF4-FFF2-40B4-BE49-F238E27FC236}">
                <a16:creationId xmlns:a16="http://schemas.microsoft.com/office/drawing/2014/main" id="{CE721A9F-CC92-438C-B797-7DA665F6550B}"/>
              </a:ext>
            </a:extLst>
          </p:cNvPr>
          <p:cNvSpPr>
            <a:spLocks noGrp="1"/>
          </p:cNvSpPr>
          <p:nvPr/>
        </p:nvSpPr>
        <p:spPr>
          <a:xfrm>
            <a:off x="3409950" y="2971800"/>
            <a:ext cx="1295400" cy="196215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95250" tIns="342900" rIns="95250" bIns="13335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Segmentation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—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12243C"/>
                </a:solidFill>
                <a:latin typeface="Aptos"/>
                <a:ea typeface="Aptos"/>
                <a:cs typeface="Aptos"/>
              </a:rPr>
              <a:t>Xác định
target cluster</a:t>
            </a:r>
          </a:p>
        </p:txBody>
      </p:sp>
      <p:sp>
        <p:nvSpPr>
          <p:cNvPr id="34" name="stage-marker-3">
            <a:extLst>
              <a:ext uri="{FF2B5EF4-FFF2-40B4-BE49-F238E27FC236}">
                <a16:creationId xmlns:a16="http://schemas.microsoft.com/office/drawing/2014/main" id="{91144B77-5835-46A0-BB55-E75D04504CD5}"/>
              </a:ext>
            </a:extLst>
          </p:cNvPr>
          <p:cNvSpPr>
            <a:spLocks noGrp="1"/>
          </p:cNvSpPr>
          <p:nvPr/>
        </p:nvSpPr>
        <p:spPr>
          <a:xfrm>
            <a:off x="3810000" y="2495550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78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none" lIns="0" tIns="0" rIns="0" bIns="0" anchor="ctr">
            <a:noAutofit/>
          </a:bodyPr>
          <a:lstStyle/>
          <a:p>
            <a:pPr algn="ctr">
              <a:defRPr sz="10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5" name="stage-arrow-3">
            <a:extLst>
              <a:ext uri="{FF2B5EF4-FFF2-40B4-BE49-F238E27FC236}">
                <a16:creationId xmlns:a16="http://schemas.microsoft.com/office/drawing/2014/main" id="{E7E9669E-3DAF-4123-A3B7-A5AA1CD303D1}"/>
              </a:ext>
            </a:extLst>
          </p:cNvPr>
          <p:cNvSpPr>
            <a:spLocks noGrp="1"/>
          </p:cNvSpPr>
          <p:nvPr/>
        </p:nvSpPr>
        <p:spPr>
          <a:xfrm>
            <a:off x="4762500" y="3733800"/>
            <a:ext cx="266700" cy="2667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0" tIns="0" rIns="0" bIns="0" anchor="ctr">
            <a:normAutofit fontScale="74996"/>
          </a:bodyPr>
          <a:lstStyle/>
          <a:p>
            <a:pPr algn="ctr">
              <a:defRPr sz="16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36" name="stage-card-4">
            <a:extLst>
              <a:ext uri="{FF2B5EF4-FFF2-40B4-BE49-F238E27FC236}">
                <a16:creationId xmlns:a16="http://schemas.microsoft.com/office/drawing/2014/main" id="{22A06F25-0396-4E2F-AD69-57393F7A9071}"/>
              </a:ext>
            </a:extLst>
          </p:cNvPr>
          <p:cNvSpPr>
            <a:spLocks noGrp="1"/>
          </p:cNvSpPr>
          <p:nvPr/>
        </p:nvSpPr>
        <p:spPr>
          <a:xfrm>
            <a:off x="4933950" y="2971800"/>
            <a:ext cx="1295400" cy="196215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95250" tIns="342900" rIns="95250" bIns="13335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A/B Testing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—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12243C"/>
                </a:solidFill>
                <a:latin typeface="Aptos"/>
                <a:ea typeface="Aptos"/>
                <a:cs typeface="Aptos"/>
              </a:rPr>
              <a:t>Đo uplift &amp;
hiệu quả kinh tế</a:t>
            </a:r>
          </a:p>
        </p:txBody>
      </p:sp>
      <p:sp>
        <p:nvSpPr>
          <p:cNvPr id="37" name="stage-marker-4">
            <a:extLst>
              <a:ext uri="{FF2B5EF4-FFF2-40B4-BE49-F238E27FC236}">
                <a16:creationId xmlns:a16="http://schemas.microsoft.com/office/drawing/2014/main" id="{AFCAF71A-4DBA-4807-BED0-D7929A6FD901}"/>
              </a:ext>
            </a:extLst>
          </p:cNvPr>
          <p:cNvSpPr>
            <a:spLocks noGrp="1"/>
          </p:cNvSpPr>
          <p:nvPr/>
        </p:nvSpPr>
        <p:spPr>
          <a:xfrm>
            <a:off x="5334000" y="2495550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78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none" lIns="0" tIns="0" rIns="0" bIns="0" anchor="ctr">
            <a:noAutofit/>
          </a:bodyPr>
          <a:lstStyle/>
          <a:p>
            <a:pPr algn="ctr">
              <a:defRPr sz="10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8" name="stage-arrow-4">
            <a:extLst>
              <a:ext uri="{FF2B5EF4-FFF2-40B4-BE49-F238E27FC236}">
                <a16:creationId xmlns:a16="http://schemas.microsoft.com/office/drawing/2014/main" id="{B0D08966-1BC7-4601-8F6A-EE6BE742F2FB}"/>
              </a:ext>
            </a:extLst>
          </p:cNvPr>
          <p:cNvSpPr>
            <a:spLocks noGrp="1"/>
          </p:cNvSpPr>
          <p:nvPr/>
        </p:nvSpPr>
        <p:spPr>
          <a:xfrm>
            <a:off x="6286500" y="3733800"/>
            <a:ext cx="266700" cy="2667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0" tIns="0" rIns="0" bIns="0" anchor="ctr">
            <a:normAutofit fontScale="74996"/>
          </a:bodyPr>
          <a:lstStyle/>
          <a:p>
            <a:pPr algn="ctr">
              <a:defRPr sz="1650" b="1">
                <a:solidFill>
                  <a:srgbClr val="147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78FF"/>
                </a:solidFill>
                <a:latin typeface="Aptos"/>
                <a:ea typeface="Aptos"/>
                <a:cs typeface="Aptos"/>
              </a:rPr>
              <a:t>›</a:t>
            </a:r>
          </a:p>
        </p:txBody>
      </p:sp>
      <p:sp>
        <p:nvSpPr>
          <p:cNvPr id="39" name="stage-card-5">
            <a:extLst>
              <a:ext uri="{FF2B5EF4-FFF2-40B4-BE49-F238E27FC236}">
                <a16:creationId xmlns:a16="http://schemas.microsoft.com/office/drawing/2014/main" id="{E6A1278D-4703-49D1-9028-19382850344A}"/>
              </a:ext>
            </a:extLst>
          </p:cNvPr>
          <p:cNvSpPr>
            <a:spLocks noGrp="1"/>
          </p:cNvSpPr>
          <p:nvPr/>
        </p:nvSpPr>
        <p:spPr>
          <a:xfrm>
            <a:off x="6457950" y="2971800"/>
            <a:ext cx="1295400" cy="1962150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9525">
            <a:solidFill>
              <a:srgbClr val="C7DD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square" lIns="95250" tIns="342900" rIns="95250" bIns="13335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Stress Test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43C"/>
                </a:solidFill>
                <a:latin typeface="Aptos"/>
                <a:ea typeface="Aptos"/>
                <a:cs typeface="Aptos"/>
              </a:rPr>
              <a:t>—</a:t>
            </a:r>
          </a:p>
          <a:p>
            <a:pPr algn="ctr">
              <a:lnSpc>
                <a:spcPct val="105000"/>
              </a:lnSpc>
              <a:buNone/>
              <a:defRPr sz="1050">
                <a:solidFill>
                  <a:srgbClr val="12243C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12243C"/>
                </a:solidFill>
                <a:latin typeface="Aptos"/>
                <a:ea typeface="Aptos"/>
                <a:cs typeface="Aptos"/>
              </a:rPr>
              <a:t>Kiểm tra độ vững
kết luận</a:t>
            </a:r>
          </a:p>
        </p:txBody>
      </p:sp>
      <p:sp>
        <p:nvSpPr>
          <p:cNvPr id="40" name="stage-marker-5">
            <a:extLst>
              <a:ext uri="{FF2B5EF4-FFF2-40B4-BE49-F238E27FC236}">
                <a16:creationId xmlns:a16="http://schemas.microsoft.com/office/drawing/2014/main" id="{93385CC2-AD30-4FF0-B9AD-B838E6798AAB}"/>
              </a:ext>
            </a:extLst>
          </p:cNvPr>
          <p:cNvSpPr>
            <a:spLocks noGrp="1"/>
          </p:cNvSpPr>
          <p:nvPr/>
        </p:nvSpPr>
        <p:spPr>
          <a:xfrm>
            <a:off x="6858000" y="2495550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B8D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wrap="none" lIns="0" tIns="0" rIns="0" bIns="0" anchor="ctr">
            <a:noAutofit/>
          </a:bodyPr>
          <a:lstStyle/>
          <a:p>
            <a:pPr algn="ctr">
              <a:defRPr sz="1050" b="1">
                <a:solidFill>
                  <a:srgbClr val="00B8D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B8D4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58020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CCAE56-228B-4185-BE71-CC179376FA5E}"/>
              </a:ext>
            </a:extLst>
          </p:cNvPr>
          <p:cNvSpPr>
            <a:spLocks noGrp="1"/>
          </p:cNvSpPr>
          <p:nvPr/>
        </p:nvSpPr>
        <p:spPr>
          <a:xfrm>
            <a:off x="502920" y="256032"/>
            <a:ext cx="1078992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232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2. EDA: Time, Geographic &amp; Rider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DCD62C-A012-41FB-B009-C2B7B54B58F9}"/>
              </a:ext>
            </a:extLst>
          </p:cNvPr>
          <p:cNvSpPr>
            <a:spLocks noGrp="1"/>
          </p:cNvSpPr>
          <p:nvPr/>
        </p:nvSpPr>
        <p:spPr>
          <a:xfrm>
            <a:off x="530352" y="713232"/>
            <a:ext cx="10332720" cy="256032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125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086"/>
                </a:solidFill>
                <a:latin typeface="Aptos"/>
                <a:ea typeface="Aptos"/>
                <a:cs typeface="Aptos"/>
              </a:rPr>
              <a:t>Các pattern nền dùng để tạo feature rider-level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7784A0-C5B8-4FBC-AEA7-09AF41FB8DB8}"/>
              </a:ext>
            </a:extLst>
          </p:cNvPr>
          <p:cNvSpPr>
            <a:spLocks noGrp="1"/>
          </p:cNvSpPr>
          <p:nvPr/>
        </p:nvSpPr>
        <p:spPr>
          <a:xfrm>
            <a:off x="502920" y="1042415"/>
            <a:ext cx="10927080" cy="18288"/>
          </a:xfrm>
          <a:prstGeom prst="rect">
            <a:avLst/>
          </a:prstGeom>
          <a:solidFill>
            <a:srgbClr val="0EA5B7"/>
          </a:solidFill>
          <a:ln w="0">
            <a:solidFill>
              <a:srgbClr val="0EA5B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graphicFrame>
        <p:nvGraphicFramePr>
          <p:cNvPr id="33" name="Table 4"/>
          <p:cNvGraphicFramePr/>
          <p:nvPr/>
        </p:nvGraphicFramePr>
        <p:xfrm>
          <a:off x="594360" y="1325880"/>
          <a:ext cx="110185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Nhóm EDA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Câu hỏi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Insight chính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Time Pattern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Peak/off-peak, weekday vs weekend, holiday?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Peak 17h-21h; 18h cao nhất 693,124 chuyến; weekend cao hơn weekday 2.4%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Geographic Pattern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Pickup/dropoff hotspot, OD flow, airport?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Manhattan là core market; airport chỉ 7.67% nhưng fare và distance cao hơn nhiều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Rider Behavior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Đi gần/xa, fare, duration?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Median distance 1.90 miles; 87.5% chuyến dưới 30 phút; fare lệch phải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827EBE-0EBD-4287-8708-266BBB71D021}"/>
              </a:ext>
            </a:extLst>
          </p:cNvPr>
          <p:cNvSpPr>
            <a:spLocks noGrp="1"/>
          </p:cNvSpPr>
          <p:nvPr/>
        </p:nvSpPr>
        <p:spPr>
          <a:xfrm>
            <a:off x="777240" y="4069080"/>
            <a:ext cx="24231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741C21-D258-4304-B973-5CEE9648784B}"/>
              </a:ext>
            </a:extLst>
          </p:cNvPr>
          <p:cNvSpPr>
            <a:spLocks noGrp="1"/>
          </p:cNvSpPr>
          <p:nvPr/>
        </p:nvSpPr>
        <p:spPr>
          <a:xfrm>
            <a:off x="777240" y="4069080"/>
            <a:ext cx="73152" cy="914400"/>
          </a:xfrm>
          <a:prstGeom prst="rect">
            <a:avLst/>
          </a:prstGeom>
          <a:solidFill>
            <a:srgbClr val="0EA5E9"/>
          </a:solidFill>
          <a:ln w="0">
            <a:solidFill>
              <a:srgbClr val="0EA5E9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AA36B3-5F6D-4047-8A9E-8BDC2A2E8B8E}"/>
              </a:ext>
            </a:extLst>
          </p:cNvPr>
          <p:cNvSpPr>
            <a:spLocks noGrp="1"/>
          </p:cNvSpPr>
          <p:nvPr/>
        </p:nvSpPr>
        <p:spPr>
          <a:xfrm>
            <a:off x="941832" y="4187952"/>
            <a:ext cx="21305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Peak hour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4CB6C-1B18-449D-9C57-C0E2B28B590F}"/>
              </a:ext>
            </a:extLst>
          </p:cNvPr>
          <p:cNvSpPr>
            <a:spLocks noGrp="1"/>
          </p:cNvSpPr>
          <p:nvPr/>
        </p:nvSpPr>
        <p:spPr>
          <a:xfrm>
            <a:off x="941832" y="4453128"/>
            <a:ext cx="21305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18h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0EE5FB-B731-4B30-A526-2BBCD77A1AC3}"/>
              </a:ext>
            </a:extLst>
          </p:cNvPr>
          <p:cNvSpPr>
            <a:spLocks noGrp="1"/>
          </p:cNvSpPr>
          <p:nvPr/>
        </p:nvSpPr>
        <p:spPr>
          <a:xfrm>
            <a:off x="941832" y="4837176"/>
            <a:ext cx="213055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693,124 chuyến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C1DD197-6B40-4D20-BE97-D30FEBCE6BD9}"/>
              </a:ext>
            </a:extLst>
          </p:cNvPr>
          <p:cNvSpPr>
            <a:spLocks noGrp="1"/>
          </p:cNvSpPr>
          <p:nvPr/>
        </p:nvSpPr>
        <p:spPr>
          <a:xfrm>
            <a:off x="3474720" y="4069080"/>
            <a:ext cx="24231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1B66F1-429C-4A84-83AC-4612131C2C90}"/>
              </a:ext>
            </a:extLst>
          </p:cNvPr>
          <p:cNvSpPr>
            <a:spLocks noGrp="1"/>
          </p:cNvSpPr>
          <p:nvPr/>
        </p:nvSpPr>
        <p:spPr>
          <a:xfrm>
            <a:off x="3474720" y="4069080"/>
            <a:ext cx="73152" cy="9144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1F2B09-57C3-4574-B663-C350D837211E}"/>
              </a:ext>
            </a:extLst>
          </p:cNvPr>
          <p:cNvSpPr>
            <a:spLocks noGrp="1"/>
          </p:cNvSpPr>
          <p:nvPr/>
        </p:nvSpPr>
        <p:spPr>
          <a:xfrm>
            <a:off x="3639312" y="4187952"/>
            <a:ext cx="21305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Airport trips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BFD90C-49FA-429C-ADDB-42D6777B16A3}"/>
              </a:ext>
            </a:extLst>
          </p:cNvPr>
          <p:cNvSpPr>
            <a:spLocks noGrp="1"/>
          </p:cNvSpPr>
          <p:nvPr/>
        </p:nvSpPr>
        <p:spPr>
          <a:xfrm>
            <a:off x="3639312" y="4453128"/>
            <a:ext cx="21305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7.67%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E8BECC-BA06-4AA2-95CD-8A107B4776F1}"/>
              </a:ext>
            </a:extLst>
          </p:cNvPr>
          <p:cNvSpPr>
            <a:spLocks noGrp="1"/>
          </p:cNvSpPr>
          <p:nvPr/>
        </p:nvSpPr>
        <p:spPr>
          <a:xfrm>
            <a:off x="3639312" y="4837176"/>
            <a:ext cx="213055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fare TB 56.37 USD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A9F35D-C5DF-449D-9CD0-4C86788BB32F}"/>
              </a:ext>
            </a:extLst>
          </p:cNvPr>
          <p:cNvSpPr>
            <a:spLocks noGrp="1"/>
          </p:cNvSpPr>
          <p:nvPr/>
        </p:nvSpPr>
        <p:spPr>
          <a:xfrm>
            <a:off x="6172200" y="4069080"/>
            <a:ext cx="24231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14D314-4428-47B3-B2B1-290654A16D1B}"/>
              </a:ext>
            </a:extLst>
          </p:cNvPr>
          <p:cNvSpPr>
            <a:spLocks noGrp="1"/>
          </p:cNvSpPr>
          <p:nvPr/>
        </p:nvSpPr>
        <p:spPr>
          <a:xfrm>
            <a:off x="6172200" y="4069080"/>
            <a:ext cx="73152" cy="914400"/>
          </a:xfrm>
          <a:prstGeom prst="rect">
            <a:avLst/>
          </a:prstGeom>
          <a:solidFill>
            <a:srgbClr val="06B6D4"/>
          </a:solidFill>
          <a:ln w="0">
            <a:solidFill>
              <a:srgbClr val="06B6D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594492-E395-433D-AAB2-E1D8B3DADE02}"/>
              </a:ext>
            </a:extLst>
          </p:cNvPr>
          <p:cNvSpPr>
            <a:spLocks noGrp="1"/>
          </p:cNvSpPr>
          <p:nvPr/>
        </p:nvSpPr>
        <p:spPr>
          <a:xfrm>
            <a:off x="6336792" y="4187952"/>
            <a:ext cx="21305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Median distance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AEC781-0458-4730-B335-520AEB1C87AD}"/>
              </a:ext>
            </a:extLst>
          </p:cNvPr>
          <p:cNvSpPr>
            <a:spLocks noGrp="1"/>
          </p:cNvSpPr>
          <p:nvPr/>
        </p:nvSpPr>
        <p:spPr>
          <a:xfrm>
            <a:off x="6336792" y="4453128"/>
            <a:ext cx="21305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1.90 mi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411305-E49C-4D7D-A270-28EC24891D6A}"/>
              </a:ext>
            </a:extLst>
          </p:cNvPr>
          <p:cNvSpPr>
            <a:spLocks noGrp="1"/>
          </p:cNvSpPr>
          <p:nvPr/>
        </p:nvSpPr>
        <p:spPr>
          <a:xfrm>
            <a:off x="6336792" y="4837176"/>
            <a:ext cx="213055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đa số chuyến ngắn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70E7AAF-802B-432E-B775-D1F42BBBB825}"/>
              </a:ext>
            </a:extLst>
          </p:cNvPr>
          <p:cNvSpPr>
            <a:spLocks noGrp="1"/>
          </p:cNvSpPr>
          <p:nvPr/>
        </p:nvSpPr>
        <p:spPr>
          <a:xfrm>
            <a:off x="8869680" y="4069080"/>
            <a:ext cx="24231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82D6B7-A308-443C-956A-6649CAD275FD}"/>
              </a:ext>
            </a:extLst>
          </p:cNvPr>
          <p:cNvSpPr>
            <a:spLocks noGrp="1"/>
          </p:cNvSpPr>
          <p:nvPr/>
        </p:nvSpPr>
        <p:spPr>
          <a:xfrm>
            <a:off x="8869680" y="4069080"/>
            <a:ext cx="73152" cy="914400"/>
          </a:xfrm>
          <a:prstGeom prst="rect">
            <a:avLst/>
          </a:prstGeom>
          <a:solidFill>
            <a:srgbClr val="3B82F6"/>
          </a:solidFill>
          <a:ln w="0">
            <a:solidFill>
              <a:srgbClr val="3B82F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0CCAD8-5800-4A2D-B1C0-4B643C1AFB08}"/>
              </a:ext>
            </a:extLst>
          </p:cNvPr>
          <p:cNvSpPr>
            <a:spLocks noGrp="1"/>
          </p:cNvSpPr>
          <p:nvPr/>
        </p:nvSpPr>
        <p:spPr>
          <a:xfrm>
            <a:off x="9034272" y="4187952"/>
            <a:ext cx="21305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Duration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DFCA78-092C-4084-AEC1-9AF2259BE4F2}"/>
              </a:ext>
            </a:extLst>
          </p:cNvPr>
          <p:cNvSpPr>
            <a:spLocks noGrp="1"/>
          </p:cNvSpPr>
          <p:nvPr/>
        </p:nvSpPr>
        <p:spPr>
          <a:xfrm>
            <a:off x="9034272" y="4453128"/>
            <a:ext cx="21305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87.5%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A17839-383A-4A68-AEE3-7DEFEBBA8050}"/>
              </a:ext>
            </a:extLst>
          </p:cNvPr>
          <p:cNvSpPr>
            <a:spLocks noGrp="1"/>
          </p:cNvSpPr>
          <p:nvPr/>
        </p:nvSpPr>
        <p:spPr>
          <a:xfrm>
            <a:off x="9034272" y="4837176"/>
            <a:ext cx="213055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dưới 30 phút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752AFA-78A1-48C7-AA8E-E8A9507342E5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13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3213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A2F9DD-47E1-4C48-A648-58C3159ADF76}"/>
              </a:ext>
            </a:extLst>
          </p:cNvPr>
          <p:cNvSpPr>
            <a:spLocks noGrp="1"/>
          </p:cNvSpPr>
          <p:nvPr/>
        </p:nvSpPr>
        <p:spPr>
          <a:xfrm>
            <a:off x="502920" y="256032"/>
            <a:ext cx="1078992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232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3. Synthetic Data: From Trips to Riders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D45000-0BE7-41A3-B2A5-4FEAC95E3D8F}"/>
              </a:ext>
            </a:extLst>
          </p:cNvPr>
          <p:cNvSpPr>
            <a:spLocks noGrp="1"/>
          </p:cNvSpPr>
          <p:nvPr/>
        </p:nvSpPr>
        <p:spPr>
          <a:xfrm>
            <a:off x="530352" y="713232"/>
            <a:ext cx="1364284" cy="21005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125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607086"/>
                </a:solidFill>
                <a:latin typeface="Aptos"/>
                <a:ea typeface="Aptos"/>
                <a:cs typeface="Aptos"/>
              </a:rPr>
              <a:t>Tạo</a:t>
            </a:r>
            <a:r>
              <a:rPr sz="1125" b="0" dirty="0">
                <a:solidFill>
                  <a:srgbClr val="607086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607086"/>
                </a:solidFill>
                <a:latin typeface="Aptos"/>
                <a:ea typeface="Aptos"/>
                <a:cs typeface="Aptos"/>
              </a:rPr>
              <a:t>dữ</a:t>
            </a:r>
            <a:r>
              <a:rPr sz="1125" b="0" dirty="0">
                <a:solidFill>
                  <a:srgbClr val="607086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607086"/>
                </a:solidFill>
                <a:latin typeface="Aptos"/>
                <a:ea typeface="Aptos"/>
                <a:cs typeface="Aptos"/>
              </a:rPr>
              <a:t>liệu</a:t>
            </a:r>
            <a:r>
              <a:rPr sz="1125" b="0" dirty="0">
                <a:solidFill>
                  <a:srgbClr val="607086"/>
                </a:solidFill>
                <a:latin typeface="Aptos"/>
                <a:ea typeface="Aptos"/>
                <a:cs typeface="Aptos"/>
              </a:rPr>
              <a:t> rider-level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F7EC93-3D3C-49E3-B65C-484BC835D408}"/>
              </a:ext>
            </a:extLst>
          </p:cNvPr>
          <p:cNvSpPr>
            <a:spLocks noGrp="1"/>
          </p:cNvSpPr>
          <p:nvPr/>
        </p:nvSpPr>
        <p:spPr>
          <a:xfrm>
            <a:off x="502920" y="1042415"/>
            <a:ext cx="10927080" cy="18288"/>
          </a:xfrm>
          <a:prstGeom prst="rect">
            <a:avLst/>
          </a:prstGeom>
          <a:solidFill>
            <a:srgbClr val="0EA5B7"/>
          </a:solidFill>
          <a:ln w="0">
            <a:solidFill>
              <a:srgbClr val="0EA5B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190BDC-96F4-4EC1-896D-ABA8E42E7E95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13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23900" y="1261076"/>
            <a:ext cx="10744200" cy="509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91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8BE607-7A74-41B5-8FD6-7E5688997E83}"/>
              </a:ext>
            </a:extLst>
          </p:cNvPr>
          <p:cNvSpPr>
            <a:spLocks noGrp="1"/>
          </p:cNvSpPr>
          <p:nvPr/>
        </p:nvSpPr>
        <p:spPr>
          <a:xfrm>
            <a:off x="502920" y="256032"/>
            <a:ext cx="1078992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232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4. Segmentation: Chọn Nhóm Target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88F840-C4D7-4625-BB78-183AFE0810A9}"/>
              </a:ext>
            </a:extLst>
          </p:cNvPr>
          <p:cNvSpPr>
            <a:spLocks noGrp="1"/>
          </p:cNvSpPr>
          <p:nvPr/>
        </p:nvSpPr>
        <p:spPr>
          <a:xfrm>
            <a:off x="530352" y="713232"/>
            <a:ext cx="10332720" cy="256032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125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086"/>
                </a:solidFill>
                <a:latin typeface="Aptos"/>
                <a:ea typeface="Aptos"/>
                <a:cs typeface="Aptos"/>
              </a:rPr>
              <a:t>KMeans với K = 3 trên các feature hành 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6A0A02-A851-4D1E-9E63-40476651CC46}"/>
              </a:ext>
            </a:extLst>
          </p:cNvPr>
          <p:cNvSpPr>
            <a:spLocks noGrp="1"/>
          </p:cNvSpPr>
          <p:nvPr/>
        </p:nvSpPr>
        <p:spPr>
          <a:xfrm>
            <a:off x="502920" y="1042415"/>
            <a:ext cx="10927080" cy="18288"/>
          </a:xfrm>
          <a:prstGeom prst="rect">
            <a:avLst/>
          </a:prstGeom>
          <a:solidFill>
            <a:srgbClr val="0EA5B7"/>
          </a:solidFill>
          <a:ln w="0">
            <a:solidFill>
              <a:srgbClr val="0EA5B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graphicFrame>
        <p:nvGraphicFramePr>
          <p:cNvPr id="28" name="Table 4"/>
          <p:cNvGraphicFramePr/>
          <p:nvPr/>
        </p:nvGraphicFramePr>
        <p:xfrm>
          <a:off x="594360" y="1325880"/>
          <a:ext cx="110185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Cụm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Persona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Số rider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Tỷ lệ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Điểm nổi bật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Nội đô ngày thường, tip cao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10,946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54.7%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Fare thấp, cự ly ngắn, tip cao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Sân bay / đường dài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2,608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13.0%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pct_airport rất cao, fare cao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Cuối tuần, trả Flex, tip thấp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6,446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32.2%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Flex cao, weekend cao, nhạy giá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50364-AAA9-439C-80E8-25B229DD5338}"/>
              </a:ext>
            </a:extLst>
          </p:cNvPr>
          <p:cNvSpPr>
            <a:spLocks noGrp="1"/>
          </p:cNvSpPr>
          <p:nvPr/>
        </p:nvSpPr>
        <p:spPr>
          <a:xfrm>
            <a:off x="731520" y="3977639"/>
            <a:ext cx="310896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5246B3-2972-476B-804A-B809E72E117C}"/>
              </a:ext>
            </a:extLst>
          </p:cNvPr>
          <p:cNvSpPr>
            <a:spLocks noGrp="1"/>
          </p:cNvSpPr>
          <p:nvPr/>
        </p:nvSpPr>
        <p:spPr>
          <a:xfrm>
            <a:off x="731520" y="3977639"/>
            <a:ext cx="73152" cy="1143000"/>
          </a:xfrm>
          <a:prstGeom prst="rect">
            <a:avLst/>
          </a:prstGeom>
          <a:solidFill>
            <a:srgbClr val="0EA5E9"/>
          </a:solidFill>
          <a:ln w="0">
            <a:solidFill>
              <a:srgbClr val="0EA5E9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A5D2E7-9BAB-4EF5-96B7-EDFD043D69EC}"/>
              </a:ext>
            </a:extLst>
          </p:cNvPr>
          <p:cNvSpPr>
            <a:spLocks noGrp="1"/>
          </p:cNvSpPr>
          <p:nvPr/>
        </p:nvSpPr>
        <p:spPr>
          <a:xfrm>
            <a:off x="896112" y="4096511"/>
            <a:ext cx="28163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70AAE-59AB-4C6E-B49E-B6FEB8FBB6B4}"/>
              </a:ext>
            </a:extLst>
          </p:cNvPr>
          <p:cNvSpPr>
            <a:spLocks noGrp="1"/>
          </p:cNvSpPr>
          <p:nvPr/>
        </p:nvSpPr>
        <p:spPr>
          <a:xfrm>
            <a:off x="896112" y="4361688"/>
            <a:ext cx="28163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Cụm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919CA0-3A8D-426A-9313-DFE169226C75}"/>
              </a:ext>
            </a:extLst>
          </p:cNvPr>
          <p:cNvSpPr>
            <a:spLocks noGrp="1"/>
          </p:cNvSpPr>
          <p:nvPr/>
        </p:nvSpPr>
        <p:spPr>
          <a:xfrm>
            <a:off x="896112" y="4745736"/>
            <a:ext cx="2816352" cy="27432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đủ lớn và có logic voucher rõ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8E4AC2F-502F-4976-89A0-F45367B3DD8C}"/>
              </a:ext>
            </a:extLst>
          </p:cNvPr>
          <p:cNvSpPr>
            <a:spLocks noGrp="1"/>
          </p:cNvSpPr>
          <p:nvPr/>
        </p:nvSpPr>
        <p:spPr>
          <a:xfrm>
            <a:off x="4160520" y="3977639"/>
            <a:ext cx="310896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2CA0D4-B974-416C-9B3E-17FF9BAD6EAB}"/>
              </a:ext>
            </a:extLst>
          </p:cNvPr>
          <p:cNvSpPr>
            <a:spLocks noGrp="1"/>
          </p:cNvSpPr>
          <p:nvPr/>
        </p:nvSpPr>
        <p:spPr>
          <a:xfrm>
            <a:off x="4160520" y="3977639"/>
            <a:ext cx="73152" cy="1143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54D0E3-DAC9-4E6C-9AC6-F189E384788C}"/>
              </a:ext>
            </a:extLst>
          </p:cNvPr>
          <p:cNvSpPr>
            <a:spLocks noGrp="1"/>
          </p:cNvSpPr>
          <p:nvPr/>
        </p:nvSpPr>
        <p:spPr>
          <a:xfrm>
            <a:off x="4325112" y="4096511"/>
            <a:ext cx="28163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Why not cluster 0?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10053A-C536-48B5-A291-1FDE929659F0}"/>
              </a:ext>
            </a:extLst>
          </p:cNvPr>
          <p:cNvSpPr>
            <a:spLocks noGrp="1"/>
          </p:cNvSpPr>
          <p:nvPr/>
        </p:nvSpPr>
        <p:spPr>
          <a:xfrm>
            <a:off x="4325112" y="4361688"/>
            <a:ext cx="28163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High volume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65388-B8B4-4E15-A3D8-F807604DCBDF}"/>
              </a:ext>
            </a:extLst>
          </p:cNvPr>
          <p:cNvSpPr>
            <a:spLocks noGrp="1"/>
          </p:cNvSpPr>
          <p:nvPr/>
        </p:nvSpPr>
        <p:spPr>
          <a:xfrm>
            <a:off x="4325112" y="4745736"/>
            <a:ext cx="2816352" cy="27432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nhưng dễ subsidize trips vốn đã xảy ra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A365D33-83CE-436A-A980-CC03EF29B84E}"/>
              </a:ext>
            </a:extLst>
          </p:cNvPr>
          <p:cNvSpPr>
            <a:spLocks noGrp="1"/>
          </p:cNvSpPr>
          <p:nvPr/>
        </p:nvSpPr>
        <p:spPr>
          <a:xfrm>
            <a:off x="7589520" y="3977639"/>
            <a:ext cx="310896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1F35B9-6A4A-4A7E-87F6-44CAB5F96E29}"/>
              </a:ext>
            </a:extLst>
          </p:cNvPr>
          <p:cNvSpPr>
            <a:spLocks noGrp="1"/>
          </p:cNvSpPr>
          <p:nvPr/>
        </p:nvSpPr>
        <p:spPr>
          <a:xfrm>
            <a:off x="7589520" y="3977639"/>
            <a:ext cx="73152" cy="1143000"/>
          </a:xfrm>
          <a:prstGeom prst="rect">
            <a:avLst/>
          </a:prstGeom>
          <a:solidFill>
            <a:srgbClr val="06B6D4"/>
          </a:solidFill>
          <a:ln w="0">
            <a:solidFill>
              <a:srgbClr val="06B6D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0802CD-A14B-4238-AB5E-6C7BE5A22CB7}"/>
              </a:ext>
            </a:extLst>
          </p:cNvPr>
          <p:cNvSpPr>
            <a:spLocks noGrp="1"/>
          </p:cNvSpPr>
          <p:nvPr/>
        </p:nvSpPr>
        <p:spPr>
          <a:xfrm>
            <a:off x="7754112" y="4096511"/>
            <a:ext cx="281635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Why not cluster 1?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34A03A-E877-460E-AC89-35647E6E2B32}"/>
              </a:ext>
            </a:extLst>
          </p:cNvPr>
          <p:cNvSpPr>
            <a:spLocks noGrp="1"/>
          </p:cNvSpPr>
          <p:nvPr/>
        </p:nvSpPr>
        <p:spPr>
          <a:xfrm>
            <a:off x="7754112" y="4361688"/>
            <a:ext cx="281635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High fare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B7DBED-975B-4E4A-B563-CFF03B3E5223}"/>
              </a:ext>
            </a:extLst>
          </p:cNvPr>
          <p:cNvSpPr>
            <a:spLocks noGrp="1"/>
          </p:cNvSpPr>
          <p:nvPr/>
        </p:nvSpPr>
        <p:spPr>
          <a:xfrm>
            <a:off x="7754112" y="4745736"/>
            <a:ext cx="2816352" cy="27432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nhưng nhu cầu airport khó kích bằng voucher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DB75E8-38BD-46B6-AE8B-1851AC608780}"/>
              </a:ext>
            </a:extLst>
          </p:cNvPr>
          <p:cNvSpPr>
            <a:spLocks noGrp="1"/>
          </p:cNvSpPr>
          <p:nvPr/>
        </p:nvSpPr>
        <p:spPr>
          <a:xfrm>
            <a:off x="777240" y="5486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Target cluster = Khách cuối tuần, trả Flex, tip thấp.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049A8F-D672-471B-9BFA-11ADDC2FB611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13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46155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BD7B38-FD8D-48E6-8E3E-0F85A5778BAD}"/>
              </a:ext>
            </a:extLst>
          </p:cNvPr>
          <p:cNvSpPr>
            <a:spLocks noGrp="1"/>
          </p:cNvSpPr>
          <p:nvPr/>
        </p:nvSpPr>
        <p:spPr>
          <a:xfrm>
            <a:off x="502920" y="256032"/>
            <a:ext cx="1078992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232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5. A/B Testing: Voucher Có Đáng Triển Khai Không?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FDF83E-1A74-4C96-B92E-A17A6C1794FB}"/>
              </a:ext>
            </a:extLst>
          </p:cNvPr>
          <p:cNvSpPr>
            <a:spLocks noGrp="1"/>
          </p:cNvSpPr>
          <p:nvPr/>
        </p:nvSpPr>
        <p:spPr>
          <a:xfrm>
            <a:off x="530352" y="713232"/>
            <a:ext cx="10332720" cy="256032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125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086"/>
                </a:solidFill>
                <a:latin typeface="Aptos"/>
                <a:ea typeface="Aptos"/>
                <a:cs typeface="Aptos"/>
              </a:rPr>
              <a:t>Randomization hợp lệ, uplift vượt ngưỡng hòa vốn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257DEF-4280-4164-BBFB-D847225B299F}"/>
              </a:ext>
            </a:extLst>
          </p:cNvPr>
          <p:cNvSpPr>
            <a:spLocks noGrp="1"/>
          </p:cNvSpPr>
          <p:nvPr/>
        </p:nvSpPr>
        <p:spPr>
          <a:xfrm>
            <a:off x="502920" y="1042415"/>
            <a:ext cx="10927080" cy="18288"/>
          </a:xfrm>
          <a:prstGeom prst="rect">
            <a:avLst/>
          </a:prstGeom>
          <a:solidFill>
            <a:srgbClr val="0EA5B7"/>
          </a:solidFill>
          <a:ln w="0">
            <a:solidFill>
              <a:srgbClr val="0EA5B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1EE451-1EBB-46B8-B6B8-FEA0877C2BA9}"/>
              </a:ext>
            </a:extLst>
          </p:cNvPr>
          <p:cNvSpPr>
            <a:spLocks noGrp="1"/>
          </p:cNvSpPr>
          <p:nvPr/>
        </p:nvSpPr>
        <p:spPr>
          <a:xfrm>
            <a:off x="731520" y="1325880"/>
            <a:ext cx="23317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608524-F8EA-4E16-86C0-A59BDA60BA36}"/>
              </a:ext>
            </a:extLst>
          </p:cNvPr>
          <p:cNvSpPr>
            <a:spLocks noGrp="1"/>
          </p:cNvSpPr>
          <p:nvPr/>
        </p:nvSpPr>
        <p:spPr>
          <a:xfrm>
            <a:off x="731520" y="1325880"/>
            <a:ext cx="73152" cy="914400"/>
          </a:xfrm>
          <a:prstGeom prst="rect">
            <a:avLst/>
          </a:prstGeom>
          <a:solidFill>
            <a:srgbClr val="0EA5E9"/>
          </a:solidFill>
          <a:ln w="0">
            <a:solidFill>
              <a:srgbClr val="0EA5E9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2C6320-FA6D-425A-8047-6D5E3AB8CFE0}"/>
              </a:ext>
            </a:extLst>
          </p:cNvPr>
          <p:cNvSpPr>
            <a:spLocks noGrp="1"/>
          </p:cNvSpPr>
          <p:nvPr/>
        </p:nvSpPr>
        <p:spPr>
          <a:xfrm>
            <a:off x="89611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Treatment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037D1-3EE1-40CD-86C9-855E092C2B7F}"/>
              </a:ext>
            </a:extLst>
          </p:cNvPr>
          <p:cNvSpPr>
            <a:spLocks noGrp="1"/>
          </p:cNvSpPr>
          <p:nvPr/>
        </p:nvSpPr>
        <p:spPr>
          <a:xfrm>
            <a:off x="89611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3,216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37A1B-04C4-454F-A22F-9CAF18F0CEAF}"/>
              </a:ext>
            </a:extLst>
          </p:cNvPr>
          <p:cNvSpPr>
            <a:spLocks noGrp="1"/>
          </p:cNvSpPr>
          <p:nvPr/>
        </p:nvSpPr>
        <p:spPr>
          <a:xfrm>
            <a:off x="89611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49.9% target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D435033-EA78-4CB7-93FC-2A80273399A3}"/>
              </a:ext>
            </a:extLst>
          </p:cNvPr>
          <p:cNvSpPr>
            <a:spLocks noGrp="1"/>
          </p:cNvSpPr>
          <p:nvPr/>
        </p:nvSpPr>
        <p:spPr>
          <a:xfrm>
            <a:off x="3337560" y="1325880"/>
            <a:ext cx="23317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3B76EE-09FF-4900-93C6-A07D6301C72D}"/>
              </a:ext>
            </a:extLst>
          </p:cNvPr>
          <p:cNvSpPr>
            <a:spLocks noGrp="1"/>
          </p:cNvSpPr>
          <p:nvPr/>
        </p:nvSpPr>
        <p:spPr>
          <a:xfrm>
            <a:off x="3337560" y="1325880"/>
            <a:ext cx="73152" cy="9144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7DD3-94FF-4D73-8A48-B24BD64FABB1}"/>
              </a:ext>
            </a:extLst>
          </p:cNvPr>
          <p:cNvSpPr>
            <a:spLocks noGrp="1"/>
          </p:cNvSpPr>
          <p:nvPr/>
        </p:nvSpPr>
        <p:spPr>
          <a:xfrm>
            <a:off x="350215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Control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0DFBB1-938F-4B70-8D49-EDDBD943D297}"/>
              </a:ext>
            </a:extLst>
          </p:cNvPr>
          <p:cNvSpPr>
            <a:spLocks noGrp="1"/>
          </p:cNvSpPr>
          <p:nvPr/>
        </p:nvSpPr>
        <p:spPr>
          <a:xfrm>
            <a:off x="350215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3,230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D20F98-196B-4524-BF32-6C2925182F3C}"/>
              </a:ext>
            </a:extLst>
          </p:cNvPr>
          <p:cNvSpPr>
            <a:spLocks noGrp="1"/>
          </p:cNvSpPr>
          <p:nvPr/>
        </p:nvSpPr>
        <p:spPr>
          <a:xfrm>
            <a:off x="350215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50.1% target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6EEC9A8-64C2-4CFA-916F-8D4C186D8EAE}"/>
              </a:ext>
            </a:extLst>
          </p:cNvPr>
          <p:cNvSpPr>
            <a:spLocks noGrp="1"/>
          </p:cNvSpPr>
          <p:nvPr/>
        </p:nvSpPr>
        <p:spPr>
          <a:xfrm>
            <a:off x="5943600" y="1325880"/>
            <a:ext cx="23317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512FEF-AB65-4E1D-92B2-0DCD095CBDE3}"/>
              </a:ext>
            </a:extLst>
          </p:cNvPr>
          <p:cNvSpPr>
            <a:spLocks noGrp="1"/>
          </p:cNvSpPr>
          <p:nvPr/>
        </p:nvSpPr>
        <p:spPr>
          <a:xfrm>
            <a:off x="5943600" y="1325880"/>
            <a:ext cx="73152" cy="914400"/>
          </a:xfrm>
          <a:prstGeom prst="rect">
            <a:avLst/>
          </a:prstGeom>
          <a:solidFill>
            <a:srgbClr val="06B6D4"/>
          </a:solidFill>
          <a:ln w="0">
            <a:solidFill>
              <a:srgbClr val="06B6D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0DC1D8-BA20-4C73-96E9-F6BAC4FE28C8}"/>
              </a:ext>
            </a:extLst>
          </p:cNvPr>
          <p:cNvSpPr>
            <a:spLocks noGrp="1"/>
          </p:cNvSpPr>
          <p:nvPr/>
        </p:nvSpPr>
        <p:spPr>
          <a:xfrm>
            <a:off x="610819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SRM p-value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453F2F-F035-4606-8D69-67939EE33CBC}"/>
              </a:ext>
            </a:extLst>
          </p:cNvPr>
          <p:cNvSpPr>
            <a:spLocks noGrp="1"/>
          </p:cNvSpPr>
          <p:nvPr/>
        </p:nvSpPr>
        <p:spPr>
          <a:xfrm>
            <a:off x="610819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0.8714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D732E0-44B4-454F-8E90-988EC8C93B69}"/>
              </a:ext>
            </a:extLst>
          </p:cNvPr>
          <p:cNvSpPr>
            <a:spLocks noGrp="1"/>
          </p:cNvSpPr>
          <p:nvPr/>
        </p:nvSpPr>
        <p:spPr>
          <a:xfrm>
            <a:off x="610819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không có mismatch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FAF926B-EA31-44F9-AD1A-73B3AF29BFC0}"/>
              </a:ext>
            </a:extLst>
          </p:cNvPr>
          <p:cNvSpPr>
            <a:spLocks noGrp="1"/>
          </p:cNvSpPr>
          <p:nvPr/>
        </p:nvSpPr>
        <p:spPr>
          <a:xfrm>
            <a:off x="8549640" y="1325880"/>
            <a:ext cx="23317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5951E3-57D1-4FBF-8C05-7EC13C5C8457}"/>
              </a:ext>
            </a:extLst>
          </p:cNvPr>
          <p:cNvSpPr>
            <a:spLocks noGrp="1"/>
          </p:cNvSpPr>
          <p:nvPr/>
        </p:nvSpPr>
        <p:spPr>
          <a:xfrm>
            <a:off x="8549640" y="1325880"/>
            <a:ext cx="73152" cy="914400"/>
          </a:xfrm>
          <a:prstGeom prst="rect">
            <a:avLst/>
          </a:prstGeom>
          <a:solidFill>
            <a:srgbClr val="3B82F6"/>
          </a:solidFill>
          <a:ln w="0">
            <a:solidFill>
              <a:srgbClr val="3B82F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7D8B97-028D-49D1-A8C0-7215FD1DFAD7}"/>
              </a:ext>
            </a:extLst>
          </p:cNvPr>
          <p:cNvSpPr>
            <a:spLocks noGrp="1"/>
          </p:cNvSpPr>
          <p:nvPr/>
        </p:nvSpPr>
        <p:spPr>
          <a:xfrm>
            <a:off x="871423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Max SMD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57779C-6572-4FBD-B326-020C7D58A03D}"/>
              </a:ext>
            </a:extLst>
          </p:cNvPr>
          <p:cNvSpPr>
            <a:spLocks noGrp="1"/>
          </p:cNvSpPr>
          <p:nvPr/>
        </p:nvSpPr>
        <p:spPr>
          <a:xfrm>
            <a:off x="871423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0.058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779E86-964B-4B4F-991F-F1237539AADE}"/>
              </a:ext>
            </a:extLst>
          </p:cNvPr>
          <p:cNvSpPr>
            <a:spLocks noGrp="1"/>
          </p:cNvSpPr>
          <p:nvPr/>
        </p:nvSpPr>
        <p:spPr>
          <a:xfrm>
            <a:off x="871423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covariates cân bằng</a:t>
            </a:r>
          </a:p>
        </p:txBody>
      </p:sp>
      <p:graphicFrame>
        <p:nvGraphicFramePr>
          <p:cNvPr id="53" name="Table 24"/>
          <p:cNvGraphicFramePr/>
          <p:nvPr/>
        </p:nvGraphicFramePr>
        <p:xfrm>
          <a:off x="822960" y="2788920"/>
          <a:ext cx="4983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Metric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Giá trị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Uplift/rider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1.9670 chuyến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95% CI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[1.6901, 2.2439]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Relative lift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26.9%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p-value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1.83e-43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Breakeven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1.3783 chuyến/rider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8C2E043E-7F4C-4208-BBB5-2FE93C03D8D6}"/>
              </a:ext>
            </a:extLst>
          </p:cNvPr>
          <p:cNvSpPr>
            <a:spLocks noGrp="1"/>
          </p:cNvSpPr>
          <p:nvPr/>
        </p:nvSpPr>
        <p:spPr>
          <a:xfrm>
            <a:off x="6172200" y="2880360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  <a:defRPr sz="120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344054"/>
                </a:solidFill>
                <a:latin typeface="Aptos"/>
                <a:ea typeface="Aptos"/>
                <a:cs typeface="Aptos"/>
              </a:rPr>
              <a:t>Cận dưới CI vẫn cao hơn breakeven.</a:t>
            </a:r>
          </a:p>
          <a:p>
            <a:pPr>
              <a:spcAft>
                <a:spcPts val="0"/>
              </a:spcAft>
              <a:buNone/>
              <a:defRPr sz="120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344054"/>
                </a:solidFill>
                <a:latin typeface="Aptos"/>
                <a:ea typeface="Aptos"/>
                <a:cs typeface="Aptos"/>
              </a:rPr>
              <a:t>Voucher đạt cả ý nghĩa thống kê và ý nghĩa kinh tế.</a:t>
            </a:r>
          </a:p>
          <a:p>
            <a:pPr>
              <a:spcAft>
                <a:spcPts val="0"/>
              </a:spcAft>
              <a:buNone/>
              <a:defRPr sz="120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344054"/>
                </a:solidFill>
                <a:latin typeface="Aptos"/>
                <a:ea typeface="Aptos"/>
                <a:cs typeface="Aptos"/>
              </a:rPr>
              <a:t>Guardrails đạt: marginal revenue phủ chi phí, tỷ lệ rider 0 chuyến nằm dưới ngưỡng.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CF6365-6E43-45A4-9001-F61BB0EAFB9B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13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822960" y="5193792"/>
          <a:ext cx="10515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Guardrail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Đo được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Ngưỡng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Kết quả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Doanh thu biên tăng thêm / rider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$8.49 (cận dưới $7.04)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≥ chi phí $6.25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Đạt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ATE ở mọi nhóm hoạt động nền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cận trên xấu nhất 2.1589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&gt; 0 ở cả ba nhóm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Đạt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Voucher chi cho rider 0 chuyến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13.81%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≤ 20%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Đạt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96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F2D285-A602-4313-94D9-F7FE72889562}"/>
              </a:ext>
            </a:extLst>
          </p:cNvPr>
          <p:cNvSpPr>
            <a:spLocks noGrp="1"/>
          </p:cNvSpPr>
          <p:nvPr/>
        </p:nvSpPr>
        <p:spPr>
          <a:xfrm>
            <a:off x="502920" y="256032"/>
            <a:ext cx="1078992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232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6. Business Impact &amp; Stress Test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C3C70-8049-4443-A378-04776ABBCEC1}"/>
              </a:ext>
            </a:extLst>
          </p:cNvPr>
          <p:cNvSpPr>
            <a:spLocks noGrp="1"/>
          </p:cNvSpPr>
          <p:nvPr/>
        </p:nvSpPr>
        <p:spPr>
          <a:xfrm>
            <a:off x="530352" y="713232"/>
            <a:ext cx="10332720" cy="256032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125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086"/>
                </a:solidFill>
                <a:latin typeface="Aptos"/>
                <a:ea typeface="Aptos"/>
                <a:cs typeface="Aptos"/>
              </a:rPr>
              <a:t>Kết luận không phụ thuộc vào một lần chạy hoặc một estimator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3A3C68-6527-4842-8382-D6D50BA3DCE2}"/>
              </a:ext>
            </a:extLst>
          </p:cNvPr>
          <p:cNvSpPr>
            <a:spLocks noGrp="1"/>
          </p:cNvSpPr>
          <p:nvPr/>
        </p:nvSpPr>
        <p:spPr>
          <a:xfrm>
            <a:off x="502920" y="1042415"/>
            <a:ext cx="10927080" cy="18288"/>
          </a:xfrm>
          <a:prstGeom prst="rect">
            <a:avLst/>
          </a:prstGeom>
          <a:solidFill>
            <a:srgbClr val="0EA5B7"/>
          </a:solidFill>
          <a:ln w="0">
            <a:solidFill>
              <a:srgbClr val="0EA5B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37552F7-C7CC-481F-B4A1-10D77304604F}"/>
              </a:ext>
            </a:extLst>
          </p:cNvPr>
          <p:cNvSpPr>
            <a:spLocks noGrp="1"/>
          </p:cNvSpPr>
          <p:nvPr/>
        </p:nvSpPr>
        <p:spPr>
          <a:xfrm>
            <a:off x="685800" y="1325880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7A1EA9-9682-4DDF-B8FE-A36AFFB78986}"/>
              </a:ext>
            </a:extLst>
          </p:cNvPr>
          <p:cNvSpPr>
            <a:spLocks noGrp="1"/>
          </p:cNvSpPr>
          <p:nvPr/>
        </p:nvSpPr>
        <p:spPr>
          <a:xfrm>
            <a:off x="685800" y="1325880"/>
            <a:ext cx="73152" cy="960120"/>
          </a:xfrm>
          <a:prstGeom prst="rect">
            <a:avLst/>
          </a:prstGeom>
          <a:solidFill>
            <a:srgbClr val="0EA5E9"/>
          </a:solidFill>
          <a:ln w="0">
            <a:solidFill>
              <a:srgbClr val="0EA5E9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44675-6E14-4A63-BA9A-A83E9C9DA067}"/>
              </a:ext>
            </a:extLst>
          </p:cNvPr>
          <p:cNvSpPr>
            <a:spLocks noGrp="1"/>
          </p:cNvSpPr>
          <p:nvPr/>
        </p:nvSpPr>
        <p:spPr>
          <a:xfrm>
            <a:off x="85039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Incremental trips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9FB132-8DC2-48C3-8EC4-B691D45FB6F4}"/>
              </a:ext>
            </a:extLst>
          </p:cNvPr>
          <p:cNvSpPr>
            <a:spLocks noGrp="1"/>
          </p:cNvSpPr>
          <p:nvPr/>
        </p:nvSpPr>
        <p:spPr>
          <a:xfrm>
            <a:off x="85039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12,679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F00A6E-571E-4930-ABC3-DDFDB1636508}"/>
              </a:ext>
            </a:extLst>
          </p:cNvPr>
          <p:cNvSpPr>
            <a:spLocks noGrp="1"/>
          </p:cNvSpPr>
          <p:nvPr/>
        </p:nvSpPr>
        <p:spPr>
          <a:xfrm>
            <a:off x="85039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trên target cluster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3161A04-46E8-453A-93E4-C16CF2927D2A}"/>
              </a:ext>
            </a:extLst>
          </p:cNvPr>
          <p:cNvSpPr>
            <a:spLocks noGrp="1"/>
          </p:cNvSpPr>
          <p:nvPr/>
        </p:nvSpPr>
        <p:spPr>
          <a:xfrm>
            <a:off x="3246120" y="1325880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208CCF-B004-4A2B-A594-A5C1A99C83BA}"/>
              </a:ext>
            </a:extLst>
          </p:cNvPr>
          <p:cNvSpPr>
            <a:spLocks noGrp="1"/>
          </p:cNvSpPr>
          <p:nvPr/>
        </p:nvSpPr>
        <p:spPr>
          <a:xfrm>
            <a:off x="3246120" y="1325880"/>
            <a:ext cx="73152" cy="96012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FB0A75-54B0-4657-B2EB-2EAB0BF55442}"/>
              </a:ext>
            </a:extLst>
          </p:cNvPr>
          <p:cNvSpPr>
            <a:spLocks noGrp="1"/>
          </p:cNvSpPr>
          <p:nvPr/>
        </p:nvSpPr>
        <p:spPr>
          <a:xfrm>
            <a:off x="341071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Total cost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599978-3E02-4D56-8106-79B3EE3B474A}"/>
              </a:ext>
            </a:extLst>
          </p:cNvPr>
          <p:cNvSpPr>
            <a:spLocks noGrp="1"/>
          </p:cNvSpPr>
          <p:nvPr/>
        </p:nvSpPr>
        <p:spPr>
          <a:xfrm>
            <a:off x="341071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$40,288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5F26C3-18B8-4009-82CE-33F694F73A58}"/>
              </a:ext>
            </a:extLst>
          </p:cNvPr>
          <p:cNvSpPr>
            <a:spLocks noGrp="1"/>
          </p:cNvSpPr>
          <p:nvPr/>
        </p:nvSpPr>
        <p:spPr>
          <a:xfrm>
            <a:off x="341071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voucher + opex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9F7AD91-D281-4A1B-B15C-427FCE997F20}"/>
              </a:ext>
            </a:extLst>
          </p:cNvPr>
          <p:cNvSpPr>
            <a:spLocks noGrp="1"/>
          </p:cNvSpPr>
          <p:nvPr/>
        </p:nvSpPr>
        <p:spPr>
          <a:xfrm>
            <a:off x="5806440" y="1325880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630CAE-0FD3-4DE3-92E1-4ADF25E5669E}"/>
              </a:ext>
            </a:extLst>
          </p:cNvPr>
          <p:cNvSpPr>
            <a:spLocks noGrp="1"/>
          </p:cNvSpPr>
          <p:nvPr/>
        </p:nvSpPr>
        <p:spPr>
          <a:xfrm>
            <a:off x="5806440" y="1325880"/>
            <a:ext cx="73152" cy="960120"/>
          </a:xfrm>
          <a:prstGeom prst="rect">
            <a:avLst/>
          </a:prstGeom>
          <a:solidFill>
            <a:srgbClr val="06B6D4"/>
          </a:solidFill>
          <a:ln w="0">
            <a:solidFill>
              <a:srgbClr val="06B6D4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52128D-8F07-4A08-97AF-4C4EA59F8998}"/>
              </a:ext>
            </a:extLst>
          </p:cNvPr>
          <p:cNvSpPr>
            <a:spLocks noGrp="1"/>
          </p:cNvSpPr>
          <p:nvPr/>
        </p:nvSpPr>
        <p:spPr>
          <a:xfrm>
            <a:off x="5971031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Net profit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466287-DB0F-44D2-B20E-FF1E386065D4}"/>
              </a:ext>
            </a:extLst>
          </p:cNvPr>
          <p:cNvSpPr>
            <a:spLocks noGrp="1"/>
          </p:cNvSpPr>
          <p:nvPr/>
        </p:nvSpPr>
        <p:spPr>
          <a:xfrm>
            <a:off x="5971031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$17,206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0E49D6-98FF-4E4A-933C-DCEA7039A46F}"/>
              </a:ext>
            </a:extLst>
          </p:cNvPr>
          <p:cNvSpPr>
            <a:spLocks noGrp="1"/>
          </p:cNvSpPr>
          <p:nvPr/>
        </p:nvSpPr>
        <p:spPr>
          <a:xfrm>
            <a:off x="5971031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sau chi phí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80A0477-B521-4263-A140-CAA8BA940451}"/>
              </a:ext>
            </a:extLst>
          </p:cNvPr>
          <p:cNvSpPr>
            <a:spLocks noGrp="1"/>
          </p:cNvSpPr>
          <p:nvPr/>
        </p:nvSpPr>
        <p:spPr>
          <a:xfrm>
            <a:off x="8366760" y="1325880"/>
            <a:ext cx="233172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6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4AB7FC-DDA0-4120-A303-E2A0CA213D48}"/>
              </a:ext>
            </a:extLst>
          </p:cNvPr>
          <p:cNvSpPr>
            <a:spLocks noGrp="1"/>
          </p:cNvSpPr>
          <p:nvPr/>
        </p:nvSpPr>
        <p:spPr>
          <a:xfrm>
            <a:off x="8366760" y="1325880"/>
            <a:ext cx="73152" cy="960120"/>
          </a:xfrm>
          <a:prstGeom prst="rect">
            <a:avLst/>
          </a:prstGeom>
          <a:solidFill>
            <a:srgbClr val="3B82F6"/>
          </a:solidFill>
          <a:ln w="0">
            <a:solidFill>
              <a:srgbClr val="3B82F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28EFE-DCA4-40CF-AB0E-B96DF5776CC4}"/>
              </a:ext>
            </a:extLst>
          </p:cNvPr>
          <p:cNvSpPr>
            <a:spLocks noGrp="1"/>
          </p:cNvSpPr>
          <p:nvPr/>
        </p:nvSpPr>
        <p:spPr>
          <a:xfrm>
            <a:off x="8531352" y="1444752"/>
            <a:ext cx="2039112" cy="22860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ROI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9A2050-8EF4-45E4-B5A1-6DCE27E5EC7F}"/>
              </a:ext>
            </a:extLst>
          </p:cNvPr>
          <p:cNvSpPr>
            <a:spLocks noGrp="1"/>
          </p:cNvSpPr>
          <p:nvPr/>
        </p:nvSpPr>
        <p:spPr>
          <a:xfrm>
            <a:off x="8531352" y="1709928"/>
            <a:ext cx="2039112" cy="338328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87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42.7%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AF187-2B73-46EE-B42B-ABA30CE07C8E}"/>
              </a:ext>
            </a:extLst>
          </p:cNvPr>
          <p:cNvSpPr>
            <a:spLocks noGrp="1"/>
          </p:cNvSpPr>
          <p:nvPr/>
        </p:nvSpPr>
        <p:spPr>
          <a:xfrm>
            <a:off x="8531352" y="2093976"/>
            <a:ext cx="2039112" cy="196596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ctr">
              <a:buNone/>
              <a:defRPr sz="1050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target rollout</a:t>
            </a:r>
          </a:p>
        </p:txBody>
      </p:sp>
      <p:graphicFrame>
        <p:nvGraphicFramePr>
          <p:cNvPr id="52" name="Table 24"/>
          <p:cNvGraphicFramePr/>
          <p:nvPr/>
        </p:nvGraphicFramePr>
        <p:xfrm>
          <a:off x="685800" y="2788920"/>
          <a:ext cx="107899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Stress test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Kết quả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Đổi seed KMeans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Jaccard target 0.9786 - 1.0000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Bootstrap segmentation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99.8% target gốc vẫn thuộc target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Đổi estimator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Tất cả đều vượt breakeven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Bỏ từng block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10/10 lần vẫn vượt breakeven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5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Bootstrap CI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100% bootstrap vượt breakeven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A5F0BAE2-3708-4976-B009-7582ED366C16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13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90686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FCCF64-CB95-47FE-AE06-7E400C068B79}"/>
              </a:ext>
            </a:extLst>
          </p:cNvPr>
          <p:cNvSpPr>
            <a:spLocks noGrp="1"/>
          </p:cNvSpPr>
          <p:nvPr/>
        </p:nvSpPr>
        <p:spPr>
          <a:xfrm>
            <a:off x="502920" y="256032"/>
            <a:ext cx="1078992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2325" b="1">
                <a:solidFill>
                  <a:srgbClr val="12233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233F"/>
                </a:solidFill>
                <a:latin typeface="Aptos"/>
                <a:ea typeface="Aptos"/>
                <a:cs typeface="Aptos"/>
              </a:rPr>
              <a:t>7. Recommendation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92242D-BDCC-457B-AA54-EB11E73D77D8}"/>
              </a:ext>
            </a:extLst>
          </p:cNvPr>
          <p:cNvSpPr>
            <a:spLocks noGrp="1"/>
          </p:cNvSpPr>
          <p:nvPr/>
        </p:nvSpPr>
        <p:spPr>
          <a:xfrm>
            <a:off x="530352" y="713232"/>
            <a:ext cx="10332720" cy="256032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125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086"/>
                </a:solidFill>
                <a:latin typeface="Aptos"/>
                <a:ea typeface="Aptos"/>
                <a:cs typeface="Aptos"/>
              </a:rPr>
              <a:t>Triển khai có chọn lọc, không rải voucher đại trà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003D60-9F8F-46D9-BCC1-EA6E972CFED2}"/>
              </a:ext>
            </a:extLst>
          </p:cNvPr>
          <p:cNvSpPr>
            <a:spLocks noGrp="1"/>
          </p:cNvSpPr>
          <p:nvPr/>
        </p:nvSpPr>
        <p:spPr>
          <a:xfrm>
            <a:off x="502920" y="1042415"/>
            <a:ext cx="10927080" cy="18288"/>
          </a:xfrm>
          <a:prstGeom prst="rect">
            <a:avLst/>
          </a:prstGeom>
          <a:solidFill>
            <a:srgbClr val="0EA5B7"/>
          </a:solidFill>
          <a:ln w="0">
            <a:solidFill>
              <a:srgbClr val="0EA5B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graphicFrame>
        <p:nvGraphicFramePr>
          <p:cNvPr id="18" name="Table 4"/>
          <p:cNvGraphicFramePr/>
          <p:nvPr/>
        </p:nvGraphicFramePr>
        <p:xfrm>
          <a:off x="822960" y="1325880"/>
          <a:ext cx="10515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Kịch bản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Số rider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Lợi nhuận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ROI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  <a:ea typeface="Aptos"/>
                          <a:cs typeface="Aptos"/>
                        </a:rPr>
                        <a:t>Quyết định</a:t>
                      </a:r>
                    </a:p>
                  </a:txBody>
                  <a:tcPr marL="45720" marR="45720" marT="27432" marB="27432" anchor="ctr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Rải cho tất cả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20,000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-$1,500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-1.2%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Dừng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Chỉ cụm 2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6,446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$17,206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42.7%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13" b="0">
                          <a:solidFill>
                            <a:srgbClr val="2F3F54"/>
                          </a:solidFill>
                          <a:latin typeface="Aptos"/>
                          <a:ea typeface="Aptos"/>
                          <a:cs typeface="Aptos"/>
                        </a:rPr>
                        <a:t>Triển khai</a:t>
                      </a:r>
                    </a:p>
                  </a:txBody>
                  <a:tcPr marL="45720" marR="45720" marT="27432" marB="27432" anchor="ctr"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A6CA96C-A992-45C5-85D8-2C4FF79E6DCC}"/>
              </a:ext>
            </a:extLst>
          </p:cNvPr>
          <p:cNvSpPr>
            <a:spLocks noGrp="1"/>
          </p:cNvSpPr>
          <p:nvPr/>
        </p:nvSpPr>
        <p:spPr>
          <a:xfrm>
            <a:off x="868680" y="4617720"/>
            <a:ext cx="10241280" cy="4114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l">
              <a:buNone/>
              <a:defRPr sz="1050" b="1">
                <a:solidFill>
                  <a:srgbClr val="60708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07086"/>
                </a:solidFill>
                <a:latin typeface="Aptos"/>
                <a:ea typeface="Aptos"/>
                <a:cs typeface="Aptos"/>
              </a:rPr>
              <a:t>Final recommendation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F46D4A-7508-460A-AC7E-3C5233510951}"/>
              </a:ext>
            </a:extLst>
          </p:cNvPr>
          <p:cNvSpPr>
            <a:spLocks noGrp="1"/>
          </p:cNvSpPr>
          <p:nvPr/>
        </p:nvSpPr>
        <p:spPr>
          <a:xfrm>
            <a:off x="960120" y="5074920"/>
            <a:ext cx="9875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  <a:defRPr sz="120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Rollout voucher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cho</a:t>
            </a: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Cụm</a:t>
            </a: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 2: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khách</a:t>
            </a: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cuối</a:t>
            </a: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tuần</a:t>
            </a: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,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trả</a:t>
            </a:r>
            <a:r>
              <a:rPr sz="1200" dirty="0">
                <a:solidFill>
                  <a:srgbClr val="344054"/>
                </a:solidFill>
                <a:latin typeface="Aptos"/>
                <a:ea typeface="Aptos"/>
                <a:cs typeface="Aptos"/>
              </a:rPr>
              <a:t> Flex, tip </a:t>
            </a:r>
            <a:r>
              <a:rPr sz="1200" dirty="0" err="1">
                <a:solidFill>
                  <a:srgbClr val="344054"/>
                </a:solidFill>
                <a:latin typeface="Aptos"/>
                <a:ea typeface="Aptos"/>
                <a:cs typeface="Aptos"/>
              </a:rPr>
              <a:t>thấp</a:t>
            </a:r>
            <a:r>
              <a:rPr sz="1200">
                <a:solidFill>
                  <a:srgbClr val="344054"/>
                </a:solidFill>
                <a:latin typeface="Aptos"/>
                <a:ea typeface="Aptos"/>
                <a:cs typeface="Aptos"/>
              </a:rPr>
              <a:t>.</a:t>
            </a:r>
            <a:endParaRPr sz="1200" dirty="0">
              <a:solidFill>
                <a:srgbClr val="34405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C813EC-482D-4126-9FE0-AC93279E2B72}"/>
              </a:ext>
            </a:extLst>
          </p:cNvPr>
          <p:cNvSpPr>
            <a:spLocks noGrp="1"/>
          </p:cNvSpPr>
          <p:nvPr/>
        </p:nvSpPr>
        <p:spPr>
          <a:xfrm>
            <a:off x="10972800" y="6446520"/>
            <a:ext cx="457200" cy="182880"/>
          </a:xfrm>
          <a:prstGeom prst="rect">
            <a:avLst/>
          </a:prstGeom>
          <a:noFill/>
        </p:spPr>
        <p:txBody>
          <a:bodyPr wrap="none" lIns="36576" tIns="18288" rIns="36576" bIns="18288">
            <a:spAutoFit/>
          </a:bodyPr>
          <a:lstStyle/>
          <a:p>
            <a:pPr algn="r">
              <a:buNone/>
              <a:defRPr sz="713">
                <a:solidFill>
                  <a:srgbClr val="8896A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8896A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22960" y="2926080"/>
          <a:ext cx="10515597" cy="14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2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5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6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31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40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118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Cụm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Persona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Số rider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CATE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Breakeven riêng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B1F3A"/>
                          </a:solidFill>
                          <a:latin typeface="Aptos"/>
                        </a:rPr>
                        <a:t>Quyết định</a:t>
                      </a:r>
                    </a:p>
                  </a:txBody>
                  <a:tcPr marL="76200" marR="76200" marT="25400" marB="25400">
                    <a:solidFill>
                      <a:srgbClr val="DCE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Khách nội đô ngày thường, tip cao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10,946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1.6016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1.8931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Dừng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Khách sân bay / đường dài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2,608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0.4073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0.8168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Dừng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Khách cuối tuần, trả Flex, tip thấp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6,446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1.9670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1.3783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F3F54"/>
                          </a:solidFill>
                          <a:latin typeface="Aptos"/>
                        </a:rPr>
                        <a:t>Triển khai</a:t>
                      </a:r>
                    </a:p>
                  </a:txBody>
                  <a:tcPr marL="76200" marR="762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159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814</Words>
  <Application>Microsoft Office PowerPoint</Application>
  <DocSecurity>0</DocSecurity>
  <PresentationFormat>Widescreen</PresentationFormat>
  <Paragraphs>227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Nguyen Khanh Linh (S.AI.20K)</cp:lastModifiedBy>
  <cp:revision>4</cp:revision>
  <dcterms:created xsi:type="dcterms:W3CDTF">2026-08-19T18:43:52Z</dcterms:created>
  <dcterms:modified xsi:type="dcterms:W3CDTF">2026-08-20T04:13:23Z</dcterms:modified>
</cp:coreProperties>
</file>